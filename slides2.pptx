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4"/>
  </p:notesMasterIdLst>
  <p:handoutMasterIdLst>
    <p:handoutMasterId r:id="rId55"/>
  </p:handoutMasterIdLst>
  <p:sldIdLst>
    <p:sldId id="256" r:id="rId5"/>
    <p:sldId id="550145267" r:id="rId6"/>
    <p:sldId id="270" r:id="rId7"/>
    <p:sldId id="550145316" r:id="rId8"/>
    <p:sldId id="550145340" r:id="rId9"/>
    <p:sldId id="550145341" r:id="rId10"/>
    <p:sldId id="550145342" r:id="rId11"/>
    <p:sldId id="550145338" r:id="rId12"/>
    <p:sldId id="550145343" r:id="rId13"/>
    <p:sldId id="550145344" r:id="rId14"/>
    <p:sldId id="550145345" r:id="rId15"/>
    <p:sldId id="550145346" r:id="rId16"/>
    <p:sldId id="550145347" r:id="rId17"/>
    <p:sldId id="550145348" r:id="rId18"/>
    <p:sldId id="550145349" r:id="rId19"/>
    <p:sldId id="550145350" r:id="rId20"/>
    <p:sldId id="550145351" r:id="rId21"/>
    <p:sldId id="550145375" r:id="rId22"/>
    <p:sldId id="550145352" r:id="rId23"/>
    <p:sldId id="550145339" r:id="rId24"/>
    <p:sldId id="550145376" r:id="rId25"/>
    <p:sldId id="550145377" r:id="rId26"/>
    <p:sldId id="550145379" r:id="rId27"/>
    <p:sldId id="550145380" r:id="rId28"/>
    <p:sldId id="550145386" r:id="rId29"/>
    <p:sldId id="550145327" r:id="rId30"/>
    <p:sldId id="550145354" r:id="rId31"/>
    <p:sldId id="550145365" r:id="rId32"/>
    <p:sldId id="550145355" r:id="rId33"/>
    <p:sldId id="550145356" r:id="rId34"/>
    <p:sldId id="550145366" r:id="rId35"/>
    <p:sldId id="550145367" r:id="rId36"/>
    <p:sldId id="550145357" r:id="rId37"/>
    <p:sldId id="550145358" r:id="rId38"/>
    <p:sldId id="550145369" r:id="rId39"/>
    <p:sldId id="550145371" r:id="rId40"/>
    <p:sldId id="550145370" r:id="rId41"/>
    <p:sldId id="550145373" r:id="rId42"/>
    <p:sldId id="550145372" r:id="rId43"/>
    <p:sldId id="550145374" r:id="rId44"/>
    <p:sldId id="550145353" r:id="rId45"/>
    <p:sldId id="550145328" r:id="rId46"/>
    <p:sldId id="550145381" r:id="rId47"/>
    <p:sldId id="550145382" r:id="rId48"/>
    <p:sldId id="550145383" r:id="rId49"/>
    <p:sldId id="550145384" r:id="rId50"/>
    <p:sldId id="550145385" r:id="rId51"/>
    <p:sldId id="550145337" r:id="rId52"/>
    <p:sldId id="301" r:id="rId53"/>
  </p:sldIdLst>
  <p:sldSz cx="36576000" cy="2057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D9AA"/>
    <a:srgbClr val="676767"/>
    <a:srgbClr val="00FF00"/>
    <a:srgbClr val="FF0000"/>
    <a:srgbClr val="76B900"/>
    <a:srgbClr val="FFFFFF"/>
    <a:srgbClr val="D1D1D1"/>
    <a:srgbClr val="C0C0C0"/>
    <a:srgbClr val="B8B8B8"/>
    <a:srgbClr val="1516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2" autoAdjust="0"/>
    <p:restoredTop sz="65271" autoAdjust="0"/>
  </p:normalViewPr>
  <p:slideViewPr>
    <p:cSldViewPr snapToGrid="0">
      <p:cViewPr varScale="1">
        <p:scale>
          <a:sx n="15" d="100"/>
          <a:sy n="15" d="100"/>
        </p:scale>
        <p:origin x="893" y="3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Inches</c:v>
                </c:pt>
              </c:strCache>
            </c:strRef>
          </c:tx>
          <c:spPr>
            <a:ln w="79375" cap="rnd">
              <a:solidFill>
                <a:schemeClr val="tx2"/>
              </a:solidFill>
              <a:round/>
            </a:ln>
            <a:effectLst/>
          </c:spPr>
          <c:marker>
            <c:symbol val="circle"/>
            <c:size val="21"/>
            <c:spPr>
              <a:solidFill>
                <a:schemeClr val="tx2"/>
              </a:solidFill>
              <a:ln w="9525">
                <a:solidFill>
                  <a:schemeClr val="accent1"/>
                </a:solidFill>
              </a:ln>
              <a:effectLst/>
            </c:spPr>
          </c:marker>
          <c:xVal>
            <c:numRef>
              <c:f>Sheet1!$A$2:$A$10</c:f>
              <c:numCache>
                <c:formatCode>General</c:formatCode>
                <c:ptCount val="9"/>
                <c:pt idx="0">
                  <c:v>1</c:v>
                </c:pt>
                <c:pt idx="1">
                  <c:v>2</c:v>
                </c:pt>
                <c:pt idx="2">
                  <c:v>3</c:v>
                </c:pt>
                <c:pt idx="3">
                  <c:v>4</c:v>
                </c:pt>
                <c:pt idx="4">
                  <c:v>5</c:v>
                </c:pt>
                <c:pt idx="5">
                  <c:v>6</c:v>
                </c:pt>
                <c:pt idx="6">
                  <c:v>7</c:v>
                </c:pt>
                <c:pt idx="7">
                  <c:v>8</c:v>
                </c:pt>
                <c:pt idx="8">
                  <c:v>9</c:v>
                </c:pt>
              </c:numCache>
            </c:numRef>
          </c:xVal>
          <c:yVal>
            <c:numRef>
              <c:f>Sheet1!$B$2:$B$10</c:f>
              <c:numCache>
                <c:formatCode>General</c:formatCode>
                <c:ptCount val="9"/>
                <c:pt idx="0">
                  <c:v>0.39370100000000002</c:v>
                </c:pt>
                <c:pt idx="1">
                  <c:v>0.78740200000000005</c:v>
                </c:pt>
                <c:pt idx="2">
                  <c:v>1.181103</c:v>
                </c:pt>
                <c:pt idx="3">
                  <c:v>1.5748040000000001</c:v>
                </c:pt>
                <c:pt idx="4">
                  <c:v>1.9685050000000002</c:v>
                </c:pt>
                <c:pt idx="5">
                  <c:v>2.362206</c:v>
                </c:pt>
                <c:pt idx="6">
                  <c:v>2.7559070000000001</c:v>
                </c:pt>
                <c:pt idx="7">
                  <c:v>3.1496080000000002</c:v>
                </c:pt>
                <c:pt idx="8">
                  <c:v>3.5433090000000003</c:v>
                </c:pt>
              </c:numCache>
            </c:numRef>
          </c:yVal>
          <c:smooth val="0"/>
          <c:extLst>
            <c:ext xmlns:c16="http://schemas.microsoft.com/office/drawing/2014/chart" uri="{C3380CC4-5D6E-409C-BE32-E72D297353CC}">
              <c16:uniqueId val="{00000000-18B8-44D2-B469-BAD8FF907D6D}"/>
            </c:ext>
          </c:extLst>
        </c:ser>
        <c:dLbls>
          <c:showLegendKey val="0"/>
          <c:showVal val="0"/>
          <c:showCatName val="0"/>
          <c:showSerName val="0"/>
          <c:showPercent val="0"/>
          <c:showBubbleSize val="0"/>
        </c:dLbls>
        <c:axId val="846434000"/>
        <c:axId val="846428240"/>
      </c:scatterChart>
      <c:valAx>
        <c:axId val="84643400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6000" b="0" i="0" u="none" strike="noStrike" kern="1200" baseline="0">
                    <a:solidFill>
                      <a:schemeClr val="bg1"/>
                    </a:solidFill>
                    <a:latin typeface="+mn-lt"/>
                    <a:ea typeface="+mn-ea"/>
                    <a:cs typeface="+mn-cs"/>
                  </a:defRPr>
                </a:pPr>
                <a:r>
                  <a:rPr lang="en-US" sz="6000" dirty="0"/>
                  <a:t>Centimeters</a:t>
                </a:r>
              </a:p>
            </c:rich>
          </c:tx>
          <c:overlay val="0"/>
          <c:spPr>
            <a:noFill/>
            <a:ln>
              <a:noFill/>
            </a:ln>
            <a:effectLst/>
          </c:spPr>
          <c:txPr>
            <a:bodyPr rot="0" spcFirstLastPara="1" vertOverflow="ellipsis" vert="horz" wrap="square" anchor="ctr" anchorCtr="1"/>
            <a:lstStyle/>
            <a:p>
              <a:pPr>
                <a:defRPr sz="6000" b="0" i="0" u="none" strike="noStrike" kern="1200" baseline="0">
                  <a:solidFill>
                    <a:schemeClr val="bg1"/>
                  </a:solidFill>
                  <a:latin typeface="+mn-lt"/>
                  <a:ea typeface="+mn-ea"/>
                  <a:cs typeface="+mn-cs"/>
                </a:defRPr>
              </a:pPr>
              <a:endParaRPr lang="en-US"/>
            </a:p>
          </c:txPr>
        </c:title>
        <c:numFmt formatCode="General" sourceLinked="1"/>
        <c:majorTickMark val="in"/>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4400" b="0" i="0" u="none" strike="noStrike" kern="1200" baseline="0">
                <a:solidFill>
                  <a:schemeClr val="bg1"/>
                </a:solidFill>
                <a:latin typeface="+mn-lt"/>
                <a:ea typeface="+mn-ea"/>
                <a:cs typeface="+mn-cs"/>
              </a:defRPr>
            </a:pPr>
            <a:endParaRPr lang="en-US"/>
          </a:p>
        </c:txPr>
        <c:crossAx val="846428240"/>
        <c:crosses val="autoZero"/>
        <c:crossBetween val="midCat"/>
      </c:valAx>
      <c:valAx>
        <c:axId val="8464282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6000" b="0" i="0" u="none" strike="noStrike" kern="1200" baseline="0">
                    <a:solidFill>
                      <a:schemeClr val="bg1"/>
                    </a:solidFill>
                    <a:latin typeface="+mn-lt"/>
                    <a:ea typeface="+mn-ea"/>
                    <a:cs typeface="+mn-cs"/>
                  </a:defRPr>
                </a:pPr>
                <a:r>
                  <a:rPr lang="en-US" sz="6000" dirty="0"/>
                  <a:t>Inches</a:t>
                </a:r>
              </a:p>
            </c:rich>
          </c:tx>
          <c:overlay val="0"/>
          <c:spPr>
            <a:noFill/>
            <a:ln>
              <a:noFill/>
            </a:ln>
            <a:effectLst/>
          </c:spPr>
          <c:txPr>
            <a:bodyPr rot="-5400000" spcFirstLastPara="1" vertOverflow="ellipsis" vert="horz" wrap="square" anchor="ctr" anchorCtr="1"/>
            <a:lstStyle/>
            <a:p>
              <a:pPr>
                <a:defRPr sz="6000" b="0" i="0" u="none" strike="noStrike" kern="1200" baseline="0">
                  <a:solidFill>
                    <a:schemeClr val="bg1"/>
                  </a:solidFill>
                  <a:latin typeface="+mn-lt"/>
                  <a:ea typeface="+mn-ea"/>
                  <a:cs typeface="+mn-cs"/>
                </a:defRPr>
              </a:pPr>
              <a:endParaRPr lang="en-US"/>
            </a:p>
          </c:txPr>
        </c:title>
        <c:numFmt formatCode="General" sourceLinked="1"/>
        <c:majorTickMark val="in"/>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4400" b="0" i="0" u="none" strike="noStrike" kern="1200" baseline="0">
                <a:solidFill>
                  <a:schemeClr val="bg1"/>
                </a:solidFill>
                <a:latin typeface="+mn-lt"/>
                <a:ea typeface="+mn-ea"/>
                <a:cs typeface="+mn-cs"/>
              </a:defRPr>
            </a:pPr>
            <a:endParaRPr lang="en-US"/>
          </a:p>
        </c:txPr>
        <c:crossAx val="84643400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4400">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BA2871-E135-4FF5-B5CD-02F284F410B8}" type="doc">
      <dgm:prSet loTypeId="urn:microsoft.com/office/officeart/2005/8/layout/pList1" loCatId="list" qsTypeId="urn:microsoft.com/office/officeart/2005/8/quickstyle/simple1" qsCatId="simple" csTypeId="urn:microsoft.com/office/officeart/2005/8/colors/accent0_3" csCatId="mainScheme" phldr="1"/>
      <dgm:spPr/>
      <dgm:t>
        <a:bodyPr/>
        <a:lstStyle/>
        <a:p>
          <a:endParaRPr lang="en-US"/>
        </a:p>
      </dgm:t>
    </dgm:pt>
    <dgm:pt modelId="{40F02EE1-59B6-46F6-BCFE-6418D8F84A9B}">
      <dgm:prSet phldrT="[Text]"/>
      <dgm:spPr/>
      <dgm:t>
        <a:bodyPr/>
        <a:lstStyle/>
        <a:p>
          <a:r>
            <a:rPr lang="en-US" dirty="0">
              <a:solidFill>
                <a:schemeClr val="bg2">
                  <a:lumMod val="10000"/>
                </a:schemeClr>
              </a:solidFill>
            </a:rPr>
            <a:t>Early Fusion</a:t>
          </a:r>
        </a:p>
      </dgm:t>
    </dgm:pt>
    <dgm:pt modelId="{C1948BC7-C38E-4EE4-AE42-B737EA7B1FE0}" type="parTrans" cxnId="{C144DF5A-45AE-446B-BA75-CE01C6F95696}">
      <dgm:prSet/>
      <dgm:spPr/>
      <dgm:t>
        <a:bodyPr/>
        <a:lstStyle/>
        <a:p>
          <a:endParaRPr lang="en-US">
            <a:solidFill>
              <a:schemeClr val="bg2">
                <a:lumMod val="10000"/>
              </a:schemeClr>
            </a:solidFill>
          </a:endParaRPr>
        </a:p>
      </dgm:t>
    </dgm:pt>
    <dgm:pt modelId="{365986F1-EEB0-4591-8707-A2EA3F0F4289}" type="sibTrans" cxnId="{C144DF5A-45AE-446B-BA75-CE01C6F95696}">
      <dgm:prSet/>
      <dgm:spPr/>
      <dgm:t>
        <a:bodyPr/>
        <a:lstStyle/>
        <a:p>
          <a:endParaRPr lang="en-US">
            <a:solidFill>
              <a:schemeClr val="bg2">
                <a:lumMod val="10000"/>
              </a:schemeClr>
            </a:solidFill>
          </a:endParaRPr>
        </a:p>
      </dgm:t>
    </dgm:pt>
    <dgm:pt modelId="{58717C5C-2E0F-48EC-BE4A-7345063A3DCD}">
      <dgm:prSet phldrT="[Text]"/>
      <dgm:spPr/>
      <dgm:t>
        <a:bodyPr/>
        <a:lstStyle/>
        <a:p>
          <a:r>
            <a:rPr lang="en-US">
              <a:solidFill>
                <a:schemeClr val="bg2">
                  <a:lumMod val="10000"/>
                </a:schemeClr>
              </a:solidFill>
            </a:rPr>
            <a:t>Late Fusion</a:t>
          </a:r>
          <a:endParaRPr lang="en-US" dirty="0">
            <a:solidFill>
              <a:schemeClr val="bg2">
                <a:lumMod val="10000"/>
              </a:schemeClr>
            </a:solidFill>
          </a:endParaRPr>
        </a:p>
      </dgm:t>
    </dgm:pt>
    <dgm:pt modelId="{A11406F6-FD85-4475-8F22-78D3786F316D}" type="parTrans" cxnId="{FD2A0DB9-62C2-4DFC-9AF4-A5AA96F7B319}">
      <dgm:prSet/>
      <dgm:spPr/>
      <dgm:t>
        <a:bodyPr/>
        <a:lstStyle/>
        <a:p>
          <a:endParaRPr lang="en-US">
            <a:solidFill>
              <a:schemeClr val="bg2">
                <a:lumMod val="10000"/>
              </a:schemeClr>
            </a:solidFill>
          </a:endParaRPr>
        </a:p>
      </dgm:t>
    </dgm:pt>
    <dgm:pt modelId="{260338B7-4B7B-46E3-9016-1E783BA586F2}" type="sibTrans" cxnId="{FD2A0DB9-62C2-4DFC-9AF4-A5AA96F7B319}">
      <dgm:prSet/>
      <dgm:spPr/>
      <dgm:t>
        <a:bodyPr/>
        <a:lstStyle/>
        <a:p>
          <a:endParaRPr lang="en-US">
            <a:solidFill>
              <a:schemeClr val="bg2">
                <a:lumMod val="10000"/>
              </a:schemeClr>
            </a:solidFill>
          </a:endParaRPr>
        </a:p>
      </dgm:t>
    </dgm:pt>
    <dgm:pt modelId="{702AB451-140C-4A77-BAED-175A1F33096E}">
      <dgm:prSet phldrT="[Text]"/>
      <dgm:spPr/>
      <dgm:t>
        <a:bodyPr/>
        <a:lstStyle/>
        <a:p>
          <a:r>
            <a:rPr lang="en-US" dirty="0">
              <a:solidFill>
                <a:schemeClr val="bg2">
                  <a:lumMod val="10000"/>
                </a:schemeClr>
              </a:solidFill>
            </a:rPr>
            <a:t>Intermediate Fusion Concatenate</a:t>
          </a:r>
        </a:p>
      </dgm:t>
    </dgm:pt>
    <dgm:pt modelId="{86330615-0797-4CAA-8F80-8C012C2D10C5}" type="parTrans" cxnId="{385133B7-87F3-4921-AA4D-8CBF231F3BCF}">
      <dgm:prSet/>
      <dgm:spPr/>
      <dgm:t>
        <a:bodyPr/>
        <a:lstStyle/>
        <a:p>
          <a:endParaRPr lang="en-US">
            <a:solidFill>
              <a:schemeClr val="bg2">
                <a:lumMod val="10000"/>
              </a:schemeClr>
            </a:solidFill>
          </a:endParaRPr>
        </a:p>
      </dgm:t>
    </dgm:pt>
    <dgm:pt modelId="{BF6D4E0A-D452-43D2-B6ED-19BB14993992}" type="sibTrans" cxnId="{385133B7-87F3-4921-AA4D-8CBF231F3BCF}">
      <dgm:prSet/>
      <dgm:spPr/>
      <dgm:t>
        <a:bodyPr/>
        <a:lstStyle/>
        <a:p>
          <a:endParaRPr lang="en-US">
            <a:solidFill>
              <a:schemeClr val="bg2">
                <a:lumMod val="10000"/>
              </a:schemeClr>
            </a:solidFill>
          </a:endParaRPr>
        </a:p>
      </dgm:t>
    </dgm:pt>
    <dgm:pt modelId="{3F1F9612-86EC-4CE1-B7B5-857D192059AF}">
      <dgm:prSet phldrT="[Text]"/>
      <dgm:spPr/>
      <dgm:t>
        <a:bodyPr/>
        <a:lstStyle/>
        <a:p>
          <a:r>
            <a:rPr lang="en-US" dirty="0">
              <a:solidFill>
                <a:schemeClr val="bg2">
                  <a:lumMod val="10000"/>
                </a:schemeClr>
              </a:solidFill>
            </a:rPr>
            <a:t>Intermediate Fusion Multiplication</a:t>
          </a:r>
        </a:p>
      </dgm:t>
    </dgm:pt>
    <dgm:pt modelId="{38FEB9F1-AFE7-456B-8CAF-0B62968397A1}" type="parTrans" cxnId="{E1344141-63DE-4D4F-8B90-EC07F9F1BE9D}">
      <dgm:prSet/>
      <dgm:spPr/>
      <dgm:t>
        <a:bodyPr/>
        <a:lstStyle/>
        <a:p>
          <a:endParaRPr lang="en-US">
            <a:solidFill>
              <a:schemeClr val="bg2">
                <a:lumMod val="10000"/>
              </a:schemeClr>
            </a:solidFill>
          </a:endParaRPr>
        </a:p>
      </dgm:t>
    </dgm:pt>
    <dgm:pt modelId="{339135A2-0C9E-4F0D-B218-FDEEB05F9D75}" type="sibTrans" cxnId="{E1344141-63DE-4D4F-8B90-EC07F9F1BE9D}">
      <dgm:prSet/>
      <dgm:spPr/>
      <dgm:t>
        <a:bodyPr/>
        <a:lstStyle/>
        <a:p>
          <a:endParaRPr lang="en-US">
            <a:solidFill>
              <a:schemeClr val="bg2">
                <a:lumMod val="10000"/>
              </a:schemeClr>
            </a:solidFill>
          </a:endParaRPr>
        </a:p>
      </dgm:t>
    </dgm:pt>
    <dgm:pt modelId="{7EC07662-BFA6-4577-BF5E-5FC7C71AC3D9}" type="pres">
      <dgm:prSet presAssocID="{6BBA2871-E135-4FF5-B5CD-02F284F410B8}" presName="Name0" presStyleCnt="0">
        <dgm:presLayoutVars>
          <dgm:dir/>
          <dgm:resizeHandles val="exact"/>
        </dgm:presLayoutVars>
      </dgm:prSet>
      <dgm:spPr/>
    </dgm:pt>
    <dgm:pt modelId="{63C07912-8E54-444E-AF04-E8B8F8E7530D}" type="pres">
      <dgm:prSet presAssocID="{40F02EE1-59B6-46F6-BCFE-6418D8F84A9B}" presName="compNode" presStyleCnt="0"/>
      <dgm:spPr/>
    </dgm:pt>
    <dgm:pt modelId="{BF5E8A93-6BC9-4B17-9085-2B455D63C93B}" type="pres">
      <dgm:prSet presAssocID="{40F02EE1-59B6-46F6-BCFE-6418D8F84A9B}" presName="pict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t="-23000" b="-23000"/>
          </a:stretch>
        </a:blipFill>
      </dgm:spPr>
      <dgm:extLst>
        <a:ext uri="{E40237B7-FDA0-4F09-8148-C483321AD2D9}">
          <dgm14:cNvPr xmlns:dgm14="http://schemas.microsoft.com/office/drawing/2010/diagram" id="0" name="" descr="Rooster with solid fill"/>
        </a:ext>
      </dgm:extLst>
    </dgm:pt>
    <dgm:pt modelId="{34E84ADE-E6BC-4A23-BCF7-1FB9936689B3}" type="pres">
      <dgm:prSet presAssocID="{40F02EE1-59B6-46F6-BCFE-6418D8F84A9B}" presName="textRect" presStyleLbl="revTx" presStyleIdx="0" presStyleCnt="4">
        <dgm:presLayoutVars>
          <dgm:bulletEnabled val="1"/>
        </dgm:presLayoutVars>
      </dgm:prSet>
      <dgm:spPr/>
    </dgm:pt>
    <dgm:pt modelId="{B168C3EC-A6C3-42EA-8DF9-33592E9AF61B}" type="pres">
      <dgm:prSet presAssocID="{365986F1-EEB0-4591-8707-A2EA3F0F4289}" presName="sibTrans" presStyleLbl="sibTrans2D1" presStyleIdx="0" presStyleCnt="0"/>
      <dgm:spPr/>
    </dgm:pt>
    <dgm:pt modelId="{B08197E6-2BC0-4C36-A4B4-50BD0DD03134}" type="pres">
      <dgm:prSet presAssocID="{58717C5C-2E0F-48EC-BE4A-7345063A3DCD}" presName="compNode" presStyleCnt="0"/>
      <dgm:spPr/>
    </dgm:pt>
    <dgm:pt modelId="{BEE529E4-3C07-4CE6-909C-92888481985F}" type="pres">
      <dgm:prSet presAssocID="{58717C5C-2E0F-48EC-BE4A-7345063A3DCD}" presName="pict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t="-23000" b="-23000"/>
          </a:stretch>
        </a:blipFill>
      </dgm:spPr>
      <dgm:extLst>
        <a:ext uri="{E40237B7-FDA0-4F09-8148-C483321AD2D9}">
          <dgm14:cNvPr xmlns:dgm14="http://schemas.microsoft.com/office/drawing/2010/diagram" id="0" name="" descr="Owl with solid fill"/>
        </a:ext>
      </dgm:extLst>
    </dgm:pt>
    <dgm:pt modelId="{2F95E1CB-42BD-4326-B324-720BBE982CB4}" type="pres">
      <dgm:prSet presAssocID="{58717C5C-2E0F-48EC-BE4A-7345063A3DCD}" presName="textRect" presStyleLbl="revTx" presStyleIdx="1" presStyleCnt="4">
        <dgm:presLayoutVars>
          <dgm:bulletEnabled val="1"/>
        </dgm:presLayoutVars>
      </dgm:prSet>
      <dgm:spPr/>
    </dgm:pt>
    <dgm:pt modelId="{D9A07E62-5551-493D-949F-39118F811C92}" type="pres">
      <dgm:prSet presAssocID="{260338B7-4B7B-46E3-9016-1E783BA586F2}" presName="sibTrans" presStyleLbl="sibTrans2D1" presStyleIdx="0" presStyleCnt="0"/>
      <dgm:spPr/>
    </dgm:pt>
    <dgm:pt modelId="{250AA5F2-F54D-49CD-A338-E429F4CCF860}" type="pres">
      <dgm:prSet presAssocID="{702AB451-140C-4A77-BAED-175A1F33096E}" presName="compNode" presStyleCnt="0"/>
      <dgm:spPr/>
    </dgm:pt>
    <dgm:pt modelId="{368DF34A-057D-48F3-9BA2-6860B10E0473}" type="pres">
      <dgm:prSet presAssocID="{702AB451-140C-4A77-BAED-175A1F33096E}" presName="pict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t="-23000" b="-23000"/>
          </a:stretch>
        </a:blipFill>
      </dgm:spPr>
      <dgm:extLst>
        <a:ext uri="{E40237B7-FDA0-4F09-8148-C483321AD2D9}">
          <dgm14:cNvPr xmlns:dgm14="http://schemas.microsoft.com/office/drawing/2010/diagram" id="0" name="" descr="Priorities with solid fill"/>
        </a:ext>
      </dgm:extLst>
    </dgm:pt>
    <dgm:pt modelId="{A521297E-8060-4402-B8BA-973526B4DB1F}" type="pres">
      <dgm:prSet presAssocID="{702AB451-140C-4A77-BAED-175A1F33096E}" presName="textRect" presStyleLbl="revTx" presStyleIdx="2" presStyleCnt="4">
        <dgm:presLayoutVars>
          <dgm:bulletEnabled val="1"/>
        </dgm:presLayoutVars>
      </dgm:prSet>
      <dgm:spPr/>
    </dgm:pt>
    <dgm:pt modelId="{5D7A4033-DA76-4B03-8839-60A2618EF69C}" type="pres">
      <dgm:prSet presAssocID="{BF6D4E0A-D452-43D2-B6ED-19BB14993992}" presName="sibTrans" presStyleLbl="sibTrans2D1" presStyleIdx="0" presStyleCnt="0"/>
      <dgm:spPr/>
    </dgm:pt>
    <dgm:pt modelId="{B05D1287-3EF0-47C8-97DE-9422CE9399A4}" type="pres">
      <dgm:prSet presAssocID="{3F1F9612-86EC-4CE1-B7B5-857D192059AF}" presName="compNode" presStyleCnt="0"/>
      <dgm:spPr/>
    </dgm:pt>
    <dgm:pt modelId="{3906F684-B230-4BEA-BD00-3B37478F102B}" type="pres">
      <dgm:prSet presAssocID="{3F1F9612-86EC-4CE1-B7B5-857D192059AF}" presName="pict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t="-23000" b="-23000"/>
          </a:stretch>
        </a:blipFill>
      </dgm:spPr>
      <dgm:extLst>
        <a:ext uri="{E40237B7-FDA0-4F09-8148-C483321AD2D9}">
          <dgm14:cNvPr xmlns:dgm14="http://schemas.microsoft.com/office/drawing/2010/diagram" id="0" name="" descr="Close with solid fill"/>
        </a:ext>
      </dgm:extLst>
    </dgm:pt>
    <dgm:pt modelId="{99034ECA-AF41-40C5-8E75-F56FD6CB120B}" type="pres">
      <dgm:prSet presAssocID="{3F1F9612-86EC-4CE1-B7B5-857D192059AF}" presName="textRect" presStyleLbl="revTx" presStyleIdx="3" presStyleCnt="4">
        <dgm:presLayoutVars>
          <dgm:bulletEnabled val="1"/>
        </dgm:presLayoutVars>
      </dgm:prSet>
      <dgm:spPr/>
    </dgm:pt>
  </dgm:ptLst>
  <dgm:cxnLst>
    <dgm:cxn modelId="{E5AEC508-ADD9-4AA1-A9E3-F18F7058D291}" type="presOf" srcId="{58717C5C-2E0F-48EC-BE4A-7345063A3DCD}" destId="{2F95E1CB-42BD-4326-B324-720BBE982CB4}" srcOrd="0" destOrd="0" presId="urn:microsoft.com/office/officeart/2005/8/layout/pList1"/>
    <dgm:cxn modelId="{2ABD2A0B-CC33-4A32-996E-E68FC80D4551}" type="presOf" srcId="{365986F1-EEB0-4591-8707-A2EA3F0F4289}" destId="{B168C3EC-A6C3-42EA-8DF9-33592E9AF61B}" srcOrd="0" destOrd="0" presId="urn:microsoft.com/office/officeart/2005/8/layout/pList1"/>
    <dgm:cxn modelId="{2921A72A-6D8F-436B-8151-AD47A83E0A84}" type="presOf" srcId="{3F1F9612-86EC-4CE1-B7B5-857D192059AF}" destId="{99034ECA-AF41-40C5-8E75-F56FD6CB120B}" srcOrd="0" destOrd="0" presId="urn:microsoft.com/office/officeart/2005/8/layout/pList1"/>
    <dgm:cxn modelId="{E1344141-63DE-4D4F-8B90-EC07F9F1BE9D}" srcId="{6BBA2871-E135-4FF5-B5CD-02F284F410B8}" destId="{3F1F9612-86EC-4CE1-B7B5-857D192059AF}" srcOrd="3" destOrd="0" parTransId="{38FEB9F1-AFE7-456B-8CAF-0B62968397A1}" sibTransId="{339135A2-0C9E-4F0D-B218-FDEEB05F9D75}"/>
    <dgm:cxn modelId="{C84D4A6D-4046-47C7-A1F3-8B7DEAEFFD82}" type="presOf" srcId="{260338B7-4B7B-46E3-9016-1E783BA586F2}" destId="{D9A07E62-5551-493D-949F-39118F811C92}" srcOrd="0" destOrd="0" presId="urn:microsoft.com/office/officeart/2005/8/layout/pList1"/>
    <dgm:cxn modelId="{548D8354-06E2-4987-89BD-23E3C4AC40CA}" type="presOf" srcId="{40F02EE1-59B6-46F6-BCFE-6418D8F84A9B}" destId="{34E84ADE-E6BC-4A23-BCF7-1FB9936689B3}" srcOrd="0" destOrd="0" presId="urn:microsoft.com/office/officeart/2005/8/layout/pList1"/>
    <dgm:cxn modelId="{C34B1878-46AF-4D74-AC21-6427EA0CF03B}" type="presOf" srcId="{702AB451-140C-4A77-BAED-175A1F33096E}" destId="{A521297E-8060-4402-B8BA-973526B4DB1F}" srcOrd="0" destOrd="0" presId="urn:microsoft.com/office/officeart/2005/8/layout/pList1"/>
    <dgm:cxn modelId="{C144DF5A-45AE-446B-BA75-CE01C6F95696}" srcId="{6BBA2871-E135-4FF5-B5CD-02F284F410B8}" destId="{40F02EE1-59B6-46F6-BCFE-6418D8F84A9B}" srcOrd="0" destOrd="0" parTransId="{C1948BC7-C38E-4EE4-AE42-B737EA7B1FE0}" sibTransId="{365986F1-EEB0-4591-8707-A2EA3F0F4289}"/>
    <dgm:cxn modelId="{4F09307D-133E-42FA-A04F-B4F5B493DE4C}" type="presOf" srcId="{6BBA2871-E135-4FF5-B5CD-02F284F410B8}" destId="{7EC07662-BFA6-4577-BF5E-5FC7C71AC3D9}" srcOrd="0" destOrd="0" presId="urn:microsoft.com/office/officeart/2005/8/layout/pList1"/>
    <dgm:cxn modelId="{B9761090-27C8-4FF1-8601-11CAD89482B5}" type="presOf" srcId="{BF6D4E0A-D452-43D2-B6ED-19BB14993992}" destId="{5D7A4033-DA76-4B03-8839-60A2618EF69C}" srcOrd="0" destOrd="0" presId="urn:microsoft.com/office/officeart/2005/8/layout/pList1"/>
    <dgm:cxn modelId="{385133B7-87F3-4921-AA4D-8CBF231F3BCF}" srcId="{6BBA2871-E135-4FF5-B5CD-02F284F410B8}" destId="{702AB451-140C-4A77-BAED-175A1F33096E}" srcOrd="2" destOrd="0" parTransId="{86330615-0797-4CAA-8F80-8C012C2D10C5}" sibTransId="{BF6D4E0A-D452-43D2-B6ED-19BB14993992}"/>
    <dgm:cxn modelId="{FD2A0DB9-62C2-4DFC-9AF4-A5AA96F7B319}" srcId="{6BBA2871-E135-4FF5-B5CD-02F284F410B8}" destId="{58717C5C-2E0F-48EC-BE4A-7345063A3DCD}" srcOrd="1" destOrd="0" parTransId="{A11406F6-FD85-4475-8F22-78D3786F316D}" sibTransId="{260338B7-4B7B-46E3-9016-1E783BA586F2}"/>
    <dgm:cxn modelId="{FD7E052E-E114-4A49-9F9E-32D30DB4CD6B}" type="presParOf" srcId="{7EC07662-BFA6-4577-BF5E-5FC7C71AC3D9}" destId="{63C07912-8E54-444E-AF04-E8B8F8E7530D}" srcOrd="0" destOrd="0" presId="urn:microsoft.com/office/officeart/2005/8/layout/pList1"/>
    <dgm:cxn modelId="{A7C6868F-8B88-4D12-8663-FC816B395718}" type="presParOf" srcId="{63C07912-8E54-444E-AF04-E8B8F8E7530D}" destId="{BF5E8A93-6BC9-4B17-9085-2B455D63C93B}" srcOrd="0" destOrd="0" presId="urn:microsoft.com/office/officeart/2005/8/layout/pList1"/>
    <dgm:cxn modelId="{164F6AF1-FCDF-4CD6-8D5A-7ED59E004745}" type="presParOf" srcId="{63C07912-8E54-444E-AF04-E8B8F8E7530D}" destId="{34E84ADE-E6BC-4A23-BCF7-1FB9936689B3}" srcOrd="1" destOrd="0" presId="urn:microsoft.com/office/officeart/2005/8/layout/pList1"/>
    <dgm:cxn modelId="{76069717-CA2C-41DA-B030-CD1B7C394982}" type="presParOf" srcId="{7EC07662-BFA6-4577-BF5E-5FC7C71AC3D9}" destId="{B168C3EC-A6C3-42EA-8DF9-33592E9AF61B}" srcOrd="1" destOrd="0" presId="urn:microsoft.com/office/officeart/2005/8/layout/pList1"/>
    <dgm:cxn modelId="{C3556868-D440-4C37-B3D5-E9D96416903A}" type="presParOf" srcId="{7EC07662-BFA6-4577-BF5E-5FC7C71AC3D9}" destId="{B08197E6-2BC0-4C36-A4B4-50BD0DD03134}" srcOrd="2" destOrd="0" presId="urn:microsoft.com/office/officeart/2005/8/layout/pList1"/>
    <dgm:cxn modelId="{5C2A9E85-0FA6-4359-96D8-79041BB946E4}" type="presParOf" srcId="{B08197E6-2BC0-4C36-A4B4-50BD0DD03134}" destId="{BEE529E4-3C07-4CE6-909C-92888481985F}" srcOrd="0" destOrd="0" presId="urn:microsoft.com/office/officeart/2005/8/layout/pList1"/>
    <dgm:cxn modelId="{AA6928BB-61E3-4F92-8E92-674F5CDA31A2}" type="presParOf" srcId="{B08197E6-2BC0-4C36-A4B4-50BD0DD03134}" destId="{2F95E1CB-42BD-4326-B324-720BBE982CB4}" srcOrd="1" destOrd="0" presId="urn:microsoft.com/office/officeart/2005/8/layout/pList1"/>
    <dgm:cxn modelId="{BBF2974B-48D0-4AB4-8F05-E4FF743F613D}" type="presParOf" srcId="{7EC07662-BFA6-4577-BF5E-5FC7C71AC3D9}" destId="{D9A07E62-5551-493D-949F-39118F811C92}" srcOrd="3" destOrd="0" presId="urn:microsoft.com/office/officeart/2005/8/layout/pList1"/>
    <dgm:cxn modelId="{261E1B68-4A10-46EF-9087-7C7374731B5B}" type="presParOf" srcId="{7EC07662-BFA6-4577-BF5E-5FC7C71AC3D9}" destId="{250AA5F2-F54D-49CD-A338-E429F4CCF860}" srcOrd="4" destOrd="0" presId="urn:microsoft.com/office/officeart/2005/8/layout/pList1"/>
    <dgm:cxn modelId="{DB3A53A7-0E38-4C68-97B6-1D05BDCFBF85}" type="presParOf" srcId="{250AA5F2-F54D-49CD-A338-E429F4CCF860}" destId="{368DF34A-057D-48F3-9BA2-6860B10E0473}" srcOrd="0" destOrd="0" presId="urn:microsoft.com/office/officeart/2005/8/layout/pList1"/>
    <dgm:cxn modelId="{A3CE9A58-A7F2-469C-B303-AD704C85CEE8}" type="presParOf" srcId="{250AA5F2-F54D-49CD-A338-E429F4CCF860}" destId="{A521297E-8060-4402-B8BA-973526B4DB1F}" srcOrd="1" destOrd="0" presId="urn:microsoft.com/office/officeart/2005/8/layout/pList1"/>
    <dgm:cxn modelId="{E64CCADF-7F56-44E7-BE58-19223E223B93}" type="presParOf" srcId="{7EC07662-BFA6-4577-BF5E-5FC7C71AC3D9}" destId="{5D7A4033-DA76-4B03-8839-60A2618EF69C}" srcOrd="5" destOrd="0" presId="urn:microsoft.com/office/officeart/2005/8/layout/pList1"/>
    <dgm:cxn modelId="{A620085B-B694-4784-B5B3-8A267BA082FD}" type="presParOf" srcId="{7EC07662-BFA6-4577-BF5E-5FC7C71AC3D9}" destId="{B05D1287-3EF0-47C8-97DE-9422CE9399A4}" srcOrd="6" destOrd="0" presId="urn:microsoft.com/office/officeart/2005/8/layout/pList1"/>
    <dgm:cxn modelId="{9B3F24C3-722D-4393-9128-47D84B2CDF86}" type="presParOf" srcId="{B05D1287-3EF0-47C8-97DE-9422CE9399A4}" destId="{3906F684-B230-4BEA-BD00-3B37478F102B}" srcOrd="0" destOrd="0" presId="urn:microsoft.com/office/officeart/2005/8/layout/pList1"/>
    <dgm:cxn modelId="{60A5A7E1-FEC7-4966-9C77-E9A79C437CB8}" type="presParOf" srcId="{B05D1287-3EF0-47C8-97DE-9422CE9399A4}" destId="{99034ECA-AF41-40C5-8E75-F56FD6CB120B}"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5E8A93-6BC9-4B17-9085-2B455D63C93B}">
      <dsp:nvSpPr>
        <dsp:cNvPr id="0" name=""/>
        <dsp:cNvSpPr/>
      </dsp:nvSpPr>
      <dsp:spPr>
        <a:xfrm>
          <a:off x="15710" y="2739564"/>
          <a:ext cx="7476376" cy="5151223"/>
        </a:xfrm>
        <a:prstGeom prst="round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23000" b="-23000"/>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E84ADE-E6BC-4A23-BCF7-1FB9936689B3}">
      <dsp:nvSpPr>
        <dsp:cNvPr id="0" name=""/>
        <dsp:cNvSpPr/>
      </dsp:nvSpPr>
      <dsp:spPr>
        <a:xfrm>
          <a:off x="15710" y="7890787"/>
          <a:ext cx="7476376" cy="27737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8272" tIns="398272" rIns="398272" bIns="0" numCol="1" spcCol="1270" anchor="t" anchorCtr="0">
          <a:noAutofit/>
        </a:bodyPr>
        <a:lstStyle/>
        <a:p>
          <a:pPr marL="0" lvl="0" indent="0" algn="ctr" defTabSz="2489200">
            <a:lnSpc>
              <a:spcPct val="90000"/>
            </a:lnSpc>
            <a:spcBef>
              <a:spcPct val="0"/>
            </a:spcBef>
            <a:spcAft>
              <a:spcPct val="35000"/>
            </a:spcAft>
            <a:buNone/>
          </a:pPr>
          <a:r>
            <a:rPr lang="en-US" sz="5600" kern="1200" dirty="0">
              <a:solidFill>
                <a:schemeClr val="bg2">
                  <a:lumMod val="10000"/>
                </a:schemeClr>
              </a:solidFill>
            </a:rPr>
            <a:t>Early Fusion</a:t>
          </a:r>
        </a:p>
      </dsp:txBody>
      <dsp:txXfrm>
        <a:off x="15710" y="7890787"/>
        <a:ext cx="7476376" cy="2773735"/>
      </dsp:txXfrm>
    </dsp:sp>
    <dsp:sp modelId="{BEE529E4-3C07-4CE6-909C-92888481985F}">
      <dsp:nvSpPr>
        <dsp:cNvPr id="0" name=""/>
        <dsp:cNvSpPr/>
      </dsp:nvSpPr>
      <dsp:spPr>
        <a:xfrm>
          <a:off x="8240039" y="2739564"/>
          <a:ext cx="7476376" cy="5151223"/>
        </a:xfrm>
        <a:prstGeom prst="round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23000" b="-23000"/>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95E1CB-42BD-4326-B324-720BBE982CB4}">
      <dsp:nvSpPr>
        <dsp:cNvPr id="0" name=""/>
        <dsp:cNvSpPr/>
      </dsp:nvSpPr>
      <dsp:spPr>
        <a:xfrm>
          <a:off x="8240039" y="7890787"/>
          <a:ext cx="7476376" cy="27737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8272" tIns="398272" rIns="398272" bIns="0" numCol="1" spcCol="1270" anchor="t" anchorCtr="0">
          <a:noAutofit/>
        </a:bodyPr>
        <a:lstStyle/>
        <a:p>
          <a:pPr marL="0" lvl="0" indent="0" algn="ctr" defTabSz="2489200">
            <a:lnSpc>
              <a:spcPct val="90000"/>
            </a:lnSpc>
            <a:spcBef>
              <a:spcPct val="0"/>
            </a:spcBef>
            <a:spcAft>
              <a:spcPct val="35000"/>
            </a:spcAft>
            <a:buNone/>
          </a:pPr>
          <a:r>
            <a:rPr lang="en-US" sz="5600" kern="1200">
              <a:solidFill>
                <a:schemeClr val="bg2">
                  <a:lumMod val="10000"/>
                </a:schemeClr>
              </a:solidFill>
            </a:rPr>
            <a:t>Late Fusion</a:t>
          </a:r>
          <a:endParaRPr lang="en-US" sz="5600" kern="1200" dirty="0">
            <a:solidFill>
              <a:schemeClr val="bg2">
                <a:lumMod val="10000"/>
              </a:schemeClr>
            </a:solidFill>
          </a:endParaRPr>
        </a:p>
      </dsp:txBody>
      <dsp:txXfrm>
        <a:off x="8240039" y="7890787"/>
        <a:ext cx="7476376" cy="2773735"/>
      </dsp:txXfrm>
    </dsp:sp>
    <dsp:sp modelId="{368DF34A-057D-48F3-9BA2-6860B10E0473}">
      <dsp:nvSpPr>
        <dsp:cNvPr id="0" name=""/>
        <dsp:cNvSpPr/>
      </dsp:nvSpPr>
      <dsp:spPr>
        <a:xfrm>
          <a:off x="16464367" y="2739564"/>
          <a:ext cx="7476376" cy="5151223"/>
        </a:xfrm>
        <a:prstGeom prst="round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23000" b="-23000"/>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21297E-8060-4402-B8BA-973526B4DB1F}">
      <dsp:nvSpPr>
        <dsp:cNvPr id="0" name=""/>
        <dsp:cNvSpPr/>
      </dsp:nvSpPr>
      <dsp:spPr>
        <a:xfrm>
          <a:off x="16464367" y="7890787"/>
          <a:ext cx="7476376" cy="27737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8272" tIns="398272" rIns="398272" bIns="0" numCol="1" spcCol="1270" anchor="t" anchorCtr="0">
          <a:noAutofit/>
        </a:bodyPr>
        <a:lstStyle/>
        <a:p>
          <a:pPr marL="0" lvl="0" indent="0" algn="ctr" defTabSz="2489200">
            <a:lnSpc>
              <a:spcPct val="90000"/>
            </a:lnSpc>
            <a:spcBef>
              <a:spcPct val="0"/>
            </a:spcBef>
            <a:spcAft>
              <a:spcPct val="35000"/>
            </a:spcAft>
            <a:buNone/>
          </a:pPr>
          <a:r>
            <a:rPr lang="en-US" sz="5600" kern="1200" dirty="0">
              <a:solidFill>
                <a:schemeClr val="bg2">
                  <a:lumMod val="10000"/>
                </a:schemeClr>
              </a:solidFill>
            </a:rPr>
            <a:t>Intermediate Fusion Concatenate</a:t>
          </a:r>
        </a:p>
      </dsp:txBody>
      <dsp:txXfrm>
        <a:off x="16464367" y="7890787"/>
        <a:ext cx="7476376" cy="2773735"/>
      </dsp:txXfrm>
    </dsp:sp>
    <dsp:sp modelId="{3906F684-B230-4BEA-BD00-3B37478F102B}">
      <dsp:nvSpPr>
        <dsp:cNvPr id="0" name=""/>
        <dsp:cNvSpPr/>
      </dsp:nvSpPr>
      <dsp:spPr>
        <a:xfrm>
          <a:off x="24688696" y="2739564"/>
          <a:ext cx="7476376" cy="5151223"/>
        </a:xfrm>
        <a:prstGeom prst="round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t="-23000" b="-23000"/>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034ECA-AF41-40C5-8E75-F56FD6CB120B}">
      <dsp:nvSpPr>
        <dsp:cNvPr id="0" name=""/>
        <dsp:cNvSpPr/>
      </dsp:nvSpPr>
      <dsp:spPr>
        <a:xfrm>
          <a:off x="24688696" y="7890787"/>
          <a:ext cx="7476376" cy="27737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8272" tIns="398272" rIns="398272" bIns="0" numCol="1" spcCol="1270" anchor="t" anchorCtr="0">
          <a:noAutofit/>
        </a:bodyPr>
        <a:lstStyle/>
        <a:p>
          <a:pPr marL="0" lvl="0" indent="0" algn="ctr" defTabSz="2489200">
            <a:lnSpc>
              <a:spcPct val="90000"/>
            </a:lnSpc>
            <a:spcBef>
              <a:spcPct val="0"/>
            </a:spcBef>
            <a:spcAft>
              <a:spcPct val="35000"/>
            </a:spcAft>
            <a:buNone/>
          </a:pPr>
          <a:r>
            <a:rPr lang="en-US" sz="5600" kern="1200" dirty="0">
              <a:solidFill>
                <a:schemeClr val="bg2">
                  <a:lumMod val="10000"/>
                </a:schemeClr>
              </a:solidFill>
            </a:rPr>
            <a:t>Intermediate Fusion Multiplication</a:t>
          </a:r>
        </a:p>
      </dsp:txBody>
      <dsp:txXfrm>
        <a:off x="24688696" y="7890787"/>
        <a:ext cx="7476376" cy="2773735"/>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FAB7-7DF1-470D-9D24-E6B58A84B80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
        <p:nvSpPr>
          <p:cNvPr id="3" name="Date Placeholder 2">
            <a:extLst>
              <a:ext uri="{FF2B5EF4-FFF2-40B4-BE49-F238E27FC236}">
                <a16:creationId xmlns:a16="http://schemas.microsoft.com/office/drawing/2014/main" id="{A0E88521-8FCE-4BCB-8B67-373058552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0846B-0977-4E9D-973A-F0EA2C10623B}" type="datetimeFigureOut">
              <a:rPr lang="en-US" smtClean="0">
                <a:latin typeface="NVIDIA Sans" panose="020B0503020203020204" pitchFamily="34" charset="0"/>
                <a:cs typeface="NVIDIA Sans" panose="020B0503020203020204" pitchFamily="34" charset="0"/>
              </a:rPr>
              <a:t>5/6/2025</a:t>
            </a:fld>
            <a:endParaRPr lang="en-US">
              <a:latin typeface="NVIDIA Sans" panose="020B0503020203020204" pitchFamily="34" charset="0"/>
              <a:cs typeface="NVIDIA Sans" panose="020B0503020203020204" pitchFamily="34" charset="0"/>
            </a:endParaRPr>
          </a:p>
        </p:txBody>
      </p:sp>
      <p:sp>
        <p:nvSpPr>
          <p:cNvPr id="5" name="Slide Number Placeholder 4">
            <a:extLst>
              <a:ext uri="{FF2B5EF4-FFF2-40B4-BE49-F238E27FC236}">
                <a16:creationId xmlns:a16="http://schemas.microsoft.com/office/drawing/2014/main" id="{9D0820F8-FB5B-4060-9702-8BB4F61830F9}"/>
              </a:ext>
            </a:extLst>
          </p:cNvPr>
          <p:cNvSpPr>
            <a:spLocks noGrp="1"/>
          </p:cNvSpPr>
          <p:nvPr>
            <p:ph type="sldNum" sz="quarter" idx="3"/>
          </p:nvPr>
        </p:nvSpPr>
        <p:spPr>
          <a:xfrm>
            <a:off x="0" y="8685213"/>
            <a:ext cx="2971800" cy="458787"/>
          </a:xfrm>
          <a:prstGeom prst="rect">
            <a:avLst/>
          </a:prstGeom>
        </p:spPr>
        <p:txBody>
          <a:bodyPr vert="horz" lIns="91440" tIns="45720" rIns="91440" bIns="45720" rtlCol="0" anchor="b"/>
          <a:lstStyle>
            <a:lvl1pPr algn="r">
              <a:defRPr sz="1200"/>
            </a:lvl1pPr>
          </a:lstStyle>
          <a:p>
            <a:pPr algn="l"/>
            <a:fld id="{6212FBFF-564E-4199-8DDC-2B82D308BF1D}" type="slidenum">
              <a:rPr lang="en-US" smtClean="0">
                <a:latin typeface="NVIDIA Sans" panose="020B0503020203020204" pitchFamily="34" charset="0"/>
                <a:cs typeface="NVIDIA Sans" panose="020B0503020203020204" pitchFamily="34" charset="0"/>
              </a:rPr>
              <a:pPr algn="l"/>
              <a:t>‹#›</a:t>
            </a:fld>
            <a:endParaRPr lang="en-US">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2132078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cs typeface="NVIDIA Sans" panose="020B0503020203020204" pitchFamily="34" charset="0"/>
              </a:defRPr>
            </a:lvl1pPr>
          </a:lstStyle>
          <a:p>
            <a:fld id="{354A8664-169C-4436-81C8-E492002C26A5}" type="datetimeFigureOut">
              <a:rPr lang="en-US" smtClean="0"/>
              <a:pPr/>
              <a:t>5/6/2025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cs typeface="NVIDIA Sans" panose="020B0503020203020204" pitchFamily="34" charset="0"/>
              </a:defRPr>
            </a:lvl1pPr>
          </a:lstStyle>
          <a:p>
            <a:fld id="{A93AD357-0C40-4436-9D38-C47D60C1C9C1}" type="slidenum">
              <a:rPr lang="en-US" smtClean="0"/>
              <a:pPr/>
              <a:t>‹#›</a:t>
            </a:fld>
            <a:endParaRPr lang="en-US"/>
          </a:p>
        </p:txBody>
      </p:sp>
      <p:pic>
        <p:nvPicPr>
          <p:cNvPr id="8" name="Picture 7">
            <a:extLst>
              <a:ext uri="{FF2B5EF4-FFF2-40B4-BE49-F238E27FC236}">
                <a16:creationId xmlns:a16="http://schemas.microsoft.com/office/drawing/2014/main" id="{EE23E2AA-C3B7-40F1-8870-35AD3374F0C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Tree>
    <p:extLst>
      <p:ext uri="{BB962C8B-B14F-4D97-AF65-F5344CB8AC3E}">
        <p14:creationId xmlns:p14="http://schemas.microsoft.com/office/powerpoint/2010/main" val="401893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4572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9144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13716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18288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there, and welcome to Building AI Agents with Multimodal Models.</a:t>
            </a:r>
          </a:p>
        </p:txBody>
      </p:sp>
      <p:sp>
        <p:nvSpPr>
          <p:cNvPr id="4" name="Slide Number Placeholder 3"/>
          <p:cNvSpPr>
            <a:spLocks noGrp="1"/>
          </p:cNvSpPr>
          <p:nvPr>
            <p:ph type="sldNum" sz="quarter" idx="5"/>
          </p:nvPr>
        </p:nvSpPr>
        <p:spPr/>
        <p:txBody>
          <a:bodyPr/>
          <a:lstStyle/>
          <a:p>
            <a:fld id="{A93AD357-0C40-4436-9D38-C47D60C1C9C1}" type="slidenum">
              <a:rPr lang="en-US" smtClean="0"/>
              <a:pPr/>
              <a:t>1</a:t>
            </a:fld>
            <a:endParaRPr lang="en-US"/>
          </a:p>
        </p:txBody>
      </p:sp>
    </p:spTree>
    <p:extLst>
      <p:ext uri="{BB962C8B-B14F-4D97-AF65-F5344CB8AC3E}">
        <p14:creationId xmlns:p14="http://schemas.microsoft.com/office/powerpoint/2010/main" val="2042533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2</a:t>
            </a:fld>
            <a:endParaRPr lang="en-US"/>
          </a:p>
        </p:txBody>
      </p:sp>
    </p:spTree>
    <p:extLst>
      <p:ext uri="{BB962C8B-B14F-4D97-AF65-F5344CB8AC3E}">
        <p14:creationId xmlns:p14="http://schemas.microsoft.com/office/powerpoint/2010/main" val="831567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move on to the theory, let’s take a look at our experimental results.</a:t>
            </a:r>
          </a:p>
        </p:txBody>
      </p:sp>
      <p:sp>
        <p:nvSpPr>
          <p:cNvPr id="4" name="Slide Number Placeholder 3"/>
          <p:cNvSpPr>
            <a:spLocks noGrp="1"/>
          </p:cNvSpPr>
          <p:nvPr>
            <p:ph type="sldNum" sz="quarter" idx="5"/>
          </p:nvPr>
        </p:nvSpPr>
        <p:spPr/>
        <p:txBody>
          <a:bodyPr/>
          <a:lstStyle/>
          <a:p>
            <a:fld id="{A93AD357-0C40-4436-9D38-C47D60C1C9C1}" type="slidenum">
              <a:rPr lang="en-US" smtClean="0"/>
              <a:pPr/>
              <a:t>3</a:t>
            </a:fld>
            <a:endParaRPr lang="en-US"/>
          </a:p>
        </p:txBody>
      </p:sp>
    </p:spTree>
    <p:extLst>
      <p:ext uri="{BB962C8B-B14F-4D97-AF65-F5344CB8AC3E}">
        <p14:creationId xmlns:p14="http://schemas.microsoft.com/office/powerpoint/2010/main" val="3037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look at how the single modal models faired. In this case, the LiDAR data was more effective.</a:t>
            </a:r>
          </a:p>
          <a:p>
            <a:endParaRPr lang="en-US" dirty="0"/>
          </a:p>
          <a:p>
            <a:r>
              <a:rPr lang="en-US" dirty="0"/>
              <a:t>Since neural networks are a bit of a black box, it’s hard to say exactly why. However, we can throw out some theories. Whenever I’m trying to design a statistical model, I first think, how would I do this if I had to do this myself? For instance, with the RGB data, I would need to find someway to convert it into position data. I could make an estimate based on where the objects are in the picture. Since the positions are in a 3-dimensional space, that estimate could be tricky.</a:t>
            </a:r>
          </a:p>
          <a:p>
            <a:endParaRPr lang="en-US" dirty="0"/>
          </a:p>
          <a:p>
            <a:r>
              <a:rPr lang="en-US" dirty="0"/>
              <a:t>On the other hand, the LiDAR data very directly gives us position information. We wouldn’t need to convert from one mode to another. The more direct the calculation, the easier it will be for the neural network to recognize it.</a:t>
            </a:r>
          </a:p>
        </p:txBody>
      </p:sp>
      <p:sp>
        <p:nvSpPr>
          <p:cNvPr id="4" name="Slide Number Placeholder 3"/>
          <p:cNvSpPr>
            <a:spLocks noGrp="1"/>
          </p:cNvSpPr>
          <p:nvPr>
            <p:ph type="sldNum" sz="quarter" idx="5"/>
          </p:nvPr>
        </p:nvSpPr>
        <p:spPr/>
        <p:txBody>
          <a:bodyPr/>
          <a:lstStyle/>
          <a:p>
            <a:fld id="{A93AD357-0C40-4436-9D38-C47D60C1C9C1}" type="slidenum">
              <a:rPr lang="en-US" smtClean="0"/>
              <a:pPr/>
              <a:t>4</a:t>
            </a:fld>
            <a:endParaRPr lang="en-US"/>
          </a:p>
        </p:txBody>
      </p:sp>
    </p:spTree>
    <p:extLst>
      <p:ext uri="{BB962C8B-B14F-4D97-AF65-F5344CB8AC3E}">
        <p14:creationId xmlns:p14="http://schemas.microsoft.com/office/powerpoint/2010/main" val="385557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DD584-A990-270B-AD93-618AA1A9B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9AA70-74F8-8C61-84C2-227C15D56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72FBC-E9A2-4627-7E4F-ECCE2860D42C}"/>
              </a:ext>
            </a:extLst>
          </p:cNvPr>
          <p:cNvSpPr>
            <a:spLocks noGrp="1"/>
          </p:cNvSpPr>
          <p:nvPr>
            <p:ph type="body" idx="1"/>
          </p:nvPr>
        </p:nvSpPr>
        <p:spPr/>
        <p:txBody>
          <a:bodyPr/>
          <a:lstStyle/>
          <a:p>
            <a:r>
              <a:rPr lang="en-US" dirty="0"/>
              <a:t>Next, let’s look at the multimodal results. Hooray! We successfully made a multimodal model! But why does this victory feel so empty?</a:t>
            </a:r>
          </a:p>
          <a:p>
            <a:endParaRPr lang="en-US" dirty="0"/>
          </a:p>
          <a:p>
            <a:r>
              <a:rPr lang="en-US" dirty="0"/>
              <a:t>Because the late fusion model was trained with pre-trained models, it had a head start compared to the early fusion model and the single modal model. Eventually, they all converged to relatively the same result. It turns out, more data isn’t always better. In this case, because the LiDAR data was so effective at helping to predict the RGB data was effectively ignored. So, our multimodal models performed the same as the single modal model.</a:t>
            </a:r>
          </a:p>
        </p:txBody>
      </p:sp>
      <p:sp>
        <p:nvSpPr>
          <p:cNvPr id="4" name="Slide Number Placeholder 3">
            <a:extLst>
              <a:ext uri="{FF2B5EF4-FFF2-40B4-BE49-F238E27FC236}">
                <a16:creationId xmlns:a16="http://schemas.microsoft.com/office/drawing/2014/main" id="{94243BCE-1007-C2F8-C196-611BB66E7188}"/>
              </a:ext>
            </a:extLst>
          </p:cNvPr>
          <p:cNvSpPr>
            <a:spLocks noGrp="1"/>
          </p:cNvSpPr>
          <p:nvPr>
            <p:ph type="sldNum" sz="quarter" idx="5"/>
          </p:nvPr>
        </p:nvSpPr>
        <p:spPr/>
        <p:txBody>
          <a:bodyPr/>
          <a:lstStyle/>
          <a:p>
            <a:fld id="{A93AD357-0C40-4436-9D38-C47D60C1C9C1}" type="slidenum">
              <a:rPr lang="en-US" smtClean="0"/>
              <a:pPr/>
              <a:t>5</a:t>
            </a:fld>
            <a:endParaRPr lang="en-US"/>
          </a:p>
        </p:txBody>
      </p:sp>
    </p:spTree>
    <p:extLst>
      <p:ext uri="{BB962C8B-B14F-4D97-AF65-F5344CB8AC3E}">
        <p14:creationId xmlns:p14="http://schemas.microsoft.com/office/powerpoint/2010/main" val="1303434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CF050-5B2E-4058-0614-F6BC1B075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1B5757-F77C-9CED-DEBE-972860CCB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0935E-05E8-B920-FA81-5F63384D295D}"/>
              </a:ext>
            </a:extLst>
          </p:cNvPr>
          <p:cNvSpPr>
            <a:spLocks noGrp="1"/>
          </p:cNvSpPr>
          <p:nvPr>
            <p:ph type="body" idx="1"/>
          </p:nvPr>
        </p:nvSpPr>
        <p:spPr/>
        <p:txBody>
          <a:bodyPr/>
          <a:lstStyle/>
          <a:p>
            <a:r>
              <a:rPr lang="en-US" dirty="0"/>
              <a:t>So next time, we’re going to use a dataset that forces our models to consider both modes of data. We will have two cubes of different colors. The LiDAR sensor cannot see color, so the RGB image data will help our neural networks identify which cube is which.</a:t>
            </a:r>
          </a:p>
          <a:p>
            <a:endParaRPr lang="en-US" dirty="0"/>
          </a:p>
          <a:p>
            <a:r>
              <a:rPr lang="en-US" dirty="0"/>
              <a:t>As we learned in the previous lab, the LiDAR data is more effective at calculating a position than RGB data. Can we find the best of both worlds and make a truly multimodal model?</a:t>
            </a:r>
          </a:p>
        </p:txBody>
      </p:sp>
      <p:sp>
        <p:nvSpPr>
          <p:cNvPr id="4" name="Slide Number Placeholder 3">
            <a:extLst>
              <a:ext uri="{FF2B5EF4-FFF2-40B4-BE49-F238E27FC236}">
                <a16:creationId xmlns:a16="http://schemas.microsoft.com/office/drawing/2014/main" id="{EF470CB8-5BAF-6997-B25D-63D5E23FBD4A}"/>
              </a:ext>
            </a:extLst>
          </p:cNvPr>
          <p:cNvSpPr>
            <a:spLocks noGrp="1"/>
          </p:cNvSpPr>
          <p:nvPr>
            <p:ph type="sldNum" sz="quarter" idx="5"/>
          </p:nvPr>
        </p:nvSpPr>
        <p:spPr/>
        <p:txBody>
          <a:bodyPr/>
          <a:lstStyle/>
          <a:p>
            <a:fld id="{A93AD357-0C40-4436-9D38-C47D60C1C9C1}" type="slidenum">
              <a:rPr lang="en-US" smtClean="0"/>
              <a:pPr/>
              <a:t>6</a:t>
            </a:fld>
            <a:endParaRPr lang="en-US"/>
          </a:p>
        </p:txBody>
      </p:sp>
    </p:spTree>
    <p:extLst>
      <p:ext uri="{BB962C8B-B14F-4D97-AF65-F5344CB8AC3E}">
        <p14:creationId xmlns:p14="http://schemas.microsoft.com/office/powerpoint/2010/main" val="3644931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F9293-0FFD-AC5D-FB25-A6A21030F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145EA-C8A6-3B60-DADD-DA6AE0863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D40511-ED86-E1C5-A1DA-107218FAD49E}"/>
              </a:ext>
            </a:extLst>
          </p:cNvPr>
          <p:cNvSpPr>
            <a:spLocks noGrp="1"/>
          </p:cNvSpPr>
          <p:nvPr>
            <p:ph type="body" idx="1"/>
          </p:nvPr>
        </p:nvSpPr>
        <p:spPr/>
        <p:txBody>
          <a:bodyPr/>
          <a:lstStyle/>
          <a:p>
            <a:r>
              <a:rPr lang="en-US" dirty="0"/>
              <a:t>In the previous lab, we experimented with early and late fusion. But what if we fused our model somewhere in the middle?</a:t>
            </a:r>
          </a:p>
        </p:txBody>
      </p:sp>
      <p:sp>
        <p:nvSpPr>
          <p:cNvPr id="4" name="Slide Number Placeholder 3">
            <a:extLst>
              <a:ext uri="{FF2B5EF4-FFF2-40B4-BE49-F238E27FC236}">
                <a16:creationId xmlns:a16="http://schemas.microsoft.com/office/drawing/2014/main" id="{A3297149-AD9E-8F13-8A7B-492DE8012236}"/>
              </a:ext>
            </a:extLst>
          </p:cNvPr>
          <p:cNvSpPr>
            <a:spLocks noGrp="1"/>
          </p:cNvSpPr>
          <p:nvPr>
            <p:ph type="sldNum" sz="quarter" idx="5"/>
          </p:nvPr>
        </p:nvSpPr>
        <p:spPr/>
        <p:txBody>
          <a:bodyPr/>
          <a:lstStyle/>
          <a:p>
            <a:fld id="{A93AD357-0C40-4436-9D38-C47D60C1C9C1}" type="slidenum">
              <a:rPr lang="en-US" smtClean="0"/>
              <a:pPr/>
              <a:t>7</a:t>
            </a:fld>
            <a:endParaRPr lang="en-US"/>
          </a:p>
        </p:txBody>
      </p:sp>
    </p:spTree>
    <p:extLst>
      <p:ext uri="{BB962C8B-B14F-4D97-AF65-F5344CB8AC3E}">
        <p14:creationId xmlns:p14="http://schemas.microsoft.com/office/powerpoint/2010/main" val="3809417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some inspiration, let’s look at one of the most complicated multimodal models: the human brain. There is still much to learn about the brain and how it works, but scientists have generally figured out which part of the brain analyzes which mode of data.</a:t>
            </a:r>
          </a:p>
          <a:p>
            <a:endParaRPr lang="en-US" dirty="0"/>
          </a:p>
          <a:p>
            <a:r>
              <a:rPr lang="en-US" dirty="0"/>
              <a:t>Humans have many forms of data inputs and data outputs. If there was not any structure to how the brain handled information, it would constantly have information overload. So different parts of the brain are dedicated to different datatypes. Much of that analysis feeds into our prefrontal cortex, which is the brain’s center for reasoning.</a:t>
            </a:r>
          </a:p>
        </p:txBody>
      </p:sp>
      <p:sp>
        <p:nvSpPr>
          <p:cNvPr id="4" name="Slide Number Placeholder 3"/>
          <p:cNvSpPr>
            <a:spLocks noGrp="1"/>
          </p:cNvSpPr>
          <p:nvPr>
            <p:ph type="sldNum" sz="quarter" idx="5"/>
          </p:nvPr>
        </p:nvSpPr>
        <p:spPr/>
        <p:txBody>
          <a:bodyPr/>
          <a:lstStyle/>
          <a:p>
            <a:fld id="{A93AD357-0C40-4436-9D38-C47D60C1C9C1}" type="slidenum">
              <a:rPr lang="en-US" smtClean="0"/>
              <a:pPr/>
              <a:t>8</a:t>
            </a:fld>
            <a:endParaRPr lang="en-US"/>
          </a:p>
        </p:txBody>
      </p:sp>
    </p:spTree>
    <p:extLst>
      <p:ext uri="{BB962C8B-B14F-4D97-AF65-F5344CB8AC3E}">
        <p14:creationId xmlns:p14="http://schemas.microsoft.com/office/powerpoint/2010/main" val="385557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CFF4D-946C-31BC-6519-C728B0024D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47223-2E56-541D-9724-A388114CFF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D31218-F5F0-4144-BEEE-B902A4A8FC3F}"/>
              </a:ext>
            </a:extLst>
          </p:cNvPr>
          <p:cNvSpPr>
            <a:spLocks noGrp="1"/>
          </p:cNvSpPr>
          <p:nvPr>
            <p:ph type="body" idx="1"/>
          </p:nvPr>
        </p:nvSpPr>
        <p:spPr/>
        <p:txBody>
          <a:bodyPr/>
          <a:lstStyle/>
          <a:p>
            <a:r>
              <a:rPr lang="en-US" dirty="0"/>
              <a:t>Here’s one approach we can do. We can convolve each of our data types separately. Then, we can concatenate the results of each convolution into one giant vector. Finally, we feed the combined data into a dense neural network.</a:t>
            </a:r>
          </a:p>
          <a:p>
            <a:endParaRPr lang="en-US" dirty="0"/>
          </a:p>
          <a:p>
            <a:r>
              <a:rPr lang="en-US" dirty="0"/>
              <a:t>Because we’re mixing our modalities in the middle of our model, and not the beginning or the end, this is called intermediate fusion. Just like the human brain, this gives the advantage of analyzing each mode separately before carefully considering the bigger picture.</a:t>
            </a:r>
          </a:p>
        </p:txBody>
      </p:sp>
      <p:sp>
        <p:nvSpPr>
          <p:cNvPr id="4" name="Slide Number Placeholder 3">
            <a:extLst>
              <a:ext uri="{FF2B5EF4-FFF2-40B4-BE49-F238E27FC236}">
                <a16:creationId xmlns:a16="http://schemas.microsoft.com/office/drawing/2014/main" id="{2784975B-9EAF-2FE8-E34E-791E131F5B0C}"/>
              </a:ext>
            </a:extLst>
          </p:cNvPr>
          <p:cNvSpPr>
            <a:spLocks noGrp="1"/>
          </p:cNvSpPr>
          <p:nvPr>
            <p:ph type="sldNum" sz="quarter" idx="5"/>
          </p:nvPr>
        </p:nvSpPr>
        <p:spPr/>
        <p:txBody>
          <a:bodyPr/>
          <a:lstStyle/>
          <a:p>
            <a:fld id="{A93AD357-0C40-4436-9D38-C47D60C1C9C1}" type="slidenum">
              <a:rPr lang="en-US" smtClean="0"/>
              <a:pPr/>
              <a:t>9</a:t>
            </a:fld>
            <a:endParaRPr lang="en-US"/>
          </a:p>
        </p:txBody>
      </p:sp>
    </p:spTree>
    <p:extLst>
      <p:ext uri="{BB962C8B-B14F-4D97-AF65-F5344CB8AC3E}">
        <p14:creationId xmlns:p14="http://schemas.microsoft.com/office/powerpoint/2010/main" val="3448099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54A9A-B185-4C88-099E-6B6D53DDA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9F6C1-BC98-E1BF-5754-AF53EF1B28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536E0-1307-8DB2-F57B-AC7EAACFD6A5}"/>
              </a:ext>
            </a:extLst>
          </p:cNvPr>
          <p:cNvSpPr>
            <a:spLocks noGrp="1"/>
          </p:cNvSpPr>
          <p:nvPr>
            <p:ph type="body" idx="1"/>
          </p:nvPr>
        </p:nvSpPr>
        <p:spPr/>
        <p:txBody>
          <a:bodyPr/>
          <a:lstStyle/>
          <a:p>
            <a:r>
              <a:rPr lang="en-US" dirty="0"/>
              <a:t>By the way, intermediate fusion is a vague term, and represents any form of fusion in the middle of the model.  We could also do something like this with recurrent connections.</a:t>
            </a:r>
          </a:p>
        </p:txBody>
      </p:sp>
      <p:sp>
        <p:nvSpPr>
          <p:cNvPr id="4" name="Slide Number Placeholder 3">
            <a:extLst>
              <a:ext uri="{FF2B5EF4-FFF2-40B4-BE49-F238E27FC236}">
                <a16:creationId xmlns:a16="http://schemas.microsoft.com/office/drawing/2014/main" id="{BCD95C44-6938-3D3C-A034-BE835E734323}"/>
              </a:ext>
            </a:extLst>
          </p:cNvPr>
          <p:cNvSpPr>
            <a:spLocks noGrp="1"/>
          </p:cNvSpPr>
          <p:nvPr>
            <p:ph type="sldNum" sz="quarter" idx="5"/>
          </p:nvPr>
        </p:nvSpPr>
        <p:spPr/>
        <p:txBody>
          <a:bodyPr/>
          <a:lstStyle/>
          <a:p>
            <a:fld id="{A93AD357-0C40-4436-9D38-C47D60C1C9C1}" type="slidenum">
              <a:rPr lang="en-US" smtClean="0"/>
              <a:pPr/>
              <a:t>10</a:t>
            </a:fld>
            <a:endParaRPr lang="en-US"/>
          </a:p>
        </p:txBody>
      </p:sp>
    </p:spTree>
    <p:extLst>
      <p:ext uri="{BB962C8B-B14F-4D97-AF65-F5344CB8AC3E}">
        <p14:creationId xmlns:p14="http://schemas.microsoft.com/office/powerpoint/2010/main" val="2796005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F0684-1E6E-43DB-B8BC-4F8559CB2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54AB1-5FAA-31FC-0DDF-F194175AF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7F5B6-A609-08F2-ACAE-BA701FF3A782}"/>
              </a:ext>
            </a:extLst>
          </p:cNvPr>
          <p:cNvSpPr>
            <a:spLocks noGrp="1"/>
          </p:cNvSpPr>
          <p:nvPr>
            <p:ph type="body" idx="1"/>
          </p:nvPr>
        </p:nvSpPr>
        <p:spPr/>
        <p:txBody>
          <a:bodyPr/>
          <a:lstStyle/>
          <a:p>
            <a:r>
              <a:rPr lang="en-US" dirty="0"/>
              <a:t>By the way, if you were to calculate the positions of the centers of these cubes by hand, how would you go about it?</a:t>
            </a:r>
          </a:p>
        </p:txBody>
      </p:sp>
      <p:sp>
        <p:nvSpPr>
          <p:cNvPr id="4" name="Slide Number Placeholder 3">
            <a:extLst>
              <a:ext uri="{FF2B5EF4-FFF2-40B4-BE49-F238E27FC236}">
                <a16:creationId xmlns:a16="http://schemas.microsoft.com/office/drawing/2014/main" id="{84B78BB0-FB0B-2743-65FB-60BA2B21ECE1}"/>
              </a:ext>
            </a:extLst>
          </p:cNvPr>
          <p:cNvSpPr>
            <a:spLocks noGrp="1"/>
          </p:cNvSpPr>
          <p:nvPr>
            <p:ph type="sldNum" sz="quarter" idx="5"/>
          </p:nvPr>
        </p:nvSpPr>
        <p:spPr/>
        <p:txBody>
          <a:bodyPr/>
          <a:lstStyle/>
          <a:p>
            <a:fld id="{A93AD357-0C40-4436-9D38-C47D60C1C9C1}" type="slidenum">
              <a:rPr lang="en-US" smtClean="0"/>
              <a:pPr/>
              <a:t>11</a:t>
            </a:fld>
            <a:endParaRPr lang="en-US"/>
          </a:p>
        </p:txBody>
      </p:sp>
    </p:spTree>
    <p:extLst>
      <p:ext uri="{BB962C8B-B14F-4D97-AF65-F5344CB8AC3E}">
        <p14:creationId xmlns:p14="http://schemas.microsoft.com/office/powerpoint/2010/main" val="1680419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3BE5B-EF20-7DC9-DE2C-0C3C555C1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C4527-283E-7E03-2ADA-3CBE42FCE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1205B-75B1-70CB-A78F-28B84238DFD6}"/>
              </a:ext>
            </a:extLst>
          </p:cNvPr>
          <p:cNvSpPr>
            <a:spLocks noGrp="1"/>
          </p:cNvSpPr>
          <p:nvPr>
            <p:ph type="body" idx="1"/>
          </p:nvPr>
        </p:nvSpPr>
        <p:spPr/>
        <p:txBody>
          <a:bodyPr/>
          <a:lstStyle/>
          <a:p>
            <a:r>
              <a:rPr lang="en-US" dirty="0"/>
              <a:t>If it was me, I would try to recognize a corner.  If we take the average of the three lines along the edges connected to the corner, that would give us the cube’s diagonal. Halfway along the diagonal would give us the center.</a:t>
            </a:r>
          </a:p>
        </p:txBody>
      </p:sp>
      <p:sp>
        <p:nvSpPr>
          <p:cNvPr id="4" name="Slide Number Placeholder 3">
            <a:extLst>
              <a:ext uri="{FF2B5EF4-FFF2-40B4-BE49-F238E27FC236}">
                <a16:creationId xmlns:a16="http://schemas.microsoft.com/office/drawing/2014/main" id="{4F43146C-C19B-64A5-59AD-4CF370F23F6E}"/>
              </a:ext>
            </a:extLst>
          </p:cNvPr>
          <p:cNvSpPr>
            <a:spLocks noGrp="1"/>
          </p:cNvSpPr>
          <p:nvPr>
            <p:ph type="sldNum" sz="quarter" idx="5"/>
          </p:nvPr>
        </p:nvSpPr>
        <p:spPr/>
        <p:txBody>
          <a:bodyPr/>
          <a:lstStyle/>
          <a:p>
            <a:fld id="{A93AD357-0C40-4436-9D38-C47D60C1C9C1}" type="slidenum">
              <a:rPr lang="en-US" smtClean="0"/>
              <a:pPr/>
              <a:t>12</a:t>
            </a:fld>
            <a:endParaRPr lang="en-US"/>
          </a:p>
        </p:txBody>
      </p:sp>
    </p:spTree>
    <p:extLst>
      <p:ext uri="{BB962C8B-B14F-4D97-AF65-F5344CB8AC3E}">
        <p14:creationId xmlns:p14="http://schemas.microsoft.com/office/powerpoint/2010/main" val="5072984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4C86B-068C-3A3C-5970-15E896E0E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385AF-A4E9-DA2D-F35F-5130C34F6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09BE7-B8EC-ED9F-0A54-3C6AF916E80B}"/>
              </a:ext>
            </a:extLst>
          </p:cNvPr>
          <p:cNvSpPr>
            <a:spLocks noGrp="1"/>
          </p:cNvSpPr>
          <p:nvPr>
            <p:ph type="body" idx="1"/>
          </p:nvPr>
        </p:nvSpPr>
        <p:spPr/>
        <p:txBody>
          <a:bodyPr/>
          <a:lstStyle/>
          <a:p>
            <a:r>
              <a:rPr lang="en-US" dirty="0"/>
              <a:t>Dense neural networks would have a difficult time with this approach. In order to calculate a line, we would need its slope. Even though neurons are regression lines under the hood, their slope is set after training. Our cubes have random rotation, meaning, they have variable slope. It would be great if our model was flexible enough to handle that.</a:t>
            </a:r>
          </a:p>
        </p:txBody>
      </p:sp>
      <p:sp>
        <p:nvSpPr>
          <p:cNvPr id="4" name="Slide Number Placeholder 3">
            <a:extLst>
              <a:ext uri="{FF2B5EF4-FFF2-40B4-BE49-F238E27FC236}">
                <a16:creationId xmlns:a16="http://schemas.microsoft.com/office/drawing/2014/main" id="{F561FC35-4267-CDF7-684E-63120AB869F7}"/>
              </a:ext>
            </a:extLst>
          </p:cNvPr>
          <p:cNvSpPr>
            <a:spLocks noGrp="1"/>
          </p:cNvSpPr>
          <p:nvPr>
            <p:ph type="sldNum" sz="quarter" idx="5"/>
          </p:nvPr>
        </p:nvSpPr>
        <p:spPr/>
        <p:txBody>
          <a:bodyPr/>
          <a:lstStyle/>
          <a:p>
            <a:fld id="{A93AD357-0C40-4436-9D38-C47D60C1C9C1}" type="slidenum">
              <a:rPr lang="en-US" smtClean="0"/>
              <a:pPr/>
              <a:t>13</a:t>
            </a:fld>
            <a:endParaRPr lang="en-US"/>
          </a:p>
        </p:txBody>
      </p:sp>
    </p:spTree>
    <p:extLst>
      <p:ext uri="{BB962C8B-B14F-4D97-AF65-F5344CB8AC3E}">
        <p14:creationId xmlns:p14="http://schemas.microsoft.com/office/powerpoint/2010/main" val="258279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6C621-1CFE-7070-1E11-B030A1A90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3B644-9005-4490-D310-88464B9C13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71EBC-985D-4CE2-10DC-C6C216E99214}"/>
              </a:ext>
            </a:extLst>
          </p:cNvPr>
          <p:cNvSpPr>
            <a:spLocks noGrp="1"/>
          </p:cNvSpPr>
          <p:nvPr>
            <p:ph type="body" idx="1"/>
          </p:nvPr>
        </p:nvSpPr>
        <p:spPr/>
        <p:txBody>
          <a:bodyPr/>
          <a:lstStyle/>
          <a:p>
            <a:r>
              <a:rPr lang="en-US" dirty="0"/>
              <a:t>If this is the structure of our model, let’s see if we can add a multiplication term. Where would be the best place to do it?</a:t>
            </a:r>
          </a:p>
          <a:p>
            <a:endParaRPr lang="en-US" dirty="0"/>
          </a:p>
          <a:p>
            <a:r>
              <a:rPr lang="en-US" dirty="0"/>
              <a:t>The honest answer is to experiment with a lot of different approaches to see what’s best, but let’s see if we can build some intuition.</a:t>
            </a:r>
          </a:p>
        </p:txBody>
      </p:sp>
      <p:sp>
        <p:nvSpPr>
          <p:cNvPr id="4" name="Slide Number Placeholder 3">
            <a:extLst>
              <a:ext uri="{FF2B5EF4-FFF2-40B4-BE49-F238E27FC236}">
                <a16:creationId xmlns:a16="http://schemas.microsoft.com/office/drawing/2014/main" id="{B70D1968-B3CA-6131-1271-D61BDC962ACD}"/>
              </a:ext>
            </a:extLst>
          </p:cNvPr>
          <p:cNvSpPr>
            <a:spLocks noGrp="1"/>
          </p:cNvSpPr>
          <p:nvPr>
            <p:ph type="sldNum" sz="quarter" idx="5"/>
          </p:nvPr>
        </p:nvSpPr>
        <p:spPr/>
        <p:txBody>
          <a:bodyPr/>
          <a:lstStyle/>
          <a:p>
            <a:fld id="{A93AD357-0C40-4436-9D38-C47D60C1C9C1}" type="slidenum">
              <a:rPr lang="en-US" smtClean="0"/>
              <a:pPr/>
              <a:t>14</a:t>
            </a:fld>
            <a:endParaRPr lang="en-US"/>
          </a:p>
        </p:txBody>
      </p:sp>
    </p:spTree>
    <p:extLst>
      <p:ext uri="{BB962C8B-B14F-4D97-AF65-F5344CB8AC3E}">
        <p14:creationId xmlns:p14="http://schemas.microsoft.com/office/powerpoint/2010/main" val="2575998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0F68E-B89E-E4D2-6468-E654878DB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29CA5-F271-BE15-B9FE-724F7D00A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F6302-FCB2-22AC-8101-12B1A740DE4C}"/>
              </a:ext>
            </a:extLst>
          </p:cNvPr>
          <p:cNvSpPr>
            <a:spLocks noGrp="1"/>
          </p:cNvSpPr>
          <p:nvPr>
            <p:ph type="body" idx="1"/>
          </p:nvPr>
        </p:nvSpPr>
        <p:spPr/>
        <p:txBody>
          <a:bodyPr/>
          <a:lstStyle/>
          <a:p>
            <a:r>
              <a:rPr lang="en-US" dirty="0"/>
              <a:t>If the result of a convolution is a matrix, we could matrix multiply the results after the first stage of convolution for each modality. That might be too soon though, since the modal first needs to recognize what it’s seeing. At this point, it hasn’t identified where the corners of the cubes are.</a:t>
            </a:r>
          </a:p>
        </p:txBody>
      </p:sp>
      <p:sp>
        <p:nvSpPr>
          <p:cNvPr id="4" name="Slide Number Placeholder 3">
            <a:extLst>
              <a:ext uri="{FF2B5EF4-FFF2-40B4-BE49-F238E27FC236}">
                <a16:creationId xmlns:a16="http://schemas.microsoft.com/office/drawing/2014/main" id="{C31F98F7-269E-4C96-85B8-C4E72492043E}"/>
              </a:ext>
            </a:extLst>
          </p:cNvPr>
          <p:cNvSpPr>
            <a:spLocks noGrp="1"/>
          </p:cNvSpPr>
          <p:nvPr>
            <p:ph type="sldNum" sz="quarter" idx="5"/>
          </p:nvPr>
        </p:nvSpPr>
        <p:spPr/>
        <p:txBody>
          <a:bodyPr/>
          <a:lstStyle/>
          <a:p>
            <a:fld id="{A93AD357-0C40-4436-9D38-C47D60C1C9C1}" type="slidenum">
              <a:rPr lang="en-US" smtClean="0"/>
              <a:pPr/>
              <a:t>15</a:t>
            </a:fld>
            <a:endParaRPr lang="en-US"/>
          </a:p>
        </p:txBody>
      </p:sp>
    </p:spTree>
    <p:extLst>
      <p:ext uri="{BB962C8B-B14F-4D97-AF65-F5344CB8AC3E}">
        <p14:creationId xmlns:p14="http://schemas.microsoft.com/office/powerpoint/2010/main" val="34696343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96C35-23A5-D846-A0C8-6307A4CBD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5C1CE-9CAB-E357-059F-13824AE0E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ECDD7-C03F-65C5-5354-A2DEE54E0DD9}"/>
              </a:ext>
            </a:extLst>
          </p:cNvPr>
          <p:cNvSpPr>
            <a:spLocks noGrp="1"/>
          </p:cNvSpPr>
          <p:nvPr>
            <p:ph type="body" idx="1"/>
          </p:nvPr>
        </p:nvSpPr>
        <p:spPr/>
        <p:txBody>
          <a:bodyPr/>
          <a:lstStyle/>
          <a:p>
            <a:r>
              <a:rPr lang="en-US" dirty="0"/>
              <a:t>We could split the dense layer, and then add a multiplication step at the end, but would that give out model enough time to find the center of the cube? If we were doing this calculation by hand, there would still be a few steps after finding the lines that define the edges. We would still need to calculate the </a:t>
            </a:r>
            <a:r>
              <a:rPr lang="en-US" dirty="0" err="1"/>
              <a:t>diagonal.and</a:t>
            </a:r>
            <a:r>
              <a:rPr lang="en-US" dirty="0"/>
              <a:t> find the middle of it.</a:t>
            </a:r>
          </a:p>
        </p:txBody>
      </p:sp>
      <p:sp>
        <p:nvSpPr>
          <p:cNvPr id="4" name="Slide Number Placeholder 3">
            <a:extLst>
              <a:ext uri="{FF2B5EF4-FFF2-40B4-BE49-F238E27FC236}">
                <a16:creationId xmlns:a16="http://schemas.microsoft.com/office/drawing/2014/main" id="{9B42BA0D-90D7-964B-AC60-1C2AA7961F30}"/>
              </a:ext>
            </a:extLst>
          </p:cNvPr>
          <p:cNvSpPr>
            <a:spLocks noGrp="1"/>
          </p:cNvSpPr>
          <p:nvPr>
            <p:ph type="sldNum" sz="quarter" idx="5"/>
          </p:nvPr>
        </p:nvSpPr>
        <p:spPr/>
        <p:txBody>
          <a:bodyPr/>
          <a:lstStyle/>
          <a:p>
            <a:fld id="{A93AD357-0C40-4436-9D38-C47D60C1C9C1}" type="slidenum">
              <a:rPr lang="en-US" smtClean="0"/>
              <a:pPr/>
              <a:t>16</a:t>
            </a:fld>
            <a:endParaRPr lang="en-US"/>
          </a:p>
        </p:txBody>
      </p:sp>
    </p:spTree>
    <p:extLst>
      <p:ext uri="{BB962C8B-B14F-4D97-AF65-F5344CB8AC3E}">
        <p14:creationId xmlns:p14="http://schemas.microsoft.com/office/powerpoint/2010/main" val="3676658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B37A7-EFA2-9745-1346-8C4AA093D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E34D1-AC3D-78F1-21A4-140952332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14147-94AE-A664-E671-0D8E119EA3D7}"/>
              </a:ext>
            </a:extLst>
          </p:cNvPr>
          <p:cNvSpPr>
            <a:spLocks noGrp="1"/>
          </p:cNvSpPr>
          <p:nvPr>
            <p:ph type="body" idx="1"/>
          </p:nvPr>
        </p:nvSpPr>
        <p:spPr/>
        <p:txBody>
          <a:bodyPr/>
          <a:lstStyle/>
          <a:p>
            <a:r>
              <a:rPr lang="en-US" dirty="0"/>
              <a:t>So how about here? If we do our multiplication in the middle of our model, that gives our model the ability to identify the inputs to the multiplication, as well as enough time to analyze the results.</a:t>
            </a:r>
          </a:p>
          <a:p>
            <a:endParaRPr lang="en-US" dirty="0"/>
          </a:p>
          <a:p>
            <a:r>
              <a:rPr lang="en-US" dirty="0"/>
              <a:t>In this case, we will do a matrix multiplication instead of a cellwise multiplication. A cellwise multiplication would keep the multiplication term tied to its location in the image. A matrix multiplication allows one part of the image to influence another part.</a:t>
            </a:r>
          </a:p>
        </p:txBody>
      </p:sp>
      <p:sp>
        <p:nvSpPr>
          <p:cNvPr id="4" name="Slide Number Placeholder 3">
            <a:extLst>
              <a:ext uri="{FF2B5EF4-FFF2-40B4-BE49-F238E27FC236}">
                <a16:creationId xmlns:a16="http://schemas.microsoft.com/office/drawing/2014/main" id="{F1F2900C-D04A-0EA4-F5F2-E07A6243C591}"/>
              </a:ext>
            </a:extLst>
          </p:cNvPr>
          <p:cNvSpPr>
            <a:spLocks noGrp="1"/>
          </p:cNvSpPr>
          <p:nvPr>
            <p:ph type="sldNum" sz="quarter" idx="5"/>
          </p:nvPr>
        </p:nvSpPr>
        <p:spPr/>
        <p:txBody>
          <a:bodyPr/>
          <a:lstStyle/>
          <a:p>
            <a:fld id="{A93AD357-0C40-4436-9D38-C47D60C1C9C1}" type="slidenum">
              <a:rPr lang="en-US" smtClean="0"/>
              <a:pPr/>
              <a:t>17</a:t>
            </a:fld>
            <a:endParaRPr lang="en-US"/>
          </a:p>
        </p:txBody>
      </p:sp>
    </p:spTree>
    <p:extLst>
      <p:ext uri="{BB962C8B-B14F-4D97-AF65-F5344CB8AC3E}">
        <p14:creationId xmlns:p14="http://schemas.microsoft.com/office/powerpoint/2010/main" val="1676911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34484-9A88-4CD4-7B57-8AB296AD80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6BA04-F405-6F14-A36A-7B5685CD7A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AB362C-72BC-7B4C-8D10-52391E5666BF}"/>
              </a:ext>
            </a:extLst>
          </p:cNvPr>
          <p:cNvSpPr>
            <a:spLocks noGrp="1"/>
          </p:cNvSpPr>
          <p:nvPr>
            <p:ph type="body" idx="1"/>
          </p:nvPr>
        </p:nvSpPr>
        <p:spPr/>
        <p:txBody>
          <a:bodyPr/>
          <a:lstStyle/>
          <a:p>
            <a:r>
              <a:rPr lang="en-US" dirty="0"/>
              <a:t>Multiplication is a great way to add flexibility into our models, but with that flexibility comes a tendency to overfit. The tricks to prevent this are the same as the tricks to preventing overfitting in any large model. A wide variety of data can justify this added complexity to the model.</a:t>
            </a:r>
          </a:p>
        </p:txBody>
      </p:sp>
      <p:sp>
        <p:nvSpPr>
          <p:cNvPr id="4" name="Slide Number Placeholder 3">
            <a:extLst>
              <a:ext uri="{FF2B5EF4-FFF2-40B4-BE49-F238E27FC236}">
                <a16:creationId xmlns:a16="http://schemas.microsoft.com/office/drawing/2014/main" id="{70EE36E5-BF39-B158-B4F5-4D8FB185B6C9}"/>
              </a:ext>
            </a:extLst>
          </p:cNvPr>
          <p:cNvSpPr>
            <a:spLocks noGrp="1"/>
          </p:cNvSpPr>
          <p:nvPr>
            <p:ph type="sldNum" sz="quarter" idx="5"/>
          </p:nvPr>
        </p:nvSpPr>
        <p:spPr/>
        <p:txBody>
          <a:bodyPr/>
          <a:lstStyle/>
          <a:p>
            <a:fld id="{A93AD357-0C40-4436-9D38-C47D60C1C9C1}" type="slidenum">
              <a:rPr lang="en-US" smtClean="0"/>
              <a:pPr/>
              <a:t>18</a:t>
            </a:fld>
            <a:endParaRPr lang="en-US"/>
          </a:p>
        </p:txBody>
      </p:sp>
    </p:spTree>
    <p:extLst>
      <p:ext uri="{BB962C8B-B14F-4D97-AF65-F5344CB8AC3E}">
        <p14:creationId xmlns:p14="http://schemas.microsoft.com/office/powerpoint/2010/main" val="2552360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94021-670F-5CBB-31D5-353AF3B9F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677B3-CB89-5915-3753-B89C3A431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40D979-CC5E-6364-3DB4-CF559A4B0E43}"/>
              </a:ext>
            </a:extLst>
          </p:cNvPr>
          <p:cNvSpPr>
            <a:spLocks noGrp="1"/>
          </p:cNvSpPr>
          <p:nvPr>
            <p:ph type="body" idx="1"/>
          </p:nvPr>
        </p:nvSpPr>
        <p:spPr/>
        <p:txBody>
          <a:bodyPr/>
          <a:lstStyle/>
          <a:p>
            <a:r>
              <a:rPr lang="en-US" dirty="0"/>
              <a:t>In the next lab, we’ll compare four models: early fusion, late fusion, intermediate fusion with concatenation and intermediate fusion with multiplication.</a:t>
            </a:r>
          </a:p>
        </p:txBody>
      </p:sp>
      <p:sp>
        <p:nvSpPr>
          <p:cNvPr id="4" name="Slide Number Placeholder 3">
            <a:extLst>
              <a:ext uri="{FF2B5EF4-FFF2-40B4-BE49-F238E27FC236}">
                <a16:creationId xmlns:a16="http://schemas.microsoft.com/office/drawing/2014/main" id="{565338DD-91A9-0CEA-A09A-92CAF6ACB94F}"/>
              </a:ext>
            </a:extLst>
          </p:cNvPr>
          <p:cNvSpPr>
            <a:spLocks noGrp="1"/>
          </p:cNvSpPr>
          <p:nvPr>
            <p:ph type="sldNum" sz="quarter" idx="5"/>
          </p:nvPr>
        </p:nvSpPr>
        <p:spPr/>
        <p:txBody>
          <a:bodyPr/>
          <a:lstStyle/>
          <a:p>
            <a:fld id="{A93AD357-0C40-4436-9D38-C47D60C1C9C1}" type="slidenum">
              <a:rPr lang="en-US" smtClean="0"/>
              <a:pPr/>
              <a:t>19</a:t>
            </a:fld>
            <a:endParaRPr lang="en-US"/>
          </a:p>
        </p:txBody>
      </p:sp>
    </p:spTree>
    <p:extLst>
      <p:ext uri="{BB962C8B-B14F-4D97-AF65-F5344CB8AC3E}">
        <p14:creationId xmlns:p14="http://schemas.microsoft.com/office/powerpoint/2010/main" val="27936862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DF330-B042-E9FC-6601-D80E23B3B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ECA09-00D3-181B-C958-8943FB7EFD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6020E-5262-B7EB-E3CE-A6E3A648BABD}"/>
              </a:ext>
            </a:extLst>
          </p:cNvPr>
          <p:cNvSpPr>
            <a:spLocks noGrp="1"/>
          </p:cNvSpPr>
          <p:nvPr>
            <p:ph type="body" idx="1"/>
          </p:nvPr>
        </p:nvSpPr>
        <p:spPr/>
        <p:txBody>
          <a:bodyPr/>
          <a:lstStyle/>
          <a:p>
            <a:r>
              <a:rPr lang="en-US" dirty="0"/>
              <a:t>Speaking of overfitting, this would be a good time to bring up the curse of dimensionality.</a:t>
            </a:r>
          </a:p>
        </p:txBody>
      </p:sp>
      <p:sp>
        <p:nvSpPr>
          <p:cNvPr id="4" name="Slide Number Placeholder 3">
            <a:extLst>
              <a:ext uri="{FF2B5EF4-FFF2-40B4-BE49-F238E27FC236}">
                <a16:creationId xmlns:a16="http://schemas.microsoft.com/office/drawing/2014/main" id="{4A560BF2-C740-3608-9B64-B192089B6E53}"/>
              </a:ext>
            </a:extLst>
          </p:cNvPr>
          <p:cNvSpPr>
            <a:spLocks noGrp="1"/>
          </p:cNvSpPr>
          <p:nvPr>
            <p:ph type="sldNum" sz="quarter" idx="5"/>
          </p:nvPr>
        </p:nvSpPr>
        <p:spPr/>
        <p:txBody>
          <a:bodyPr/>
          <a:lstStyle/>
          <a:p>
            <a:fld id="{A93AD357-0C40-4436-9D38-C47D60C1C9C1}" type="slidenum">
              <a:rPr lang="en-US" smtClean="0"/>
              <a:pPr/>
              <a:t>20</a:t>
            </a:fld>
            <a:endParaRPr lang="en-US"/>
          </a:p>
        </p:txBody>
      </p:sp>
    </p:spTree>
    <p:extLst>
      <p:ext uri="{BB962C8B-B14F-4D97-AF65-F5344CB8AC3E}">
        <p14:creationId xmlns:p14="http://schemas.microsoft.com/office/powerpoint/2010/main" val="22848192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84353-62F2-A2AF-BBAA-1FF579BF3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42759-1854-A182-2594-8919C214C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46E0D-C7B3-2D56-5DA4-557EDA126B4D}"/>
              </a:ext>
            </a:extLst>
          </p:cNvPr>
          <p:cNvSpPr>
            <a:spLocks noGrp="1"/>
          </p:cNvSpPr>
          <p:nvPr>
            <p:ph type="body" idx="1"/>
          </p:nvPr>
        </p:nvSpPr>
        <p:spPr/>
        <p:txBody>
          <a:bodyPr/>
          <a:lstStyle/>
          <a:p>
            <a:r>
              <a:rPr lang="en-US" dirty="0"/>
              <a:t>The curse of dimensionality is a concept proposed by Prichard E. Bellman. The more dimensions our data has, to more difficult it becomes to analyze it. Overfitting is an example of this curse. Another example is data collection. Let’s say we’re fashion designers, and we’re looking to design shoes that look great on everyone. US shoe sizes go from 6 to 16. If we ignore half sizes, we would need 11 people in each of the different categories to get a good representation.</a:t>
            </a:r>
          </a:p>
          <a:p>
            <a:endParaRPr lang="en-US" dirty="0"/>
          </a:p>
          <a:p>
            <a:endParaRPr lang="en-US" dirty="0"/>
          </a:p>
        </p:txBody>
      </p:sp>
      <p:sp>
        <p:nvSpPr>
          <p:cNvPr id="4" name="Slide Number Placeholder 3">
            <a:extLst>
              <a:ext uri="{FF2B5EF4-FFF2-40B4-BE49-F238E27FC236}">
                <a16:creationId xmlns:a16="http://schemas.microsoft.com/office/drawing/2014/main" id="{77B9B32E-0582-B6F0-6CAC-180AA429103F}"/>
              </a:ext>
            </a:extLst>
          </p:cNvPr>
          <p:cNvSpPr>
            <a:spLocks noGrp="1"/>
          </p:cNvSpPr>
          <p:nvPr>
            <p:ph type="sldNum" sz="quarter" idx="5"/>
          </p:nvPr>
        </p:nvSpPr>
        <p:spPr/>
        <p:txBody>
          <a:bodyPr/>
          <a:lstStyle/>
          <a:p>
            <a:fld id="{A93AD357-0C40-4436-9D38-C47D60C1C9C1}" type="slidenum">
              <a:rPr lang="en-US" smtClean="0"/>
              <a:pPr/>
              <a:t>21</a:t>
            </a:fld>
            <a:endParaRPr lang="en-US"/>
          </a:p>
        </p:txBody>
      </p:sp>
    </p:spTree>
    <p:extLst>
      <p:ext uri="{BB962C8B-B14F-4D97-AF65-F5344CB8AC3E}">
        <p14:creationId xmlns:p14="http://schemas.microsoft.com/office/powerpoint/2010/main" val="14349899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A3CEB-168F-37FD-C4AE-C6C2F9F79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966BF-88B1-FCA2-1AF0-8B335AA5B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381BEB-F371-BB09-9511-FAF557A4D8D1}"/>
              </a:ext>
            </a:extLst>
          </p:cNvPr>
          <p:cNvSpPr>
            <a:spLocks noGrp="1"/>
          </p:cNvSpPr>
          <p:nvPr>
            <p:ph type="body" idx="1"/>
          </p:nvPr>
        </p:nvSpPr>
        <p:spPr/>
        <p:txBody>
          <a:bodyPr/>
          <a:lstStyle/>
          <a:p>
            <a:r>
              <a:rPr lang="en-US" dirty="0"/>
              <a:t>If we start by sampling 5 people, and they all have different shoe sizes, we’re 45% done to getting a full representation of our categories.</a:t>
            </a:r>
          </a:p>
        </p:txBody>
      </p:sp>
      <p:sp>
        <p:nvSpPr>
          <p:cNvPr id="4" name="Slide Number Placeholder 3">
            <a:extLst>
              <a:ext uri="{FF2B5EF4-FFF2-40B4-BE49-F238E27FC236}">
                <a16:creationId xmlns:a16="http://schemas.microsoft.com/office/drawing/2014/main" id="{7B09466B-6894-5D9E-86DC-E6B89A9607AB}"/>
              </a:ext>
            </a:extLst>
          </p:cNvPr>
          <p:cNvSpPr>
            <a:spLocks noGrp="1"/>
          </p:cNvSpPr>
          <p:nvPr>
            <p:ph type="sldNum" sz="quarter" idx="5"/>
          </p:nvPr>
        </p:nvSpPr>
        <p:spPr/>
        <p:txBody>
          <a:bodyPr/>
          <a:lstStyle/>
          <a:p>
            <a:fld id="{A93AD357-0C40-4436-9D38-C47D60C1C9C1}" type="slidenum">
              <a:rPr lang="en-US" smtClean="0"/>
              <a:pPr/>
              <a:t>22</a:t>
            </a:fld>
            <a:endParaRPr lang="en-US"/>
          </a:p>
        </p:txBody>
      </p:sp>
    </p:spTree>
    <p:extLst>
      <p:ext uri="{BB962C8B-B14F-4D97-AF65-F5344CB8AC3E}">
        <p14:creationId xmlns:p14="http://schemas.microsoft.com/office/powerpoint/2010/main" val="30280576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5A87D-E050-509E-2290-32077C87C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79CBBA-60A3-FE5F-9EDC-D8BFF7BE4E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72F01-D9FD-1C99-7E65-ACBBC30CBBAF}"/>
              </a:ext>
            </a:extLst>
          </p:cNvPr>
          <p:cNvSpPr>
            <a:spLocks noGrp="1"/>
          </p:cNvSpPr>
          <p:nvPr>
            <p:ph type="body" idx="1"/>
          </p:nvPr>
        </p:nvSpPr>
        <p:spPr/>
        <p:txBody>
          <a:bodyPr/>
          <a:lstStyle/>
          <a:p>
            <a:r>
              <a:rPr lang="en-US" dirty="0"/>
              <a:t>But if we add another dimension, like shirt size, we’d only be 9% to getting full representation.</a:t>
            </a:r>
          </a:p>
        </p:txBody>
      </p:sp>
      <p:sp>
        <p:nvSpPr>
          <p:cNvPr id="4" name="Slide Number Placeholder 3">
            <a:extLst>
              <a:ext uri="{FF2B5EF4-FFF2-40B4-BE49-F238E27FC236}">
                <a16:creationId xmlns:a16="http://schemas.microsoft.com/office/drawing/2014/main" id="{6E92967F-0482-482B-502F-BE5200B0EC82}"/>
              </a:ext>
            </a:extLst>
          </p:cNvPr>
          <p:cNvSpPr>
            <a:spLocks noGrp="1"/>
          </p:cNvSpPr>
          <p:nvPr>
            <p:ph type="sldNum" sz="quarter" idx="5"/>
          </p:nvPr>
        </p:nvSpPr>
        <p:spPr/>
        <p:txBody>
          <a:bodyPr/>
          <a:lstStyle/>
          <a:p>
            <a:fld id="{A93AD357-0C40-4436-9D38-C47D60C1C9C1}" type="slidenum">
              <a:rPr lang="en-US" smtClean="0"/>
              <a:pPr/>
              <a:t>23</a:t>
            </a:fld>
            <a:endParaRPr lang="en-US"/>
          </a:p>
        </p:txBody>
      </p:sp>
    </p:spTree>
    <p:extLst>
      <p:ext uri="{BB962C8B-B14F-4D97-AF65-F5344CB8AC3E}">
        <p14:creationId xmlns:p14="http://schemas.microsoft.com/office/powerpoint/2010/main" val="5996863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665B8-6E4A-4425-725F-2C77D79BBE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8D36C-734E-39DA-429C-997F291268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CB136-C101-1E19-1BEF-EE2B0DA27F56}"/>
              </a:ext>
            </a:extLst>
          </p:cNvPr>
          <p:cNvSpPr>
            <a:spLocks noGrp="1"/>
          </p:cNvSpPr>
          <p:nvPr>
            <p:ph type="body" idx="1"/>
          </p:nvPr>
        </p:nvSpPr>
        <p:spPr/>
        <p:txBody>
          <a:bodyPr/>
          <a:lstStyle/>
          <a:p>
            <a:r>
              <a:rPr lang="en-US" dirty="0"/>
              <a:t>When it comes to multimodal models, sometimes there will be a wide variety of data available to use when modelling neural networks, and it can be tempting to throw everything at the model and hope for the best. But just like how humans get analysis paralysis, giving the model too much information may hinder the network from learning. </a:t>
            </a:r>
          </a:p>
        </p:txBody>
      </p:sp>
      <p:sp>
        <p:nvSpPr>
          <p:cNvPr id="4" name="Slide Number Placeholder 3">
            <a:extLst>
              <a:ext uri="{FF2B5EF4-FFF2-40B4-BE49-F238E27FC236}">
                <a16:creationId xmlns:a16="http://schemas.microsoft.com/office/drawing/2014/main" id="{A11332B2-85B1-0DB7-9235-7A2066BAB062}"/>
              </a:ext>
            </a:extLst>
          </p:cNvPr>
          <p:cNvSpPr>
            <a:spLocks noGrp="1"/>
          </p:cNvSpPr>
          <p:nvPr>
            <p:ph type="sldNum" sz="quarter" idx="5"/>
          </p:nvPr>
        </p:nvSpPr>
        <p:spPr/>
        <p:txBody>
          <a:bodyPr/>
          <a:lstStyle/>
          <a:p>
            <a:fld id="{A93AD357-0C40-4436-9D38-C47D60C1C9C1}" type="slidenum">
              <a:rPr lang="en-US" smtClean="0"/>
              <a:pPr/>
              <a:t>24</a:t>
            </a:fld>
            <a:endParaRPr lang="en-US"/>
          </a:p>
        </p:txBody>
      </p:sp>
    </p:spTree>
    <p:extLst>
      <p:ext uri="{BB962C8B-B14F-4D97-AF65-F5344CB8AC3E}">
        <p14:creationId xmlns:p14="http://schemas.microsoft.com/office/powerpoint/2010/main" val="3992246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E3EFF-0EBB-256F-0815-1FEF2DD4F1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86E43-254A-824D-22BA-B6845ED5B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68237-1872-1C8B-3FAD-2A4227A2B70F}"/>
              </a:ext>
            </a:extLst>
          </p:cNvPr>
          <p:cNvSpPr>
            <a:spLocks noGrp="1"/>
          </p:cNvSpPr>
          <p:nvPr>
            <p:ph type="body" idx="1"/>
          </p:nvPr>
        </p:nvSpPr>
        <p:spPr/>
        <p:txBody>
          <a:bodyPr/>
          <a:lstStyle/>
          <a:p>
            <a:r>
              <a:rPr lang="en-US" dirty="0"/>
              <a:t>In fact, if two kinds of data are perfectly correlated with each other, there’s no benefit of using both in the model. In this case, one type of data could be used to represent the other, so rather than trying to analyze two things, it’s better the choose the simpler option and only analyze one of them.</a:t>
            </a:r>
          </a:p>
        </p:txBody>
      </p:sp>
      <p:sp>
        <p:nvSpPr>
          <p:cNvPr id="4" name="Slide Number Placeholder 3">
            <a:extLst>
              <a:ext uri="{FF2B5EF4-FFF2-40B4-BE49-F238E27FC236}">
                <a16:creationId xmlns:a16="http://schemas.microsoft.com/office/drawing/2014/main" id="{1EF2963C-EF3B-09E5-C475-D187D53DBB35}"/>
              </a:ext>
            </a:extLst>
          </p:cNvPr>
          <p:cNvSpPr>
            <a:spLocks noGrp="1"/>
          </p:cNvSpPr>
          <p:nvPr>
            <p:ph type="sldNum" sz="quarter" idx="5"/>
          </p:nvPr>
        </p:nvSpPr>
        <p:spPr/>
        <p:txBody>
          <a:bodyPr/>
          <a:lstStyle/>
          <a:p>
            <a:fld id="{A93AD357-0C40-4436-9D38-C47D60C1C9C1}" type="slidenum">
              <a:rPr lang="en-US" smtClean="0"/>
              <a:pPr/>
              <a:t>25</a:t>
            </a:fld>
            <a:endParaRPr lang="en-US"/>
          </a:p>
        </p:txBody>
      </p:sp>
    </p:spTree>
    <p:extLst>
      <p:ext uri="{BB962C8B-B14F-4D97-AF65-F5344CB8AC3E}">
        <p14:creationId xmlns:p14="http://schemas.microsoft.com/office/powerpoint/2010/main" val="5544836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like in the first set of labs, it’s going to take a little while to run the experiments. While that’s cooking, let’s explore contrastive pre-training. This is a powerful multimodal technique that allows us to swap one datatype for another.</a:t>
            </a:r>
          </a:p>
        </p:txBody>
      </p:sp>
      <p:sp>
        <p:nvSpPr>
          <p:cNvPr id="4" name="Slide Number Placeholder 3"/>
          <p:cNvSpPr>
            <a:spLocks noGrp="1"/>
          </p:cNvSpPr>
          <p:nvPr>
            <p:ph type="sldNum" sz="quarter" idx="5"/>
          </p:nvPr>
        </p:nvSpPr>
        <p:spPr/>
        <p:txBody>
          <a:bodyPr/>
          <a:lstStyle/>
          <a:p>
            <a:fld id="{A93AD357-0C40-4436-9D38-C47D60C1C9C1}" type="slidenum">
              <a:rPr lang="en-US" smtClean="0"/>
              <a:pPr/>
              <a:t>26</a:t>
            </a:fld>
            <a:endParaRPr lang="en-US"/>
          </a:p>
        </p:txBody>
      </p:sp>
    </p:spTree>
    <p:extLst>
      <p:ext uri="{BB962C8B-B14F-4D97-AF65-F5344CB8AC3E}">
        <p14:creationId xmlns:p14="http://schemas.microsoft.com/office/powerpoint/2010/main" val="9102350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goal of contrastive pretraining. Let’s use the famous model, CLIP, as an example.</a:t>
            </a:r>
          </a:p>
          <a:p>
            <a:endParaRPr lang="en-US" dirty="0"/>
          </a:p>
          <a:p>
            <a:r>
              <a:rPr lang="en-US" dirty="0"/>
              <a:t>Let’s say we have an image and a corresponding description of that image. </a:t>
            </a:r>
          </a:p>
        </p:txBody>
      </p:sp>
      <p:sp>
        <p:nvSpPr>
          <p:cNvPr id="4" name="Slide Number Placeholder 3"/>
          <p:cNvSpPr>
            <a:spLocks noGrp="1"/>
          </p:cNvSpPr>
          <p:nvPr>
            <p:ph type="sldNum" sz="quarter" idx="5"/>
          </p:nvPr>
        </p:nvSpPr>
        <p:spPr/>
        <p:txBody>
          <a:bodyPr/>
          <a:lstStyle/>
          <a:p>
            <a:fld id="{A93AD357-0C40-4436-9D38-C47D60C1C9C1}" type="slidenum">
              <a:rPr lang="en-US" smtClean="0"/>
              <a:pPr/>
              <a:t>27</a:t>
            </a:fld>
            <a:endParaRPr lang="en-US"/>
          </a:p>
        </p:txBody>
      </p:sp>
    </p:spTree>
    <p:extLst>
      <p:ext uri="{BB962C8B-B14F-4D97-AF65-F5344CB8AC3E}">
        <p14:creationId xmlns:p14="http://schemas.microsoft.com/office/powerpoint/2010/main" val="37223678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we create a model such that it produces the same vector embedding for both the text and the image?</a:t>
            </a:r>
          </a:p>
        </p:txBody>
      </p:sp>
      <p:sp>
        <p:nvSpPr>
          <p:cNvPr id="4" name="Slide Number Placeholder 3"/>
          <p:cNvSpPr>
            <a:spLocks noGrp="1"/>
          </p:cNvSpPr>
          <p:nvPr>
            <p:ph type="sldNum" sz="quarter" idx="5"/>
          </p:nvPr>
        </p:nvSpPr>
        <p:spPr/>
        <p:txBody>
          <a:bodyPr/>
          <a:lstStyle/>
          <a:p>
            <a:fld id="{A93AD357-0C40-4436-9D38-C47D60C1C9C1}" type="slidenum">
              <a:rPr lang="en-US" smtClean="0"/>
              <a:pPr/>
              <a:t>28</a:t>
            </a:fld>
            <a:endParaRPr lang="en-US"/>
          </a:p>
        </p:txBody>
      </p:sp>
    </p:spTree>
    <p:extLst>
      <p:ext uri="{BB962C8B-B14F-4D97-AF65-F5344CB8AC3E}">
        <p14:creationId xmlns:p14="http://schemas.microsoft.com/office/powerpoint/2010/main" val="11101564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why this would be useful, let’s say this model gives our image an embedding of 0, 1. And, it gives the text an embedding of 1, 1.</a:t>
            </a:r>
          </a:p>
        </p:txBody>
      </p:sp>
      <p:sp>
        <p:nvSpPr>
          <p:cNvPr id="4" name="Slide Number Placeholder 3"/>
          <p:cNvSpPr>
            <a:spLocks noGrp="1"/>
          </p:cNvSpPr>
          <p:nvPr>
            <p:ph type="sldNum" sz="quarter" idx="5"/>
          </p:nvPr>
        </p:nvSpPr>
        <p:spPr/>
        <p:txBody>
          <a:bodyPr/>
          <a:lstStyle/>
          <a:p>
            <a:fld id="{A93AD357-0C40-4436-9D38-C47D60C1C9C1}" type="slidenum">
              <a:rPr lang="en-US" smtClean="0"/>
              <a:pPr/>
              <a:t>29</a:t>
            </a:fld>
            <a:endParaRPr lang="en-US"/>
          </a:p>
        </p:txBody>
      </p:sp>
    </p:spTree>
    <p:extLst>
      <p:ext uri="{BB962C8B-B14F-4D97-AF65-F5344CB8AC3E}">
        <p14:creationId xmlns:p14="http://schemas.microsoft.com/office/powerpoint/2010/main" val="13873665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check if the image is aligned with the text by using the cosine similarity. We can plot the vectors…</a:t>
            </a:r>
          </a:p>
        </p:txBody>
      </p:sp>
      <p:sp>
        <p:nvSpPr>
          <p:cNvPr id="4" name="Slide Number Placeholder 3"/>
          <p:cNvSpPr>
            <a:spLocks noGrp="1"/>
          </p:cNvSpPr>
          <p:nvPr>
            <p:ph type="sldNum" sz="quarter" idx="5"/>
          </p:nvPr>
        </p:nvSpPr>
        <p:spPr/>
        <p:txBody>
          <a:bodyPr/>
          <a:lstStyle/>
          <a:p>
            <a:fld id="{A93AD357-0C40-4436-9D38-C47D60C1C9C1}" type="slidenum">
              <a:rPr lang="en-US" smtClean="0"/>
              <a:pPr/>
              <a:t>30</a:t>
            </a:fld>
            <a:endParaRPr lang="en-US"/>
          </a:p>
        </p:txBody>
      </p:sp>
    </p:spTree>
    <p:extLst>
      <p:ext uri="{BB962C8B-B14F-4D97-AF65-F5344CB8AC3E}">
        <p14:creationId xmlns:p14="http://schemas.microsoft.com/office/powerpoint/2010/main" val="24315775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angle between them, and use the cosine of the angle to see how well these vectors align. </a:t>
            </a:r>
          </a:p>
        </p:txBody>
      </p:sp>
      <p:sp>
        <p:nvSpPr>
          <p:cNvPr id="4" name="Slide Number Placeholder 3"/>
          <p:cNvSpPr>
            <a:spLocks noGrp="1"/>
          </p:cNvSpPr>
          <p:nvPr>
            <p:ph type="sldNum" sz="quarter" idx="5"/>
          </p:nvPr>
        </p:nvSpPr>
        <p:spPr/>
        <p:txBody>
          <a:bodyPr/>
          <a:lstStyle/>
          <a:p>
            <a:fld id="{A93AD357-0C40-4436-9D38-C47D60C1C9C1}" type="slidenum">
              <a:rPr lang="en-US" smtClean="0"/>
              <a:pPr/>
              <a:t>31</a:t>
            </a:fld>
            <a:endParaRPr lang="en-US"/>
          </a:p>
        </p:txBody>
      </p:sp>
    </p:spTree>
    <p:extLst>
      <p:ext uri="{BB962C8B-B14F-4D97-AF65-F5344CB8AC3E}">
        <p14:creationId xmlns:p14="http://schemas.microsoft.com/office/powerpoint/2010/main" val="35183546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Cosine of 0 is 1. That’s perfect! When the vectors are completely aligned, we get a value of 1. On the other hand, Cosign of 180 degrees is -1. This is also fine, we have an easy way to tell if vectors are opposites. Relatedly, cosine of 90 and 270 degrees is 0. The 0 here can be deceptive. It means there is no relationship, which is not the same as an opposite relationship.</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great and all, but how are we going to calculate the angle between the vectors? Without a trusty protractor, we’d have to draw some extra lines and use SOHCAHTOA… that’s kind of a mess. There’s an easier way with the computer.</a:t>
            </a:r>
          </a:p>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32</a:t>
            </a:fld>
            <a:endParaRPr lang="en-US"/>
          </a:p>
        </p:txBody>
      </p:sp>
    </p:spTree>
    <p:extLst>
      <p:ext uri="{BB962C8B-B14F-4D97-AF65-F5344CB8AC3E}">
        <p14:creationId xmlns:p14="http://schemas.microsoft.com/office/powerpoint/2010/main" val="22892491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we’re going to snap each vector to the unit circle. The vertical vector already has a length of 1, so we don’t have to do anything. For the other vector, we divide each component (in this case x and y), by the length or magnitude of the vector. We can use the good ole Pythagorean theorem to get the length. Thankfully, most matrix libraries like NumPy and </a:t>
            </a:r>
            <a:r>
              <a:rPr lang="en-US" dirty="0" err="1"/>
              <a:t>PyTorch</a:t>
            </a:r>
            <a:r>
              <a:rPr lang="en-US" dirty="0"/>
              <a:t> have this function built-in.</a:t>
            </a:r>
          </a:p>
        </p:txBody>
      </p:sp>
      <p:sp>
        <p:nvSpPr>
          <p:cNvPr id="4" name="Slide Number Placeholder 3"/>
          <p:cNvSpPr>
            <a:spLocks noGrp="1"/>
          </p:cNvSpPr>
          <p:nvPr>
            <p:ph type="sldNum" sz="quarter" idx="5"/>
          </p:nvPr>
        </p:nvSpPr>
        <p:spPr/>
        <p:txBody>
          <a:bodyPr/>
          <a:lstStyle/>
          <a:p>
            <a:fld id="{A93AD357-0C40-4436-9D38-C47D60C1C9C1}" type="slidenum">
              <a:rPr lang="en-US" smtClean="0"/>
              <a:pPr/>
              <a:t>33</a:t>
            </a:fld>
            <a:endParaRPr lang="en-US"/>
          </a:p>
        </p:txBody>
      </p:sp>
    </p:spTree>
    <p:extLst>
      <p:ext uri="{BB962C8B-B14F-4D97-AF65-F5344CB8AC3E}">
        <p14:creationId xmlns:p14="http://schemas.microsoft.com/office/powerpoint/2010/main" val="24691954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Nice, everything is aligned. </a:t>
            </a:r>
          </a:p>
        </p:txBody>
      </p:sp>
      <p:sp>
        <p:nvSpPr>
          <p:cNvPr id="4" name="Slide Number Placeholder 3"/>
          <p:cNvSpPr>
            <a:spLocks noGrp="1"/>
          </p:cNvSpPr>
          <p:nvPr>
            <p:ph type="sldNum" sz="quarter" idx="5"/>
          </p:nvPr>
        </p:nvSpPr>
        <p:spPr/>
        <p:txBody>
          <a:bodyPr/>
          <a:lstStyle/>
          <a:p>
            <a:fld id="{A93AD357-0C40-4436-9D38-C47D60C1C9C1}" type="slidenum">
              <a:rPr lang="en-US" smtClean="0"/>
              <a:pPr/>
              <a:t>34</a:t>
            </a:fld>
            <a:endParaRPr lang="en-US"/>
          </a:p>
        </p:txBody>
      </p:sp>
    </p:spTree>
    <p:extLst>
      <p:ext uri="{BB962C8B-B14F-4D97-AF65-F5344CB8AC3E}">
        <p14:creationId xmlns:p14="http://schemas.microsoft.com/office/powerpoint/2010/main" val="30737088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call the vertical line A and the other B.</a:t>
            </a:r>
          </a:p>
        </p:txBody>
      </p:sp>
      <p:sp>
        <p:nvSpPr>
          <p:cNvPr id="4" name="Slide Number Placeholder 3"/>
          <p:cNvSpPr>
            <a:spLocks noGrp="1"/>
          </p:cNvSpPr>
          <p:nvPr>
            <p:ph type="sldNum" sz="quarter" idx="5"/>
          </p:nvPr>
        </p:nvSpPr>
        <p:spPr/>
        <p:txBody>
          <a:bodyPr/>
          <a:lstStyle/>
          <a:p>
            <a:fld id="{A93AD357-0C40-4436-9D38-C47D60C1C9C1}" type="slidenum">
              <a:rPr lang="en-US" smtClean="0"/>
              <a:pPr/>
              <a:t>35</a:t>
            </a:fld>
            <a:endParaRPr lang="en-US"/>
          </a:p>
        </p:txBody>
      </p:sp>
    </p:spTree>
    <p:extLst>
      <p:ext uri="{BB962C8B-B14F-4D97-AF65-F5344CB8AC3E}">
        <p14:creationId xmlns:p14="http://schemas.microsoft.com/office/powerpoint/2010/main" val="23927860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multiply both of the x values together and both of the y values together…</a:t>
            </a:r>
          </a:p>
        </p:txBody>
      </p:sp>
      <p:sp>
        <p:nvSpPr>
          <p:cNvPr id="4" name="Slide Number Placeholder 3"/>
          <p:cNvSpPr>
            <a:spLocks noGrp="1"/>
          </p:cNvSpPr>
          <p:nvPr>
            <p:ph type="sldNum" sz="quarter" idx="5"/>
          </p:nvPr>
        </p:nvSpPr>
        <p:spPr/>
        <p:txBody>
          <a:bodyPr/>
          <a:lstStyle/>
          <a:p>
            <a:fld id="{A93AD357-0C40-4436-9D38-C47D60C1C9C1}" type="slidenum">
              <a:rPr lang="en-US" smtClean="0"/>
              <a:pPr/>
              <a:t>36</a:t>
            </a:fld>
            <a:endParaRPr lang="en-US"/>
          </a:p>
        </p:txBody>
      </p:sp>
    </p:spTree>
    <p:extLst>
      <p:ext uri="{BB962C8B-B14F-4D97-AF65-F5344CB8AC3E}">
        <p14:creationId xmlns:p14="http://schemas.microsoft.com/office/powerpoint/2010/main" val="335978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them up, and what do we get? </a:t>
            </a:r>
          </a:p>
        </p:txBody>
      </p:sp>
      <p:sp>
        <p:nvSpPr>
          <p:cNvPr id="4" name="Slide Number Placeholder 3"/>
          <p:cNvSpPr>
            <a:spLocks noGrp="1"/>
          </p:cNvSpPr>
          <p:nvPr>
            <p:ph type="sldNum" sz="quarter" idx="5"/>
          </p:nvPr>
        </p:nvSpPr>
        <p:spPr/>
        <p:txBody>
          <a:bodyPr/>
          <a:lstStyle/>
          <a:p>
            <a:fld id="{A93AD357-0C40-4436-9D38-C47D60C1C9C1}" type="slidenum">
              <a:rPr lang="en-US" smtClean="0"/>
              <a:pPr/>
              <a:t>37</a:t>
            </a:fld>
            <a:endParaRPr lang="en-US"/>
          </a:p>
        </p:txBody>
      </p:sp>
    </p:spTree>
    <p:extLst>
      <p:ext uri="{BB962C8B-B14F-4D97-AF65-F5344CB8AC3E}">
        <p14:creationId xmlns:p14="http://schemas.microsoft.com/office/powerpoint/2010/main" val="26247145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root of two over two. </a:t>
            </a:r>
          </a:p>
        </p:txBody>
      </p:sp>
      <p:sp>
        <p:nvSpPr>
          <p:cNvPr id="4" name="Slide Number Placeholder 3"/>
          <p:cNvSpPr>
            <a:spLocks noGrp="1"/>
          </p:cNvSpPr>
          <p:nvPr>
            <p:ph type="sldNum" sz="quarter" idx="5"/>
          </p:nvPr>
        </p:nvSpPr>
        <p:spPr/>
        <p:txBody>
          <a:bodyPr/>
          <a:lstStyle/>
          <a:p>
            <a:fld id="{A93AD357-0C40-4436-9D38-C47D60C1C9C1}" type="slidenum">
              <a:rPr lang="en-US" smtClean="0"/>
              <a:pPr/>
              <a:t>38</a:t>
            </a:fld>
            <a:endParaRPr lang="en-US"/>
          </a:p>
        </p:txBody>
      </p:sp>
    </p:spTree>
    <p:extLst>
      <p:ext uri="{BB962C8B-B14F-4D97-AF65-F5344CB8AC3E}">
        <p14:creationId xmlns:p14="http://schemas.microsoft.com/office/powerpoint/2010/main" val="2614206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as cosine of 45 degrees. </a:t>
            </a:r>
            <a:r>
              <a:rPr lang="en-US" dirty="0" err="1"/>
              <a:t>Mathemagical</a:t>
            </a:r>
            <a:r>
              <a:rPr lang="en-US" dirty="0"/>
              <a:t>!</a:t>
            </a:r>
          </a:p>
        </p:txBody>
      </p:sp>
      <p:sp>
        <p:nvSpPr>
          <p:cNvPr id="4" name="Slide Number Placeholder 3"/>
          <p:cNvSpPr>
            <a:spLocks noGrp="1"/>
          </p:cNvSpPr>
          <p:nvPr>
            <p:ph type="sldNum" sz="quarter" idx="5"/>
          </p:nvPr>
        </p:nvSpPr>
        <p:spPr/>
        <p:txBody>
          <a:bodyPr/>
          <a:lstStyle/>
          <a:p>
            <a:fld id="{A93AD357-0C40-4436-9D38-C47D60C1C9C1}" type="slidenum">
              <a:rPr lang="en-US" smtClean="0"/>
              <a:pPr/>
              <a:t>39</a:t>
            </a:fld>
            <a:endParaRPr lang="en-US"/>
          </a:p>
        </p:txBody>
      </p:sp>
    </p:spTree>
    <p:extLst>
      <p:ext uri="{BB962C8B-B14F-4D97-AF65-F5344CB8AC3E}">
        <p14:creationId xmlns:p14="http://schemas.microsoft.com/office/powerpoint/2010/main" val="24198140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uses the cosine similarity to train its neural network. Let’s say we have a batch of images with descriptions. During CLIP’s training, it will calculate the cosine similarity for each combination of image and text in the batch.</a:t>
            </a:r>
          </a:p>
        </p:txBody>
      </p:sp>
      <p:sp>
        <p:nvSpPr>
          <p:cNvPr id="4" name="Slide Number Placeholder 3"/>
          <p:cNvSpPr>
            <a:spLocks noGrp="1"/>
          </p:cNvSpPr>
          <p:nvPr>
            <p:ph type="sldNum" sz="quarter" idx="5"/>
          </p:nvPr>
        </p:nvSpPr>
        <p:spPr/>
        <p:txBody>
          <a:bodyPr/>
          <a:lstStyle/>
          <a:p>
            <a:fld id="{A93AD357-0C40-4436-9D38-C47D60C1C9C1}" type="slidenum">
              <a:rPr lang="en-US" smtClean="0"/>
              <a:pPr/>
              <a:t>40</a:t>
            </a:fld>
            <a:endParaRPr lang="en-US"/>
          </a:p>
        </p:txBody>
      </p:sp>
    </p:spTree>
    <p:extLst>
      <p:ext uri="{BB962C8B-B14F-4D97-AF65-F5344CB8AC3E}">
        <p14:creationId xmlns:p14="http://schemas.microsoft.com/office/powerpoint/2010/main" val="15429391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diagonal is the “correct” answer, so the loss function uses cross entropy to maximize the values along the diagonal. Everything else is the “wrong” answer, so the loss function will minimize those.</a:t>
            </a:r>
          </a:p>
        </p:txBody>
      </p:sp>
      <p:sp>
        <p:nvSpPr>
          <p:cNvPr id="4" name="Slide Number Placeholder 3"/>
          <p:cNvSpPr>
            <a:spLocks noGrp="1"/>
          </p:cNvSpPr>
          <p:nvPr>
            <p:ph type="sldNum" sz="quarter" idx="5"/>
          </p:nvPr>
        </p:nvSpPr>
        <p:spPr/>
        <p:txBody>
          <a:bodyPr/>
          <a:lstStyle/>
          <a:p>
            <a:fld id="{A93AD357-0C40-4436-9D38-C47D60C1C9C1}" type="slidenum">
              <a:rPr lang="en-US" smtClean="0"/>
              <a:pPr/>
              <a:t>41</a:t>
            </a:fld>
            <a:endParaRPr lang="en-US"/>
          </a:p>
        </p:txBody>
      </p:sp>
    </p:spTree>
    <p:extLst>
      <p:ext uri="{BB962C8B-B14F-4D97-AF65-F5344CB8AC3E}">
        <p14:creationId xmlns:p14="http://schemas.microsoft.com/office/powerpoint/2010/main" val="11825871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only can we use a contrastive-pretraining model to swap one data type with another, it also allows us to quickly query information. Let’s see how.</a:t>
            </a:r>
          </a:p>
        </p:txBody>
      </p:sp>
      <p:sp>
        <p:nvSpPr>
          <p:cNvPr id="4" name="Slide Number Placeholder 3"/>
          <p:cNvSpPr>
            <a:spLocks noGrp="1"/>
          </p:cNvSpPr>
          <p:nvPr>
            <p:ph type="sldNum" sz="quarter" idx="5"/>
          </p:nvPr>
        </p:nvSpPr>
        <p:spPr/>
        <p:txBody>
          <a:bodyPr/>
          <a:lstStyle/>
          <a:p>
            <a:fld id="{A93AD357-0C40-4436-9D38-C47D60C1C9C1}" type="slidenum">
              <a:rPr lang="en-US" smtClean="0"/>
              <a:pPr/>
              <a:t>42</a:t>
            </a:fld>
            <a:endParaRPr lang="en-US"/>
          </a:p>
        </p:txBody>
      </p:sp>
    </p:spTree>
    <p:extLst>
      <p:ext uri="{BB962C8B-B14F-4D97-AF65-F5344CB8AC3E}">
        <p14:creationId xmlns:p14="http://schemas.microsoft.com/office/powerpoint/2010/main" val="31555602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5D2F-AD85-C119-B9C5-14765CFCB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42BD7-646B-7E30-3B0E-70DD9B791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2C469-FF4D-3CDB-B176-CD37C2029D8B}"/>
              </a:ext>
            </a:extLst>
          </p:cNvPr>
          <p:cNvSpPr>
            <a:spLocks noGrp="1"/>
          </p:cNvSpPr>
          <p:nvPr>
            <p:ph type="body" idx="1"/>
          </p:nvPr>
        </p:nvSpPr>
        <p:spPr/>
        <p:txBody>
          <a:bodyPr/>
          <a:lstStyle/>
          <a:p>
            <a:r>
              <a:rPr lang="en-US" dirty="0"/>
              <a:t>Let’s say we have a database of images. We can use CLIP or any other contrastive pretraining model to get a vector embedding of these images. If we store all those vectors in a database, we got ourselves a vector database.</a:t>
            </a:r>
          </a:p>
        </p:txBody>
      </p:sp>
      <p:sp>
        <p:nvSpPr>
          <p:cNvPr id="4" name="Slide Number Placeholder 3">
            <a:extLst>
              <a:ext uri="{FF2B5EF4-FFF2-40B4-BE49-F238E27FC236}">
                <a16:creationId xmlns:a16="http://schemas.microsoft.com/office/drawing/2014/main" id="{1FDEB14F-3935-5947-A805-AF6D8D826A55}"/>
              </a:ext>
            </a:extLst>
          </p:cNvPr>
          <p:cNvSpPr>
            <a:spLocks noGrp="1"/>
          </p:cNvSpPr>
          <p:nvPr>
            <p:ph type="sldNum" sz="quarter" idx="5"/>
          </p:nvPr>
        </p:nvSpPr>
        <p:spPr/>
        <p:txBody>
          <a:bodyPr/>
          <a:lstStyle/>
          <a:p>
            <a:fld id="{A93AD357-0C40-4436-9D38-C47D60C1C9C1}" type="slidenum">
              <a:rPr lang="en-US" smtClean="0"/>
              <a:pPr/>
              <a:t>43</a:t>
            </a:fld>
            <a:endParaRPr lang="en-US"/>
          </a:p>
        </p:txBody>
      </p:sp>
    </p:spTree>
    <p:extLst>
      <p:ext uri="{BB962C8B-B14F-4D97-AF65-F5344CB8AC3E}">
        <p14:creationId xmlns:p14="http://schemas.microsoft.com/office/powerpoint/2010/main" val="25349857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5A096-4763-156F-1488-674AD05C6E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4A2AB-90E9-9ACC-6060-459E58017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5EEDE-F0DF-C850-857A-4241DC5DED72}"/>
              </a:ext>
            </a:extLst>
          </p:cNvPr>
          <p:cNvSpPr>
            <a:spLocks noGrp="1"/>
          </p:cNvSpPr>
          <p:nvPr>
            <p:ph type="body" idx="1"/>
          </p:nvPr>
        </p:nvSpPr>
        <p:spPr/>
        <p:txBody>
          <a:bodyPr/>
          <a:lstStyle/>
          <a:p>
            <a:r>
              <a:rPr lang="en-US" dirty="0"/>
              <a:t>This way, when a user interacts with a chatbot such as an LLM system, the LLM system can retrieve information for the user based on a user’s query. The system can extract the relevant text from the query, and feed it through CLIP, resulting in another vector.</a:t>
            </a:r>
          </a:p>
        </p:txBody>
      </p:sp>
      <p:sp>
        <p:nvSpPr>
          <p:cNvPr id="4" name="Slide Number Placeholder 3">
            <a:extLst>
              <a:ext uri="{FF2B5EF4-FFF2-40B4-BE49-F238E27FC236}">
                <a16:creationId xmlns:a16="http://schemas.microsoft.com/office/drawing/2014/main" id="{025F5D8C-7913-4A87-1113-654416C040B8}"/>
              </a:ext>
            </a:extLst>
          </p:cNvPr>
          <p:cNvSpPr>
            <a:spLocks noGrp="1"/>
          </p:cNvSpPr>
          <p:nvPr>
            <p:ph type="sldNum" sz="quarter" idx="5"/>
          </p:nvPr>
        </p:nvSpPr>
        <p:spPr/>
        <p:txBody>
          <a:bodyPr/>
          <a:lstStyle/>
          <a:p>
            <a:fld id="{A93AD357-0C40-4436-9D38-C47D60C1C9C1}" type="slidenum">
              <a:rPr lang="en-US" smtClean="0"/>
              <a:pPr/>
              <a:t>44</a:t>
            </a:fld>
            <a:endParaRPr lang="en-US"/>
          </a:p>
        </p:txBody>
      </p:sp>
    </p:spTree>
    <p:extLst>
      <p:ext uri="{BB962C8B-B14F-4D97-AF65-F5344CB8AC3E}">
        <p14:creationId xmlns:p14="http://schemas.microsoft.com/office/powerpoint/2010/main" val="19204744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B0C96-B7DE-2612-63A6-8C76BF28A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C691B-7CEB-52EF-7E94-CB060529C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64017-7CBD-2AA8-BB41-8F11E29147AD}"/>
              </a:ext>
            </a:extLst>
          </p:cNvPr>
          <p:cNvSpPr>
            <a:spLocks noGrp="1"/>
          </p:cNvSpPr>
          <p:nvPr>
            <p:ph type="body" idx="1"/>
          </p:nvPr>
        </p:nvSpPr>
        <p:spPr/>
        <p:txBody>
          <a:bodyPr/>
          <a:lstStyle/>
          <a:p>
            <a:r>
              <a:rPr lang="en-US" dirty="0"/>
              <a:t>Then, we can take the cosine similarity between the user’s query and the images in our database.</a:t>
            </a:r>
          </a:p>
        </p:txBody>
      </p:sp>
      <p:sp>
        <p:nvSpPr>
          <p:cNvPr id="4" name="Slide Number Placeholder 3">
            <a:extLst>
              <a:ext uri="{FF2B5EF4-FFF2-40B4-BE49-F238E27FC236}">
                <a16:creationId xmlns:a16="http://schemas.microsoft.com/office/drawing/2014/main" id="{32572F72-D0E4-0EDC-57E2-A1B6EC5B7E06}"/>
              </a:ext>
            </a:extLst>
          </p:cNvPr>
          <p:cNvSpPr>
            <a:spLocks noGrp="1"/>
          </p:cNvSpPr>
          <p:nvPr>
            <p:ph type="sldNum" sz="quarter" idx="5"/>
          </p:nvPr>
        </p:nvSpPr>
        <p:spPr/>
        <p:txBody>
          <a:bodyPr/>
          <a:lstStyle/>
          <a:p>
            <a:fld id="{A93AD357-0C40-4436-9D38-C47D60C1C9C1}" type="slidenum">
              <a:rPr lang="en-US" smtClean="0"/>
              <a:pPr/>
              <a:t>45</a:t>
            </a:fld>
            <a:endParaRPr lang="en-US"/>
          </a:p>
        </p:txBody>
      </p:sp>
    </p:spTree>
    <p:extLst>
      <p:ext uri="{BB962C8B-B14F-4D97-AF65-F5344CB8AC3E}">
        <p14:creationId xmlns:p14="http://schemas.microsoft.com/office/powerpoint/2010/main" val="8611721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BCF05-C0B1-F856-6E0A-48B4DEF86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A22C2-9FE8-81F5-5856-4526BF4DB8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98BEFF-727E-4944-6402-AC0D864BA577}"/>
              </a:ext>
            </a:extLst>
          </p:cNvPr>
          <p:cNvSpPr>
            <a:spLocks noGrp="1"/>
          </p:cNvSpPr>
          <p:nvPr>
            <p:ph type="body" idx="1"/>
          </p:nvPr>
        </p:nvSpPr>
        <p:spPr/>
        <p:txBody>
          <a:bodyPr/>
          <a:lstStyle/>
          <a:p>
            <a:r>
              <a:rPr lang="en-US" dirty="0"/>
              <a:t>The image with the highest corresponding cosine similarity is considered the best match.</a:t>
            </a:r>
          </a:p>
        </p:txBody>
      </p:sp>
      <p:sp>
        <p:nvSpPr>
          <p:cNvPr id="4" name="Slide Number Placeholder 3">
            <a:extLst>
              <a:ext uri="{FF2B5EF4-FFF2-40B4-BE49-F238E27FC236}">
                <a16:creationId xmlns:a16="http://schemas.microsoft.com/office/drawing/2014/main" id="{C9A87014-C98D-7FEB-AFFC-05DA19A54E50}"/>
              </a:ext>
            </a:extLst>
          </p:cNvPr>
          <p:cNvSpPr>
            <a:spLocks noGrp="1"/>
          </p:cNvSpPr>
          <p:nvPr>
            <p:ph type="sldNum" sz="quarter" idx="5"/>
          </p:nvPr>
        </p:nvSpPr>
        <p:spPr/>
        <p:txBody>
          <a:bodyPr/>
          <a:lstStyle/>
          <a:p>
            <a:fld id="{A93AD357-0C40-4436-9D38-C47D60C1C9C1}" type="slidenum">
              <a:rPr lang="en-US" smtClean="0"/>
              <a:pPr/>
              <a:t>46</a:t>
            </a:fld>
            <a:endParaRPr lang="en-US"/>
          </a:p>
        </p:txBody>
      </p:sp>
    </p:spTree>
    <p:extLst>
      <p:ext uri="{BB962C8B-B14F-4D97-AF65-F5344CB8AC3E}">
        <p14:creationId xmlns:p14="http://schemas.microsoft.com/office/powerpoint/2010/main" val="11781617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D720A-51C4-8324-BC94-96ACE79EA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F4A7D-74AF-4861-6D62-2B2FFB33F1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56EE7D-BA99-0222-0D28-60C7F3488D31}"/>
              </a:ext>
            </a:extLst>
          </p:cNvPr>
          <p:cNvSpPr>
            <a:spLocks noGrp="1"/>
          </p:cNvSpPr>
          <p:nvPr>
            <p:ph type="body" idx="1"/>
          </p:nvPr>
        </p:nvSpPr>
        <p:spPr/>
        <p:txBody>
          <a:bodyPr/>
          <a:lstStyle/>
          <a:p>
            <a:r>
              <a:rPr lang="en-US" dirty="0"/>
              <a:t>Contrastive pretraining is not limited to between text and images. As long as there is a high enough correlation between the data, any two data types can be used for this kind of technique. So for the lab, let’s make a contrastive outline-image pretraining model. COIP isn’t as catchy sounding as CLIP, but such a model can still be useful. We’ll use it to make a database of clothing where users can search for the matching article by sketching an outline.</a:t>
            </a:r>
          </a:p>
        </p:txBody>
      </p:sp>
      <p:sp>
        <p:nvSpPr>
          <p:cNvPr id="4" name="Slide Number Placeholder 3">
            <a:extLst>
              <a:ext uri="{FF2B5EF4-FFF2-40B4-BE49-F238E27FC236}">
                <a16:creationId xmlns:a16="http://schemas.microsoft.com/office/drawing/2014/main" id="{B1161279-DA94-77FE-9E4B-5D670FFF38AC}"/>
              </a:ext>
            </a:extLst>
          </p:cNvPr>
          <p:cNvSpPr>
            <a:spLocks noGrp="1"/>
          </p:cNvSpPr>
          <p:nvPr>
            <p:ph type="sldNum" sz="quarter" idx="5"/>
          </p:nvPr>
        </p:nvSpPr>
        <p:spPr/>
        <p:txBody>
          <a:bodyPr/>
          <a:lstStyle/>
          <a:p>
            <a:fld id="{A93AD357-0C40-4436-9D38-C47D60C1C9C1}" type="slidenum">
              <a:rPr lang="en-US" smtClean="0"/>
              <a:pPr/>
              <a:t>47</a:t>
            </a:fld>
            <a:endParaRPr lang="en-US"/>
          </a:p>
        </p:txBody>
      </p:sp>
    </p:spTree>
    <p:extLst>
      <p:ext uri="{BB962C8B-B14F-4D97-AF65-F5344CB8AC3E}">
        <p14:creationId xmlns:p14="http://schemas.microsoft.com/office/powerpoint/2010/main" val="26036630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C106A-1A8C-9E0F-FDD1-FE2F2BBC6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CCBE4-1271-513F-5FB5-A67B91BCF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4E48C-8EF7-B9F1-06E5-0BFE439399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Itching to get coding? Let’s get started!</a:t>
            </a:r>
          </a:p>
        </p:txBody>
      </p:sp>
      <p:sp>
        <p:nvSpPr>
          <p:cNvPr id="4" name="Slide Number Placeholder 3">
            <a:extLst>
              <a:ext uri="{FF2B5EF4-FFF2-40B4-BE49-F238E27FC236}">
                <a16:creationId xmlns:a16="http://schemas.microsoft.com/office/drawing/2014/main" id="{1A9F0AC2-4877-3CE9-9801-4FF3BD2A3A78}"/>
              </a:ext>
            </a:extLst>
          </p:cNvPr>
          <p:cNvSpPr>
            <a:spLocks noGrp="1"/>
          </p:cNvSpPr>
          <p:nvPr>
            <p:ph type="sldNum" sz="quarter" idx="5"/>
          </p:nvPr>
        </p:nvSpPr>
        <p:spPr/>
        <p:txBody>
          <a:bodyPr/>
          <a:lstStyle/>
          <a:p>
            <a:fld id="{A93AD357-0C40-4436-9D38-C47D60C1C9C1}" type="slidenum">
              <a:rPr lang="en-US" smtClean="0"/>
              <a:pPr/>
              <a:t>48</a:t>
            </a:fld>
            <a:endParaRPr lang="en-US"/>
          </a:p>
        </p:txBody>
      </p:sp>
    </p:spTree>
    <p:extLst>
      <p:ext uri="{BB962C8B-B14F-4D97-AF65-F5344CB8AC3E}">
        <p14:creationId xmlns:p14="http://schemas.microsoft.com/office/powerpoint/2010/main" val="32194701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49</a:t>
            </a:fld>
            <a:endParaRPr lang="en-US"/>
          </a:p>
        </p:txBody>
      </p:sp>
    </p:spTree>
    <p:extLst>
      <p:ext uri="{BB962C8B-B14F-4D97-AF65-F5344CB8AC3E}">
        <p14:creationId xmlns:p14="http://schemas.microsoft.com/office/powerpoint/2010/main" val="36390308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Add Subtitle/Name/Date</a:t>
            </a:r>
          </a:p>
        </p:txBody>
      </p:sp>
    </p:spTree>
    <p:extLst>
      <p:ext uri="{BB962C8B-B14F-4D97-AF65-F5344CB8AC3E}">
        <p14:creationId xmlns:p14="http://schemas.microsoft.com/office/powerpoint/2010/main" val="1478713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7990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Tree>
    <p:extLst>
      <p:ext uri="{BB962C8B-B14F-4D97-AF65-F5344CB8AC3E}">
        <p14:creationId xmlns:p14="http://schemas.microsoft.com/office/powerpoint/2010/main" val="1039441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53729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84427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8003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9413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690247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58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98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776656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7232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397368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930681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4282953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8561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801177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068062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135586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714430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237050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590059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95906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18591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322413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a:t>
            </a:r>
          </a:p>
        </p:txBody>
      </p:sp>
    </p:spTree>
    <p:extLst>
      <p:ext uri="{BB962C8B-B14F-4D97-AF65-F5344CB8AC3E}">
        <p14:creationId xmlns:p14="http://schemas.microsoft.com/office/powerpoint/2010/main" val="1130100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 of video/demo</a:t>
            </a:r>
          </a:p>
        </p:txBody>
      </p:sp>
    </p:spTree>
    <p:extLst>
      <p:ext uri="{BB962C8B-B14F-4D97-AF65-F5344CB8AC3E}">
        <p14:creationId xmlns:p14="http://schemas.microsoft.com/office/powerpoint/2010/main" val="3390819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a:t>Click to add video</a:t>
            </a:r>
          </a:p>
        </p:txBody>
      </p:sp>
    </p:spTree>
    <p:extLst>
      <p:ext uri="{BB962C8B-B14F-4D97-AF65-F5344CB8AC3E}">
        <p14:creationId xmlns:p14="http://schemas.microsoft.com/office/powerpoint/2010/main" val="2602793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660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47985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Tree>
    <p:extLst>
      <p:ext uri="{BB962C8B-B14F-4D97-AF65-F5344CB8AC3E}">
        <p14:creationId xmlns:p14="http://schemas.microsoft.com/office/powerpoint/2010/main" val="589048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500587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553221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514405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577155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2">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83240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22" r:id="rId3"/>
    <p:sldLayoutId id="2147483718" r:id="rId4"/>
    <p:sldLayoutId id="2147483681" r:id="rId5"/>
    <p:sldLayoutId id="2147483680" r:id="rId6"/>
    <p:sldLayoutId id="2147483682" r:id="rId7"/>
    <p:sldLayoutId id="2147483683" r:id="rId8"/>
    <p:sldLayoutId id="2147483705" r:id="rId9"/>
    <p:sldLayoutId id="2147483685" r:id="rId10"/>
    <p:sldLayoutId id="2147483686" r:id="rId11"/>
    <p:sldLayoutId id="2147483687" r:id="rId12"/>
    <p:sldLayoutId id="2147483691" r:id="rId13"/>
    <p:sldLayoutId id="2147483688" r:id="rId14"/>
    <p:sldLayoutId id="2147483690" r:id="rId15"/>
    <p:sldLayoutId id="2147483689" r:id="rId16"/>
    <p:sldLayoutId id="2147483692" r:id="rId17"/>
    <p:sldLayoutId id="2147483693" r:id="rId18"/>
    <p:sldLayoutId id="2147483709" r:id="rId19"/>
    <p:sldLayoutId id="2147483723"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695" r:id="rId29"/>
    <p:sldLayoutId id="2147483721" r:id="rId30"/>
    <p:sldLayoutId id="2147483694" r:id="rId31"/>
    <p:sldLayoutId id="2147483719" r:id="rId32"/>
    <p:sldLayoutId id="2147483724" r:id="rId33"/>
    <p:sldLayoutId id="2147483720" r:id="rId34"/>
    <p:sldLayoutId id="2147483672" r:id="rId35"/>
    <p:sldLayoutId id="2147483708" r:id="rId36"/>
    <p:sldLayoutId id="2147483725" r:id="rId37"/>
    <p:sldLayoutId id="2147483679" r:id="rId38"/>
    <p:sldLayoutId id="2147483676" r:id="rId39"/>
    <p:sldLayoutId id="2147483684" r:id="rId40"/>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3" Type="http://schemas.openxmlformats.org/officeDocument/2006/relationships/image" Target="../media/image11.png"/><Relationship Id="rId7" Type="http://schemas.openxmlformats.org/officeDocument/2006/relationships/image" Target="../media/image15.svg"/><Relationship Id="rId12"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22.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4.png"/><Relationship Id="rId10" Type="http://schemas.openxmlformats.org/officeDocument/2006/relationships/image" Target="../media/image17.svg"/><Relationship Id="rId4" Type="http://schemas.openxmlformats.org/officeDocument/2006/relationships/image" Target="../media/image23.svg"/><Relationship Id="rId9" Type="http://schemas.openxmlformats.org/officeDocument/2006/relationships/image" Target="../media/image16.png"/><Relationship Id="rId14" Type="http://schemas.openxmlformats.org/officeDocument/2006/relationships/image" Target="../media/image21.svg"/></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22.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5.png"/><Relationship Id="rId10" Type="http://schemas.openxmlformats.org/officeDocument/2006/relationships/image" Target="../media/image17.svg"/><Relationship Id="rId4" Type="http://schemas.openxmlformats.org/officeDocument/2006/relationships/image" Target="../media/image23.svg"/><Relationship Id="rId9" Type="http://schemas.openxmlformats.org/officeDocument/2006/relationships/image" Target="../media/image16.png"/><Relationship Id="rId14" Type="http://schemas.openxmlformats.org/officeDocument/2006/relationships/image" Target="../media/image21.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8" Type="http://schemas.openxmlformats.org/officeDocument/2006/relationships/hyperlink" Target="https://www.worldcat.org/issn/2002-4436" TargetMode="External"/><Relationship Id="rId3" Type="http://schemas.openxmlformats.org/officeDocument/2006/relationships/image" Target="../media/image26.png"/><Relationship Id="rId7" Type="http://schemas.openxmlformats.org/officeDocument/2006/relationships/hyperlink" Target="https://en.wikipedia.org/wiki/ISS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doi.org/10.15347/wjm/2014.010" TargetMode="External"/><Relationship Id="rId5" Type="http://schemas.openxmlformats.org/officeDocument/2006/relationships/hyperlink" Target="https://en.wikipedia.org/wiki/Digital_object_identifier" TargetMode="External"/><Relationship Id="rId4" Type="http://schemas.openxmlformats.org/officeDocument/2006/relationships/hyperlink" Target="https://en.wikiversity.org/wiki/WikiJournal_of_Medicine/Medical_gallery_of_Blausen_Medical_2014"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22.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5.png"/><Relationship Id="rId10" Type="http://schemas.openxmlformats.org/officeDocument/2006/relationships/image" Target="../media/image17.svg"/><Relationship Id="rId4" Type="http://schemas.openxmlformats.org/officeDocument/2006/relationships/image" Target="../media/image23.svg"/><Relationship Id="rId9" Type="http://schemas.openxmlformats.org/officeDocument/2006/relationships/image" Target="../media/image16.png"/><Relationship Id="rId14" Type="http://schemas.openxmlformats.org/officeDocument/2006/relationships/image" Target="../media/image21.svg"/></Relationships>
</file>

<file path=ppt/slides/_rels/slide1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22.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5.png"/><Relationship Id="rId10" Type="http://schemas.openxmlformats.org/officeDocument/2006/relationships/image" Target="../media/image17.svg"/><Relationship Id="rId4" Type="http://schemas.openxmlformats.org/officeDocument/2006/relationships/image" Target="../media/image23.svg"/><Relationship Id="rId9" Type="http://schemas.openxmlformats.org/officeDocument/2006/relationships/image" Target="../media/image16.png"/><Relationship Id="rId14" Type="http://schemas.openxmlformats.org/officeDocument/2006/relationships/image" Target="../media/image21.svg"/></Relationships>
</file>

<file path=ppt/slides/_rels/slide1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NULL"/><Relationship Id="rId2" Type="http://schemas.openxmlformats.org/officeDocument/2006/relationships/notesSlide" Target="../notesSlides/notesSlide31.xml"/><Relationship Id="rId1" Type="http://schemas.openxmlformats.org/officeDocument/2006/relationships/slideLayout" Target="../slideLayouts/slideLayout18.xml"/><Relationship Id="rId6" Type="http://schemas.openxmlformats.org/officeDocument/2006/relationships/image" Target="NULL"/></Relationships>
</file>

<file path=ppt/slides/_rels/slide3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42.png"/><Relationship Id="rId7" Type="http://schemas.openxmlformats.org/officeDocument/2006/relationships/image" Target="NULL"/><Relationship Id="rId2" Type="http://schemas.openxmlformats.org/officeDocument/2006/relationships/notesSlide" Target="../notesSlides/notesSlide32.xml"/><Relationship Id="rId1" Type="http://schemas.openxmlformats.org/officeDocument/2006/relationships/slideLayout" Target="../slideLayouts/slideLayout18.xml"/><Relationship Id="rId6" Type="http://schemas.openxmlformats.org/officeDocument/2006/relationships/image" Target="NULL"/><Relationship Id="rId11" Type="http://schemas.openxmlformats.org/officeDocument/2006/relationships/image" Target="NULL"/><Relationship Id="rId10" Type="http://schemas.openxmlformats.org/officeDocument/2006/relationships/image" Target="NULL"/><Relationship Id="rId9" Type="http://schemas.openxmlformats.org/officeDocument/2006/relationships/image" Target="NUL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 Id="rId6" Type="http://schemas.openxmlformats.org/officeDocument/2006/relationships/image" Target="../media/image42.png"/><Relationship Id="rId5" Type="http://schemas.openxmlformats.org/officeDocument/2006/relationships/image" Target="NUL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 Id="rId6" Type="http://schemas.openxmlformats.org/officeDocument/2006/relationships/image" Target="../media/image42.png"/><Relationship Id="rId5" Type="http://schemas.openxmlformats.org/officeDocument/2006/relationships/image" Target="NULL"/></Relationships>
</file>

<file path=ppt/slides/_rels/slide36.xml.rels><?xml version="1.0" encoding="UTF-8" standalone="yes"?>
<Relationships xmlns="http://schemas.openxmlformats.org/package/2006/relationships"><Relationship Id="rId7"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18.xml"/><Relationship Id="rId6" Type="http://schemas.openxmlformats.org/officeDocument/2006/relationships/image" Target="NULL"/><Relationship Id="rId5" Type="http://schemas.openxmlformats.org/officeDocument/2006/relationships/image" Target="NULL"/></Relationships>
</file>

<file path=ppt/slides/_rels/slide37.xml.rels><?xml version="1.0" encoding="UTF-8" standalone="yes"?>
<Relationships xmlns="http://schemas.openxmlformats.org/package/2006/relationships"><Relationship Id="rId7"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18.xml"/><Relationship Id="rId6" Type="http://schemas.openxmlformats.org/officeDocument/2006/relationships/image" Target="NULL"/><Relationship Id="rId5" Type="http://schemas.openxmlformats.org/officeDocument/2006/relationships/image" Target="NULL"/></Relationships>
</file>

<file path=ppt/slides/_rels/slide38.xml.rels><?xml version="1.0" encoding="UTF-8" standalone="yes"?>
<Relationships xmlns="http://schemas.openxmlformats.org/package/2006/relationships"><Relationship Id="rId8" Type="http://schemas.openxmlformats.org/officeDocument/2006/relationships/image" Target="../media/image42.png"/><Relationship Id="rId7" Type="http://schemas.openxmlformats.org/officeDocument/2006/relationships/image" Target="NULL"/><Relationship Id="rId2" Type="http://schemas.openxmlformats.org/officeDocument/2006/relationships/notesSlide" Target="../notesSlides/notesSlide38.xml"/><Relationship Id="rId1" Type="http://schemas.openxmlformats.org/officeDocument/2006/relationships/slideLayout" Target="../slideLayouts/slideLayout18.xml"/><Relationship Id="rId6" Type="http://schemas.openxmlformats.org/officeDocument/2006/relationships/image" Target="NULL"/><Relationship Id="rId5" Type="http://schemas.openxmlformats.org/officeDocument/2006/relationships/image" Target="NULL"/></Relationships>
</file>

<file path=ppt/slides/_rels/slide39.xml.rels><?xml version="1.0" encoding="UTF-8" standalone="yes"?>
<Relationships xmlns="http://schemas.openxmlformats.org/package/2006/relationships"><Relationship Id="rId8"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39.xml"/><Relationship Id="rId1" Type="http://schemas.openxmlformats.org/officeDocument/2006/relationships/slideLayout" Target="../slideLayouts/slideLayout18.xml"/><Relationship Id="rId6" Type="http://schemas.openxmlformats.org/officeDocument/2006/relationships/image" Target="NULL"/><Relationship Id="rId5" Type="http://schemas.openxmlformats.org/officeDocument/2006/relationships/image" Target="NULL"/><Relationship Id="rId9"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8.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18.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3.png"/><Relationship Id="rId2" Type="http://schemas.openxmlformats.org/officeDocument/2006/relationships/notesSlide" Target="../notesSlides/notesSlide44.xml"/><Relationship Id="rId1" Type="http://schemas.openxmlformats.org/officeDocument/2006/relationships/slideLayout" Target="../slideLayouts/slideLayout18.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7.xml"/><Relationship Id="rId1" Type="http://schemas.openxmlformats.org/officeDocument/2006/relationships/slideLayout" Target="../slideLayouts/slideLayout18.xml"/><Relationship Id="rId4" Type="http://schemas.openxmlformats.org/officeDocument/2006/relationships/image" Target="../media/image5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6C5838-5B15-4295-A6AB-336C44034843}"/>
              </a:ext>
            </a:extLst>
          </p:cNvPr>
          <p:cNvSpPr>
            <a:spLocks noGrp="1"/>
          </p:cNvSpPr>
          <p:nvPr>
            <p:ph type="ctrTitle"/>
          </p:nvPr>
        </p:nvSpPr>
        <p:spPr>
          <a:xfrm>
            <a:off x="1513012" y="2983577"/>
            <a:ext cx="19282214" cy="4937760"/>
          </a:xfrm>
        </p:spPr>
        <p:txBody>
          <a:bodyPr/>
          <a:lstStyle/>
          <a:p>
            <a:r>
              <a:rPr lang="en-US" dirty="0"/>
              <a:t>Building AI Agents with</a:t>
            </a:r>
            <a:br>
              <a:rPr lang="en-US" dirty="0"/>
            </a:br>
            <a:r>
              <a:rPr lang="en-US" dirty="0"/>
              <a:t>Multimodal Models</a:t>
            </a:r>
          </a:p>
        </p:txBody>
      </p:sp>
      <p:sp>
        <p:nvSpPr>
          <p:cNvPr id="10" name="Subtitle 9">
            <a:extLst>
              <a:ext uri="{FF2B5EF4-FFF2-40B4-BE49-F238E27FC236}">
                <a16:creationId xmlns:a16="http://schemas.microsoft.com/office/drawing/2014/main" id="{4C4E44C6-E88C-4CDE-9E6A-035AA5A6FA95}"/>
              </a:ext>
            </a:extLst>
          </p:cNvPr>
          <p:cNvSpPr>
            <a:spLocks noGrp="1"/>
          </p:cNvSpPr>
          <p:nvPr>
            <p:ph type="subTitle" idx="1"/>
          </p:nvPr>
        </p:nvSpPr>
        <p:spPr>
          <a:xfrm>
            <a:off x="1513012" y="7941727"/>
            <a:ext cx="19282214" cy="1703832"/>
          </a:xfrm>
        </p:spPr>
        <p:txBody>
          <a:bodyPr/>
          <a:lstStyle/>
          <a:p>
            <a:r>
              <a:rPr lang="en-US" dirty="0"/>
              <a:t>Part 2: Intermediate Fusion and Contrastive Pretraining</a:t>
            </a:r>
          </a:p>
        </p:txBody>
      </p:sp>
    </p:spTree>
    <p:extLst>
      <p:ext uri="{BB962C8B-B14F-4D97-AF65-F5344CB8AC3E}">
        <p14:creationId xmlns:p14="http://schemas.microsoft.com/office/powerpoint/2010/main" val="1887837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78E0B866-8D5C-ABB7-396A-E5AC69D40BD8}"/>
              </a:ext>
            </a:extLst>
          </p:cNvPr>
          <p:cNvGraphicFramePr>
            <a:graphicFrameLocks noGrp="1"/>
          </p:cNvGraphicFramePr>
          <p:nvPr>
            <p:extLst>
              <p:ext uri="{D42A27DB-BD31-4B8C-83A1-F6EECF244321}">
                <p14:modId xmlns:p14="http://schemas.microsoft.com/office/powerpoint/2010/main" val="3264401589"/>
              </p:ext>
            </p:extLst>
          </p:nvPr>
        </p:nvGraphicFramePr>
        <p:xfrm>
          <a:off x="18651265" y="7034764"/>
          <a:ext cx="15895909" cy="8981090"/>
        </p:xfrm>
        <a:graphic>
          <a:graphicData uri="http://schemas.openxmlformats.org/drawingml/2006/table">
            <a:tbl>
              <a:tblPr firstRow="1" bandRow="1">
                <a:tableStyleId>{5C22544A-7EE6-4342-B048-85BDC9FD1C3A}</a:tableStyleId>
              </a:tblPr>
              <a:tblGrid>
                <a:gridCol w="988254">
                  <a:extLst>
                    <a:ext uri="{9D8B030D-6E8A-4147-A177-3AD203B41FA5}">
                      <a16:colId xmlns:a16="http://schemas.microsoft.com/office/drawing/2014/main" val="2906691046"/>
                    </a:ext>
                  </a:extLst>
                </a:gridCol>
                <a:gridCol w="14907655">
                  <a:extLst>
                    <a:ext uri="{9D8B030D-6E8A-4147-A177-3AD203B41FA5}">
                      <a16:colId xmlns:a16="http://schemas.microsoft.com/office/drawing/2014/main" val="3388937594"/>
                    </a:ext>
                  </a:extLst>
                </a:gridCol>
              </a:tblGrid>
              <a:tr h="1796218">
                <a:tc>
                  <a:txBody>
                    <a:bodyPr/>
                    <a:lstStyle/>
                    <a:p>
                      <a:pPr marL="0" indent="0" algn="l">
                        <a:buFont typeface="NVIDIA Sans" panose="020B0503020203020204" pitchFamily="34" charset="0"/>
                        <a:buNone/>
                      </a:pPr>
                      <a:r>
                        <a:rPr lang="en-US" sz="5400" b="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en-US" sz="4000" b="0" dirty="0">
                          <a:solidFill>
                            <a:schemeClr val="bg1"/>
                          </a:solidFill>
                          <a:latin typeface="NVIDIA Sans Medium" panose="020B0603020203020204" pitchFamily="34" charset="0"/>
                          <a:cs typeface="NVIDIA Sans Medium" panose="020B0603020203020204" pitchFamily="34" charset="0"/>
                        </a:rPr>
                        <a:t>Part 1: Multimodal Data</a:t>
                      </a:r>
                    </a:p>
                  </a:txBody>
                  <a:tcPr marL="0" marR="36576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958080"/>
                  </a:ext>
                </a:extLst>
              </a:tr>
              <a:tr h="1796218">
                <a:tc>
                  <a:txBody>
                    <a:bodyPr/>
                    <a:lstStyle/>
                    <a:p>
                      <a:pPr marL="0" indent="0" algn="l">
                        <a:buFont typeface="NVIDIA Sans" panose="020B0503020203020204" pitchFamily="34" charset="0"/>
                        <a:buNone/>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2: Intermediate Fusion</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8812821"/>
                  </a:ext>
                </a:extLst>
              </a:tr>
              <a:tr h="1796218">
                <a:tc>
                  <a:txBody>
                    <a:bodyPr/>
                    <a:lstStyle/>
                    <a:p>
                      <a:pPr marL="0" indent="0" algn="l">
                        <a:buFont typeface="NVIDIA Sans" panose="020B0503020203020204" pitchFamily="34" charset="0"/>
                        <a:buNone/>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3</a:t>
                      </a:r>
                      <a:r>
                        <a:rPr kumimoji="0" lang="en-US" sz="4000" b="0" i="0" u="none" strike="noStrike" kern="1200" cap="none" spc="0" normalizeH="0" baseline="0" noProof="0">
                          <a:ln>
                            <a:noFill/>
                          </a:ln>
                          <a:solidFill>
                            <a:schemeClr val="bg1"/>
                          </a:solidFill>
                          <a:effectLst/>
                          <a:uLnTx/>
                          <a:uFillTx/>
                          <a:latin typeface="NVIDIA Sans Medium" panose="020B0603020203020204" pitchFamily="34" charset="0"/>
                          <a:ea typeface="+mn-ea"/>
                          <a:cs typeface="NVIDIA Sans Medium" panose="020B0603020203020204" pitchFamily="34" charset="0"/>
                        </a:rPr>
                        <a:t>: Cross-modal </a:t>
                      </a: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Projection and OCR Pipelines</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311925"/>
                  </a:ext>
                </a:extLst>
              </a:tr>
              <a:tr h="1796218">
                <a:tc>
                  <a:txBody>
                    <a:bodyPr/>
                    <a:lstStyle/>
                    <a:p>
                      <a:pPr algn="l"/>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4: VSS and </a:t>
                      </a:r>
                      <a:r>
                        <a:rPr kumimoji="0" lang="en-US" sz="4000" b="0" i="0" u="none" strike="noStrike" kern="1200" cap="none" spc="0" normalizeH="0" baseline="0" noProof="0">
                          <a:ln>
                            <a:noFill/>
                          </a:ln>
                          <a:solidFill>
                            <a:schemeClr val="bg1"/>
                          </a:solidFill>
                          <a:effectLst/>
                          <a:uLnTx/>
                          <a:uFillTx/>
                          <a:latin typeface="NVIDIA Sans Medium" panose="020B0603020203020204" pitchFamily="34" charset="0"/>
                          <a:ea typeface="+mn-ea"/>
                          <a:cs typeface="NVIDIA Sans Medium" panose="020B0603020203020204" pitchFamily="34" charset="0"/>
                        </a:rPr>
                        <a:t>GraphRAG</a:t>
                      </a:r>
                      <a:endPar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6270836"/>
                  </a:ext>
                </a:extLst>
              </a:tr>
              <a:tr h="1796218">
                <a:tc>
                  <a:txBody>
                    <a:bodyPr/>
                    <a:lstStyle/>
                    <a:p>
                      <a:pPr marL="0" marR="0" lvl="0" indent="0" algn="l" defTabSz="2743200" rtl="0" eaLnBrk="1" fontAlgn="auto" latinLnBrk="0" hangingPunct="1">
                        <a:lnSpc>
                          <a:spcPct val="100000"/>
                        </a:lnSpc>
                        <a:spcBef>
                          <a:spcPts val="0"/>
                        </a:spcBef>
                        <a:spcAft>
                          <a:spcPts val="0"/>
                        </a:spcAft>
                        <a:buClrTx/>
                        <a:buSzTx/>
                        <a:buFontTx/>
                        <a:buNone/>
                        <a:tabLst/>
                        <a:defRPr/>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5: Wrap-up &amp; Assessment</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864478"/>
                  </a:ext>
                </a:extLst>
              </a:tr>
            </a:tbl>
          </a:graphicData>
        </a:graphic>
      </p:graphicFrame>
      <p:sp>
        <p:nvSpPr>
          <p:cNvPr id="6" name="TextBox 5">
            <a:extLst>
              <a:ext uri="{FF2B5EF4-FFF2-40B4-BE49-F238E27FC236}">
                <a16:creationId xmlns:a16="http://schemas.microsoft.com/office/drawing/2014/main" id="{F743F418-8875-D8F7-3CC1-B6DE2F73A307}"/>
              </a:ext>
            </a:extLst>
          </p:cNvPr>
          <p:cNvSpPr txBox="1"/>
          <p:nvPr/>
        </p:nvSpPr>
        <p:spPr>
          <a:xfrm>
            <a:off x="19524558" y="5114484"/>
            <a:ext cx="11248985" cy="1569660"/>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a:ln>
                  <a:noFill/>
                </a:ln>
                <a:solidFill>
                  <a:srgbClr val="76B900"/>
                </a:solidFill>
                <a:effectLst/>
                <a:uLnTx/>
                <a:uFillTx/>
                <a:latin typeface="NVIDIA Sans" panose="020B0503020203020204" pitchFamily="34" charset="0"/>
                <a:cs typeface="NVIDIA Sans" panose="020B0503020203020204" pitchFamily="34" charset="0"/>
              </a:rPr>
              <a:t>Agenda</a:t>
            </a:r>
          </a:p>
        </p:txBody>
      </p:sp>
      <p:sp>
        <p:nvSpPr>
          <p:cNvPr id="2" name="Rectangle 1">
            <a:extLst>
              <a:ext uri="{FF2B5EF4-FFF2-40B4-BE49-F238E27FC236}">
                <a16:creationId xmlns:a16="http://schemas.microsoft.com/office/drawing/2014/main" id="{B8E6121E-A96A-F527-8E76-FFB24307ED22}"/>
              </a:ext>
            </a:extLst>
          </p:cNvPr>
          <p:cNvSpPr/>
          <p:nvPr/>
        </p:nvSpPr>
        <p:spPr>
          <a:xfrm>
            <a:off x="18013680" y="8923673"/>
            <a:ext cx="17129760" cy="1569660"/>
          </a:xfrm>
          <a:prstGeom prst="rect">
            <a:avLst/>
          </a:prstGeom>
          <a:noFill/>
          <a:ln w="190500">
            <a:solidFill>
              <a:srgbClr val="76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32757430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US" dirty="0"/>
              <a:t>Experiment Results</a:t>
            </a:r>
          </a:p>
        </p:txBody>
      </p:sp>
    </p:spTree>
    <p:extLst>
      <p:ext uri="{BB962C8B-B14F-4D97-AF65-F5344CB8AC3E}">
        <p14:creationId xmlns:p14="http://schemas.microsoft.com/office/powerpoint/2010/main" val="3106100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6B4D79-9643-4D25-250F-6AE1BCB09B37}"/>
              </a:ext>
            </a:extLst>
          </p:cNvPr>
          <p:cNvPicPr>
            <a:picLocks noChangeAspect="1"/>
          </p:cNvPicPr>
          <p:nvPr/>
        </p:nvPicPr>
        <p:blipFill>
          <a:blip r:embed="rId3"/>
          <a:stretch>
            <a:fillRect/>
          </a:stretch>
        </p:blipFill>
        <p:spPr>
          <a:xfrm>
            <a:off x="6759238" y="3052134"/>
            <a:ext cx="22440037" cy="16515375"/>
          </a:xfrm>
          <a:prstGeom prst="rect">
            <a:avLst/>
          </a:prstGeom>
        </p:spPr>
      </p:pic>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Single Modal Data - Results</a:t>
            </a:r>
          </a:p>
        </p:txBody>
      </p:sp>
      <p:sp>
        <p:nvSpPr>
          <p:cNvPr id="13" name="TextBox 12">
            <a:extLst>
              <a:ext uri="{FF2B5EF4-FFF2-40B4-BE49-F238E27FC236}">
                <a16:creationId xmlns:a16="http://schemas.microsoft.com/office/drawing/2014/main" id="{7BB496EC-128E-BB57-1ECB-1E04B6832DC9}"/>
              </a:ext>
            </a:extLst>
          </p:cNvPr>
          <p:cNvSpPr txBox="1"/>
          <p:nvPr/>
        </p:nvSpPr>
        <p:spPr>
          <a:xfrm>
            <a:off x="16957283" y="12475029"/>
            <a:ext cx="2661434" cy="1323439"/>
          </a:xfrm>
          <a:prstGeom prst="rect">
            <a:avLst/>
          </a:prstGeom>
          <a:noFill/>
        </p:spPr>
        <p:txBody>
          <a:bodyPr wrap="none" rtlCol="0">
            <a:spAutoFit/>
          </a:bodyPr>
          <a:lstStyle/>
          <a:p>
            <a:pPr algn="ctr"/>
            <a:r>
              <a:rPr lang="en-US" sz="8000" dirty="0">
                <a:latin typeface="NVIDIA Sans" panose="020B0503020203020204" pitchFamily="34" charset="0"/>
                <a:cs typeface="NVIDIA Sans" panose="020B0503020203020204" pitchFamily="34" charset="0"/>
              </a:rPr>
              <a:t>Brain</a:t>
            </a:r>
          </a:p>
        </p:txBody>
      </p:sp>
      <p:pic>
        <p:nvPicPr>
          <p:cNvPr id="17" name="Graphic 16" descr="Nose with solid fill">
            <a:extLst>
              <a:ext uri="{FF2B5EF4-FFF2-40B4-BE49-F238E27FC236}">
                <a16:creationId xmlns:a16="http://schemas.microsoft.com/office/drawing/2014/main" id="{BEDE8E9C-8B1D-00F2-25EE-F3AE611B8D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000184" y="8174227"/>
            <a:ext cx="1787917" cy="1787917"/>
          </a:xfrm>
          <a:prstGeom prst="rect">
            <a:avLst/>
          </a:prstGeom>
        </p:spPr>
      </p:pic>
      <p:pic>
        <p:nvPicPr>
          <p:cNvPr id="19" name="Graphic 18" descr="Tongue with solid fill">
            <a:extLst>
              <a:ext uri="{FF2B5EF4-FFF2-40B4-BE49-F238E27FC236}">
                <a16:creationId xmlns:a16="http://schemas.microsoft.com/office/drawing/2014/main" id="{2BFE4A5D-FBF9-D776-8F9C-C829D4D03D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862597" y="14663056"/>
            <a:ext cx="1787917" cy="1787917"/>
          </a:xfrm>
          <a:prstGeom prst="rect">
            <a:avLst/>
          </a:prstGeom>
        </p:spPr>
      </p:pic>
      <p:pic>
        <p:nvPicPr>
          <p:cNvPr id="23" name="Graphic 22" descr="Ear with solid fill">
            <a:extLst>
              <a:ext uri="{FF2B5EF4-FFF2-40B4-BE49-F238E27FC236}">
                <a16:creationId xmlns:a16="http://schemas.microsoft.com/office/drawing/2014/main" id="{CAF54089-AE20-BC77-253C-46A765D69D1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043900" y="14663056"/>
            <a:ext cx="1787917" cy="1787917"/>
          </a:xfrm>
          <a:prstGeom prst="rect">
            <a:avLst/>
          </a:prstGeom>
        </p:spPr>
      </p:pic>
      <p:pic>
        <p:nvPicPr>
          <p:cNvPr id="5" name="Graphic 4" descr="Handshake with solid fill">
            <a:extLst>
              <a:ext uri="{FF2B5EF4-FFF2-40B4-BE49-F238E27FC236}">
                <a16:creationId xmlns:a16="http://schemas.microsoft.com/office/drawing/2014/main" id="{2E13390D-2352-351C-50A1-1FF7EC8FD0E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866217" y="8174226"/>
            <a:ext cx="1787917" cy="1787917"/>
          </a:xfrm>
          <a:prstGeom prst="rect">
            <a:avLst/>
          </a:prstGeom>
        </p:spPr>
      </p:pic>
      <p:pic>
        <p:nvPicPr>
          <p:cNvPr id="15" name="Graphic 14" descr="Eye with solid fill">
            <a:extLst>
              <a:ext uri="{FF2B5EF4-FFF2-40B4-BE49-F238E27FC236}">
                <a16:creationId xmlns:a16="http://schemas.microsoft.com/office/drawing/2014/main" id="{AE729893-43C6-9C5B-4C13-ABDF44EE3B3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7394041" y="4183453"/>
            <a:ext cx="1787917" cy="1787917"/>
          </a:xfrm>
          <a:prstGeom prst="rect">
            <a:avLst/>
          </a:prstGeom>
        </p:spPr>
      </p:pic>
    </p:spTree>
    <p:extLst>
      <p:ext uri="{BB962C8B-B14F-4D97-AF65-F5344CB8AC3E}">
        <p14:creationId xmlns:p14="http://schemas.microsoft.com/office/powerpoint/2010/main" val="37284423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A95FF-5943-A7D8-004E-B81C5D60F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43177-747F-E918-E779-BC67CC9E820D}"/>
              </a:ext>
            </a:extLst>
          </p:cNvPr>
          <p:cNvSpPr>
            <a:spLocks noGrp="1"/>
          </p:cNvSpPr>
          <p:nvPr>
            <p:ph type="title"/>
          </p:nvPr>
        </p:nvSpPr>
        <p:spPr/>
        <p:txBody>
          <a:bodyPr/>
          <a:lstStyle/>
          <a:p>
            <a:r>
              <a:rPr lang="en-US" dirty="0"/>
              <a:t>Multimodal Data - Results</a:t>
            </a:r>
          </a:p>
        </p:txBody>
      </p:sp>
      <p:pic>
        <p:nvPicPr>
          <p:cNvPr id="10" name="Graphic 9" descr="Brain with solid fill">
            <a:extLst>
              <a:ext uri="{FF2B5EF4-FFF2-40B4-BE49-F238E27FC236}">
                <a16:creationId xmlns:a16="http://schemas.microsoft.com/office/drawing/2014/main" id="{C5EF1276-D22C-8348-ADAD-50102979AE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20457" y="9339943"/>
            <a:ext cx="3135086" cy="3135086"/>
          </a:xfrm>
          <a:prstGeom prst="rect">
            <a:avLst/>
          </a:prstGeom>
        </p:spPr>
      </p:pic>
      <p:sp>
        <p:nvSpPr>
          <p:cNvPr id="13" name="TextBox 12">
            <a:extLst>
              <a:ext uri="{FF2B5EF4-FFF2-40B4-BE49-F238E27FC236}">
                <a16:creationId xmlns:a16="http://schemas.microsoft.com/office/drawing/2014/main" id="{0A5BAC9A-973C-4F04-E1BB-CC4F7E986F7E}"/>
              </a:ext>
            </a:extLst>
          </p:cNvPr>
          <p:cNvSpPr txBox="1"/>
          <p:nvPr/>
        </p:nvSpPr>
        <p:spPr>
          <a:xfrm>
            <a:off x="16957283" y="12475029"/>
            <a:ext cx="2661434" cy="1323439"/>
          </a:xfrm>
          <a:prstGeom prst="rect">
            <a:avLst/>
          </a:prstGeom>
          <a:noFill/>
        </p:spPr>
        <p:txBody>
          <a:bodyPr wrap="none" rtlCol="0">
            <a:spAutoFit/>
          </a:bodyPr>
          <a:lstStyle/>
          <a:p>
            <a:pPr algn="ctr"/>
            <a:r>
              <a:rPr lang="en-US" sz="8000" dirty="0">
                <a:latin typeface="NVIDIA Sans" panose="020B0503020203020204" pitchFamily="34" charset="0"/>
                <a:cs typeface="NVIDIA Sans" panose="020B0503020203020204" pitchFamily="34" charset="0"/>
              </a:rPr>
              <a:t>Brain</a:t>
            </a:r>
          </a:p>
        </p:txBody>
      </p:sp>
      <p:pic>
        <p:nvPicPr>
          <p:cNvPr id="17" name="Graphic 16" descr="Nose with solid fill">
            <a:extLst>
              <a:ext uri="{FF2B5EF4-FFF2-40B4-BE49-F238E27FC236}">
                <a16:creationId xmlns:a16="http://schemas.microsoft.com/office/drawing/2014/main" id="{136AC41B-EACD-D9C2-4CDA-AE9678F67D0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000184" y="8174227"/>
            <a:ext cx="1787917" cy="1787917"/>
          </a:xfrm>
          <a:prstGeom prst="rect">
            <a:avLst/>
          </a:prstGeom>
        </p:spPr>
      </p:pic>
      <p:pic>
        <p:nvPicPr>
          <p:cNvPr id="19" name="Graphic 18" descr="Tongue with solid fill">
            <a:extLst>
              <a:ext uri="{FF2B5EF4-FFF2-40B4-BE49-F238E27FC236}">
                <a16:creationId xmlns:a16="http://schemas.microsoft.com/office/drawing/2014/main" id="{E5787118-9B75-9B2F-4902-193E39608B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862597" y="14663056"/>
            <a:ext cx="1787917" cy="1787917"/>
          </a:xfrm>
          <a:prstGeom prst="rect">
            <a:avLst/>
          </a:prstGeom>
        </p:spPr>
      </p:pic>
      <p:pic>
        <p:nvPicPr>
          <p:cNvPr id="23" name="Graphic 22" descr="Ear with solid fill">
            <a:extLst>
              <a:ext uri="{FF2B5EF4-FFF2-40B4-BE49-F238E27FC236}">
                <a16:creationId xmlns:a16="http://schemas.microsoft.com/office/drawing/2014/main" id="{3B1EF9DE-8A7A-C53E-B3BE-577872269C3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043900" y="14663056"/>
            <a:ext cx="1787917" cy="1787917"/>
          </a:xfrm>
          <a:prstGeom prst="rect">
            <a:avLst/>
          </a:prstGeom>
        </p:spPr>
      </p:pic>
      <p:pic>
        <p:nvPicPr>
          <p:cNvPr id="5" name="Graphic 4" descr="Handshake with solid fill">
            <a:extLst>
              <a:ext uri="{FF2B5EF4-FFF2-40B4-BE49-F238E27FC236}">
                <a16:creationId xmlns:a16="http://schemas.microsoft.com/office/drawing/2014/main" id="{3A5370D7-9FE2-DEEE-4495-FDD7613DFB7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866217" y="8174226"/>
            <a:ext cx="1787917" cy="1787917"/>
          </a:xfrm>
          <a:prstGeom prst="rect">
            <a:avLst/>
          </a:prstGeom>
        </p:spPr>
      </p:pic>
      <p:pic>
        <p:nvPicPr>
          <p:cNvPr id="15" name="Graphic 14" descr="Eye with solid fill">
            <a:extLst>
              <a:ext uri="{FF2B5EF4-FFF2-40B4-BE49-F238E27FC236}">
                <a16:creationId xmlns:a16="http://schemas.microsoft.com/office/drawing/2014/main" id="{CC882B4D-4432-CB31-746A-67E5B191B43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394041" y="4183453"/>
            <a:ext cx="1787917" cy="1787917"/>
          </a:xfrm>
          <a:prstGeom prst="rect">
            <a:avLst/>
          </a:prstGeom>
        </p:spPr>
      </p:pic>
      <p:pic>
        <p:nvPicPr>
          <p:cNvPr id="4" name="Picture 3">
            <a:extLst>
              <a:ext uri="{FF2B5EF4-FFF2-40B4-BE49-F238E27FC236}">
                <a16:creationId xmlns:a16="http://schemas.microsoft.com/office/drawing/2014/main" id="{B1D78ACE-D749-B36A-5CD4-608D24612F42}"/>
              </a:ext>
            </a:extLst>
          </p:cNvPr>
          <p:cNvPicPr>
            <a:picLocks noChangeAspect="1"/>
          </p:cNvPicPr>
          <p:nvPr/>
        </p:nvPicPr>
        <p:blipFill>
          <a:blip r:embed="rId15"/>
          <a:stretch>
            <a:fillRect/>
          </a:stretch>
        </p:blipFill>
        <p:spPr>
          <a:xfrm>
            <a:off x="7278624" y="3360861"/>
            <a:ext cx="21479018" cy="16332682"/>
          </a:xfrm>
          <a:prstGeom prst="rect">
            <a:avLst/>
          </a:prstGeom>
        </p:spPr>
      </p:pic>
    </p:spTree>
    <p:extLst>
      <p:ext uri="{BB962C8B-B14F-4D97-AF65-F5344CB8AC3E}">
        <p14:creationId xmlns:p14="http://schemas.microsoft.com/office/powerpoint/2010/main" val="34493456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88804-2391-FE35-D5AF-5A4478DF7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A6F2A-32A6-DEA0-B5DD-61BC49791076}"/>
              </a:ext>
            </a:extLst>
          </p:cNvPr>
          <p:cNvSpPr>
            <a:spLocks noGrp="1"/>
          </p:cNvSpPr>
          <p:nvPr>
            <p:ph type="title"/>
          </p:nvPr>
        </p:nvSpPr>
        <p:spPr/>
        <p:txBody>
          <a:bodyPr/>
          <a:lstStyle/>
          <a:p>
            <a:r>
              <a:rPr lang="en-US" dirty="0"/>
              <a:t>Next Experiment</a:t>
            </a:r>
          </a:p>
        </p:txBody>
      </p:sp>
      <p:pic>
        <p:nvPicPr>
          <p:cNvPr id="10" name="Graphic 9" descr="Brain with solid fill">
            <a:extLst>
              <a:ext uri="{FF2B5EF4-FFF2-40B4-BE49-F238E27FC236}">
                <a16:creationId xmlns:a16="http://schemas.microsoft.com/office/drawing/2014/main" id="{7CC4F643-B90B-A4A6-BC71-DB0C576E01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20457" y="9339943"/>
            <a:ext cx="3135086" cy="3135086"/>
          </a:xfrm>
          <a:prstGeom prst="rect">
            <a:avLst/>
          </a:prstGeom>
        </p:spPr>
      </p:pic>
      <p:sp>
        <p:nvSpPr>
          <p:cNvPr id="13" name="TextBox 12">
            <a:extLst>
              <a:ext uri="{FF2B5EF4-FFF2-40B4-BE49-F238E27FC236}">
                <a16:creationId xmlns:a16="http://schemas.microsoft.com/office/drawing/2014/main" id="{3095DFD0-91D8-1AD7-E3BB-65A50E13DE5A}"/>
              </a:ext>
            </a:extLst>
          </p:cNvPr>
          <p:cNvSpPr txBox="1"/>
          <p:nvPr/>
        </p:nvSpPr>
        <p:spPr>
          <a:xfrm>
            <a:off x="16957283" y="12475029"/>
            <a:ext cx="2661434" cy="1323439"/>
          </a:xfrm>
          <a:prstGeom prst="rect">
            <a:avLst/>
          </a:prstGeom>
          <a:noFill/>
        </p:spPr>
        <p:txBody>
          <a:bodyPr wrap="none" rtlCol="0">
            <a:spAutoFit/>
          </a:bodyPr>
          <a:lstStyle/>
          <a:p>
            <a:pPr algn="ctr"/>
            <a:r>
              <a:rPr lang="en-US" sz="8000" dirty="0">
                <a:latin typeface="NVIDIA Sans" panose="020B0503020203020204" pitchFamily="34" charset="0"/>
                <a:cs typeface="NVIDIA Sans" panose="020B0503020203020204" pitchFamily="34" charset="0"/>
              </a:rPr>
              <a:t>Brain</a:t>
            </a:r>
          </a:p>
        </p:txBody>
      </p:sp>
      <p:pic>
        <p:nvPicPr>
          <p:cNvPr id="17" name="Graphic 16" descr="Nose with solid fill">
            <a:extLst>
              <a:ext uri="{FF2B5EF4-FFF2-40B4-BE49-F238E27FC236}">
                <a16:creationId xmlns:a16="http://schemas.microsoft.com/office/drawing/2014/main" id="{F4FE3411-38B9-E32E-EA62-8B570D25251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000184" y="8174227"/>
            <a:ext cx="1787917" cy="1787917"/>
          </a:xfrm>
          <a:prstGeom prst="rect">
            <a:avLst/>
          </a:prstGeom>
        </p:spPr>
      </p:pic>
      <p:pic>
        <p:nvPicPr>
          <p:cNvPr id="19" name="Graphic 18" descr="Tongue with solid fill">
            <a:extLst>
              <a:ext uri="{FF2B5EF4-FFF2-40B4-BE49-F238E27FC236}">
                <a16:creationId xmlns:a16="http://schemas.microsoft.com/office/drawing/2014/main" id="{8DE48DFC-A3CE-A4FB-9F93-B6952D3C9C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862597" y="14663056"/>
            <a:ext cx="1787917" cy="1787917"/>
          </a:xfrm>
          <a:prstGeom prst="rect">
            <a:avLst/>
          </a:prstGeom>
        </p:spPr>
      </p:pic>
      <p:pic>
        <p:nvPicPr>
          <p:cNvPr id="23" name="Graphic 22" descr="Ear with solid fill">
            <a:extLst>
              <a:ext uri="{FF2B5EF4-FFF2-40B4-BE49-F238E27FC236}">
                <a16:creationId xmlns:a16="http://schemas.microsoft.com/office/drawing/2014/main" id="{7CF4AF7E-7076-85F4-6B74-405B9B06D6F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043900" y="14663056"/>
            <a:ext cx="1787917" cy="1787917"/>
          </a:xfrm>
          <a:prstGeom prst="rect">
            <a:avLst/>
          </a:prstGeom>
        </p:spPr>
      </p:pic>
      <p:pic>
        <p:nvPicPr>
          <p:cNvPr id="5" name="Graphic 4" descr="Handshake with solid fill">
            <a:extLst>
              <a:ext uri="{FF2B5EF4-FFF2-40B4-BE49-F238E27FC236}">
                <a16:creationId xmlns:a16="http://schemas.microsoft.com/office/drawing/2014/main" id="{7EC74238-26B9-A7E1-8142-F19FFCED174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866217" y="8174226"/>
            <a:ext cx="1787917" cy="1787917"/>
          </a:xfrm>
          <a:prstGeom prst="rect">
            <a:avLst/>
          </a:prstGeom>
        </p:spPr>
      </p:pic>
      <p:pic>
        <p:nvPicPr>
          <p:cNvPr id="15" name="Graphic 14" descr="Eye with solid fill">
            <a:extLst>
              <a:ext uri="{FF2B5EF4-FFF2-40B4-BE49-F238E27FC236}">
                <a16:creationId xmlns:a16="http://schemas.microsoft.com/office/drawing/2014/main" id="{CA0610C1-0384-DC54-8AC1-325C598CEAA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394041" y="4183453"/>
            <a:ext cx="1787917" cy="1787917"/>
          </a:xfrm>
          <a:prstGeom prst="rect">
            <a:avLst/>
          </a:prstGeom>
        </p:spPr>
      </p:pic>
      <p:pic>
        <p:nvPicPr>
          <p:cNvPr id="4" name="Picture 3">
            <a:extLst>
              <a:ext uri="{FF2B5EF4-FFF2-40B4-BE49-F238E27FC236}">
                <a16:creationId xmlns:a16="http://schemas.microsoft.com/office/drawing/2014/main" id="{C6A79E99-46B0-B57D-488C-BC9FA024DFC3}"/>
              </a:ext>
            </a:extLst>
          </p:cNvPr>
          <p:cNvPicPr>
            <a:picLocks noChangeAspect="1"/>
          </p:cNvPicPr>
          <p:nvPr/>
        </p:nvPicPr>
        <p:blipFill>
          <a:blip r:embed="rId15"/>
          <a:stretch>
            <a:fillRect/>
          </a:stretch>
        </p:blipFill>
        <p:spPr>
          <a:xfrm>
            <a:off x="6571262" y="3387363"/>
            <a:ext cx="23433475" cy="15078933"/>
          </a:xfrm>
          <a:prstGeom prst="rect">
            <a:avLst/>
          </a:prstGeom>
        </p:spPr>
      </p:pic>
    </p:spTree>
    <p:extLst>
      <p:ext uri="{BB962C8B-B14F-4D97-AF65-F5344CB8AC3E}">
        <p14:creationId xmlns:p14="http://schemas.microsoft.com/office/powerpoint/2010/main" val="30121558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8A29A-2654-5A0D-138F-C32901739B3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5D5E2B4-C870-979C-50D5-0DC12765B4ED}"/>
              </a:ext>
            </a:extLst>
          </p:cNvPr>
          <p:cNvSpPr>
            <a:spLocks noGrp="1"/>
          </p:cNvSpPr>
          <p:nvPr>
            <p:ph type="body" sz="quarter" idx="13"/>
          </p:nvPr>
        </p:nvSpPr>
        <p:spPr>
          <a:xfrm>
            <a:off x="1473200" y="1865313"/>
            <a:ext cx="18476913" cy="5943600"/>
          </a:xfrm>
        </p:spPr>
        <p:txBody>
          <a:bodyPr/>
          <a:lstStyle/>
          <a:p>
            <a:r>
              <a:rPr lang="en-US" dirty="0"/>
              <a:t>Lab 2a - Intermediate Fusion</a:t>
            </a:r>
          </a:p>
        </p:txBody>
      </p:sp>
    </p:spTree>
    <p:extLst>
      <p:ext uri="{BB962C8B-B14F-4D97-AF65-F5344CB8AC3E}">
        <p14:creationId xmlns:p14="http://schemas.microsoft.com/office/powerpoint/2010/main" val="3791174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Human Inputs </a:t>
            </a:r>
            <a:r>
              <a:rPr lang="en-US"/>
              <a:t>and Outputs</a:t>
            </a:r>
            <a:endParaRPr lang="en-US" dirty="0"/>
          </a:p>
        </p:txBody>
      </p:sp>
      <p:sp>
        <p:nvSpPr>
          <p:cNvPr id="3" name="Text Placeholder 2">
            <a:extLst>
              <a:ext uri="{FF2B5EF4-FFF2-40B4-BE49-F238E27FC236}">
                <a16:creationId xmlns:a16="http://schemas.microsoft.com/office/drawing/2014/main" id="{5D88716D-98EA-659F-4ACA-DABC0EBC2631}"/>
              </a:ext>
            </a:extLst>
          </p:cNvPr>
          <p:cNvSpPr>
            <a:spLocks noGrp="1"/>
          </p:cNvSpPr>
          <p:nvPr>
            <p:ph type="body" sz="quarter" idx="10"/>
          </p:nvPr>
        </p:nvSpPr>
        <p:spPr/>
        <p:txBody>
          <a:bodyPr/>
          <a:lstStyle/>
          <a:p>
            <a:r>
              <a:rPr lang="en-US" dirty="0"/>
              <a:t>The Human Brain as a Multimodal Model</a:t>
            </a:r>
          </a:p>
        </p:txBody>
      </p:sp>
      <p:pic>
        <p:nvPicPr>
          <p:cNvPr id="1026" name="Picture 2">
            <a:extLst>
              <a:ext uri="{FF2B5EF4-FFF2-40B4-BE49-F238E27FC236}">
                <a16:creationId xmlns:a16="http://schemas.microsoft.com/office/drawing/2014/main" id="{5B9F3508-FEB0-5EED-B5C3-8F80625EBF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0144" y="3895344"/>
            <a:ext cx="20575712" cy="137342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34F0C4D-ED82-79C4-5226-6B9427B02F7C}"/>
              </a:ext>
            </a:extLst>
          </p:cNvPr>
          <p:cNvSpPr txBox="1"/>
          <p:nvPr/>
        </p:nvSpPr>
        <p:spPr>
          <a:xfrm>
            <a:off x="1005840" y="18302489"/>
            <a:ext cx="34564320" cy="707886"/>
          </a:xfrm>
          <a:prstGeom prst="rect">
            <a:avLst/>
          </a:prstGeom>
          <a:noFill/>
        </p:spPr>
        <p:txBody>
          <a:bodyPr wrap="square" rtlCol="0">
            <a:spAutoFit/>
          </a:bodyPr>
          <a:lstStyle/>
          <a:p>
            <a:pPr algn="ctr"/>
            <a:r>
              <a:rPr lang="en-US" sz="4000" b="0" i="0" dirty="0">
                <a:solidFill>
                  <a:srgbClr val="202122"/>
                </a:solidFill>
                <a:effectLst/>
                <a:latin typeface="Arial" panose="020B0604020202020204" pitchFamily="34" charset="0"/>
              </a:rPr>
              <a:t>Blausen.com staff (2014). "</a:t>
            </a:r>
            <a:r>
              <a:rPr lang="en-US" sz="4000" b="0" i="0" u="none" strike="noStrike" dirty="0">
                <a:solidFill>
                  <a:srgbClr val="3366BB"/>
                </a:solidFill>
                <a:effectLst/>
                <a:latin typeface="Arial" panose="020B0604020202020204" pitchFamily="34" charset="0"/>
                <a:hlinkClick r:id="rId4"/>
              </a:rPr>
              <a:t>Medical gallery of </a:t>
            </a:r>
            <a:r>
              <a:rPr lang="en-US" sz="4000" b="0" i="0" u="none" strike="noStrike" dirty="0" err="1">
                <a:solidFill>
                  <a:srgbClr val="3366BB"/>
                </a:solidFill>
                <a:effectLst/>
                <a:latin typeface="Arial" panose="020B0604020202020204" pitchFamily="34" charset="0"/>
                <a:hlinkClick r:id="rId4"/>
              </a:rPr>
              <a:t>Blausen</a:t>
            </a:r>
            <a:r>
              <a:rPr lang="en-US" sz="4000" b="0" i="0" u="none" strike="noStrike" dirty="0">
                <a:solidFill>
                  <a:srgbClr val="3366BB"/>
                </a:solidFill>
                <a:effectLst/>
                <a:latin typeface="Arial" panose="020B0604020202020204" pitchFamily="34" charset="0"/>
                <a:hlinkClick r:id="rId4"/>
              </a:rPr>
              <a:t> Medical 2014</a:t>
            </a:r>
            <a:r>
              <a:rPr lang="en-US" sz="4000" b="0" i="0" dirty="0">
                <a:solidFill>
                  <a:srgbClr val="202122"/>
                </a:solidFill>
                <a:effectLst/>
                <a:latin typeface="Arial" panose="020B0604020202020204" pitchFamily="34" charset="0"/>
              </a:rPr>
              <a:t>". </a:t>
            </a:r>
            <a:r>
              <a:rPr lang="en-US" sz="4000" b="0" i="1" dirty="0" err="1">
                <a:solidFill>
                  <a:srgbClr val="202122"/>
                </a:solidFill>
                <a:effectLst/>
                <a:latin typeface="Arial" panose="020B0604020202020204" pitchFamily="34" charset="0"/>
              </a:rPr>
              <a:t>WikiJournal</a:t>
            </a:r>
            <a:r>
              <a:rPr lang="en-US" sz="4000" b="0" i="1" dirty="0">
                <a:solidFill>
                  <a:srgbClr val="202122"/>
                </a:solidFill>
                <a:effectLst/>
                <a:latin typeface="Arial" panose="020B0604020202020204" pitchFamily="34" charset="0"/>
              </a:rPr>
              <a:t> of Medicine</a:t>
            </a:r>
            <a:r>
              <a:rPr lang="en-US" sz="4000" b="0" i="0" dirty="0">
                <a:solidFill>
                  <a:srgbClr val="202122"/>
                </a:solidFill>
                <a:effectLst/>
                <a:latin typeface="Arial" panose="020B0604020202020204" pitchFamily="34" charset="0"/>
              </a:rPr>
              <a:t> </a:t>
            </a:r>
            <a:r>
              <a:rPr lang="en-US" sz="4000" b="1" i="0" dirty="0">
                <a:solidFill>
                  <a:srgbClr val="202122"/>
                </a:solidFill>
                <a:effectLst/>
                <a:latin typeface="Arial" panose="020B0604020202020204" pitchFamily="34" charset="0"/>
              </a:rPr>
              <a:t>1</a:t>
            </a:r>
            <a:r>
              <a:rPr lang="en-US" sz="4000" b="0" i="0" dirty="0">
                <a:solidFill>
                  <a:srgbClr val="202122"/>
                </a:solidFill>
                <a:effectLst/>
                <a:latin typeface="Arial" panose="020B0604020202020204" pitchFamily="34" charset="0"/>
              </a:rPr>
              <a:t> (2). </a:t>
            </a:r>
            <a:r>
              <a:rPr lang="en-US" sz="4000" b="0" i="0" u="none" strike="noStrike" dirty="0">
                <a:solidFill>
                  <a:srgbClr val="3366BB"/>
                </a:solidFill>
                <a:effectLst/>
                <a:latin typeface="Arial" panose="020B0604020202020204" pitchFamily="34" charset="0"/>
                <a:hlinkClick r:id="rId5" tooltip="en:Digital object identifier"/>
              </a:rPr>
              <a:t>DOI</a:t>
            </a:r>
            <a:r>
              <a:rPr lang="en-US" sz="4000" b="0" i="0" dirty="0">
                <a:solidFill>
                  <a:srgbClr val="202122"/>
                </a:solidFill>
                <a:effectLst/>
                <a:latin typeface="Arial" panose="020B0604020202020204" pitchFamily="34" charset="0"/>
              </a:rPr>
              <a:t>:</a:t>
            </a:r>
            <a:r>
              <a:rPr lang="en-US" sz="4000" b="0" i="0" u="none" strike="noStrike" dirty="0">
                <a:solidFill>
                  <a:srgbClr val="3366BB"/>
                </a:solidFill>
                <a:effectLst/>
                <a:latin typeface="Arial" panose="020B0604020202020204" pitchFamily="34" charset="0"/>
                <a:hlinkClick r:id="rId6"/>
              </a:rPr>
              <a:t>10.15347/</a:t>
            </a:r>
            <a:r>
              <a:rPr lang="en-US" sz="4000" b="0" i="0" u="none" strike="noStrike" dirty="0" err="1">
                <a:solidFill>
                  <a:srgbClr val="3366BB"/>
                </a:solidFill>
                <a:effectLst/>
                <a:latin typeface="Arial" panose="020B0604020202020204" pitchFamily="34" charset="0"/>
                <a:hlinkClick r:id="rId6"/>
              </a:rPr>
              <a:t>wjm</a:t>
            </a:r>
            <a:r>
              <a:rPr lang="en-US" sz="4000" b="0" i="0" u="none" strike="noStrike" dirty="0">
                <a:solidFill>
                  <a:srgbClr val="3366BB"/>
                </a:solidFill>
                <a:effectLst/>
                <a:latin typeface="Arial" panose="020B0604020202020204" pitchFamily="34" charset="0"/>
                <a:hlinkClick r:id="rId6"/>
              </a:rPr>
              <a:t>/2014.010</a:t>
            </a:r>
            <a:r>
              <a:rPr lang="en-US" sz="4000" b="0" i="0" dirty="0">
                <a:solidFill>
                  <a:srgbClr val="202122"/>
                </a:solidFill>
                <a:effectLst/>
                <a:latin typeface="Arial" panose="020B0604020202020204" pitchFamily="34" charset="0"/>
              </a:rPr>
              <a:t>. </a:t>
            </a:r>
            <a:r>
              <a:rPr lang="en-US" sz="4000" b="0" i="0" u="none" strike="noStrike" dirty="0">
                <a:solidFill>
                  <a:srgbClr val="3366BB"/>
                </a:solidFill>
                <a:effectLst/>
                <a:latin typeface="Arial" panose="020B0604020202020204" pitchFamily="34" charset="0"/>
                <a:hlinkClick r:id="rId7" tooltip="en:ISSN"/>
              </a:rPr>
              <a:t>ISSN</a:t>
            </a:r>
            <a:r>
              <a:rPr lang="en-US" sz="4000" b="0" i="0" dirty="0">
                <a:solidFill>
                  <a:srgbClr val="202122"/>
                </a:solidFill>
                <a:effectLst/>
                <a:latin typeface="Arial" panose="020B0604020202020204" pitchFamily="34" charset="0"/>
              </a:rPr>
              <a:t> </a:t>
            </a:r>
            <a:r>
              <a:rPr lang="en-US" sz="4000" b="0" i="0" u="none" strike="noStrike" dirty="0">
                <a:solidFill>
                  <a:srgbClr val="3366BB"/>
                </a:solidFill>
                <a:effectLst/>
                <a:latin typeface="Arial" panose="020B0604020202020204" pitchFamily="34" charset="0"/>
                <a:hlinkClick r:id="rId8"/>
              </a:rPr>
              <a:t>2002-4436</a:t>
            </a:r>
            <a:endParaRPr lang="en-US" sz="4000" dirty="0">
              <a:solidFill>
                <a:schemeClr val="bg1"/>
              </a:solidFill>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3594362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DEA8E-1045-D500-DBB8-03121CDE1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9C0FB-1C8C-E210-8A99-ED80060CA312}"/>
              </a:ext>
            </a:extLst>
          </p:cNvPr>
          <p:cNvSpPr>
            <a:spLocks noGrp="1"/>
          </p:cNvSpPr>
          <p:nvPr>
            <p:ph type="title"/>
          </p:nvPr>
        </p:nvSpPr>
        <p:spPr/>
        <p:txBody>
          <a:bodyPr/>
          <a:lstStyle/>
          <a:p>
            <a:r>
              <a:rPr lang="en-US" dirty="0"/>
              <a:t>Intermediate Fusion</a:t>
            </a:r>
          </a:p>
        </p:txBody>
      </p:sp>
      <p:pic>
        <p:nvPicPr>
          <p:cNvPr id="7" name="Picture 4">
            <a:extLst>
              <a:ext uri="{FF2B5EF4-FFF2-40B4-BE49-F238E27FC236}">
                <a16:creationId xmlns:a16="http://schemas.microsoft.com/office/drawing/2014/main" id="{E55A5699-9031-C3F3-FF9C-F1A303DC22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4298" y="3242099"/>
            <a:ext cx="7061877" cy="70449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5183DE4-1238-1A06-8C03-9925EF0C16BD}"/>
              </a:ext>
            </a:extLst>
          </p:cNvPr>
          <p:cNvPicPr>
            <a:picLocks noChangeAspect="1"/>
          </p:cNvPicPr>
          <p:nvPr/>
        </p:nvPicPr>
        <p:blipFill>
          <a:blip r:embed="rId4"/>
          <a:srcRect l="8859" t="19593" r="8286" b="12616"/>
          <a:stretch/>
        </p:blipFill>
        <p:spPr>
          <a:xfrm>
            <a:off x="20523201" y="3242099"/>
            <a:ext cx="8965196" cy="7335161"/>
          </a:xfrm>
          <a:prstGeom prst="rect">
            <a:avLst/>
          </a:prstGeom>
        </p:spPr>
      </p:pic>
      <p:sp>
        <p:nvSpPr>
          <p:cNvPr id="9" name="Rectangle 8">
            <a:extLst>
              <a:ext uri="{FF2B5EF4-FFF2-40B4-BE49-F238E27FC236}">
                <a16:creationId xmlns:a16="http://schemas.microsoft.com/office/drawing/2014/main" id="{A633A8BD-8C14-55C0-85F5-EB7B1D429931}"/>
              </a:ext>
            </a:extLst>
          </p:cNvPr>
          <p:cNvSpPr/>
          <p:nvPr/>
        </p:nvSpPr>
        <p:spPr>
          <a:xfrm>
            <a:off x="20523201" y="13240704"/>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Flatten</a:t>
            </a:r>
          </a:p>
        </p:txBody>
      </p:sp>
      <p:sp>
        <p:nvSpPr>
          <p:cNvPr id="10" name="Rectangle 9">
            <a:extLst>
              <a:ext uri="{FF2B5EF4-FFF2-40B4-BE49-F238E27FC236}">
                <a16:creationId xmlns:a16="http://schemas.microsoft.com/office/drawing/2014/main" id="{E3379E0C-3893-8F1F-0EE8-29AE51AD9DE2}"/>
              </a:ext>
            </a:extLst>
          </p:cNvPr>
          <p:cNvSpPr/>
          <p:nvPr/>
        </p:nvSpPr>
        <p:spPr>
          <a:xfrm>
            <a:off x="20523201" y="11055672"/>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2" name="Rectangle 11">
            <a:extLst>
              <a:ext uri="{FF2B5EF4-FFF2-40B4-BE49-F238E27FC236}">
                <a16:creationId xmlns:a16="http://schemas.microsoft.com/office/drawing/2014/main" id="{5E05A535-7F53-E78F-142F-67411F9D4607}"/>
              </a:ext>
            </a:extLst>
          </p:cNvPr>
          <p:cNvSpPr/>
          <p:nvPr/>
        </p:nvSpPr>
        <p:spPr>
          <a:xfrm>
            <a:off x="6270073" y="13240704"/>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Flatten</a:t>
            </a:r>
          </a:p>
        </p:txBody>
      </p:sp>
      <p:sp>
        <p:nvSpPr>
          <p:cNvPr id="13" name="Rectangle 12">
            <a:extLst>
              <a:ext uri="{FF2B5EF4-FFF2-40B4-BE49-F238E27FC236}">
                <a16:creationId xmlns:a16="http://schemas.microsoft.com/office/drawing/2014/main" id="{F5C6066F-53DF-285C-4454-72B3A707754B}"/>
              </a:ext>
            </a:extLst>
          </p:cNvPr>
          <p:cNvSpPr/>
          <p:nvPr/>
        </p:nvSpPr>
        <p:spPr>
          <a:xfrm>
            <a:off x="6270073" y="11055672"/>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4" name="Rectangle 13">
            <a:extLst>
              <a:ext uri="{FF2B5EF4-FFF2-40B4-BE49-F238E27FC236}">
                <a16:creationId xmlns:a16="http://schemas.microsoft.com/office/drawing/2014/main" id="{A58F2B02-093D-F0DB-E241-4D27031FAF74}"/>
              </a:ext>
            </a:extLst>
          </p:cNvPr>
          <p:cNvSpPr/>
          <p:nvPr/>
        </p:nvSpPr>
        <p:spPr>
          <a:xfrm>
            <a:off x="13327888" y="15297746"/>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Dense</a:t>
            </a:r>
          </a:p>
        </p:txBody>
      </p:sp>
      <p:cxnSp>
        <p:nvCxnSpPr>
          <p:cNvPr id="16" name="Straight Arrow Connector 15">
            <a:extLst>
              <a:ext uri="{FF2B5EF4-FFF2-40B4-BE49-F238E27FC236}">
                <a16:creationId xmlns:a16="http://schemas.microsoft.com/office/drawing/2014/main" id="{29481B56-FD92-EF38-41D6-0143F9E8BD37}"/>
              </a:ext>
            </a:extLst>
          </p:cNvPr>
          <p:cNvCxnSpPr>
            <a:cxnSpLocks/>
          </p:cNvCxnSpPr>
          <p:nvPr/>
        </p:nvCxnSpPr>
        <p:spPr>
          <a:xfrm>
            <a:off x="10791273" y="12427273"/>
            <a:ext cx="0" cy="813072"/>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3E34F2E-3027-3EC4-8B0A-9527091F3843}"/>
              </a:ext>
            </a:extLst>
          </p:cNvPr>
          <p:cNvCxnSpPr>
            <a:cxnSpLocks/>
          </p:cNvCxnSpPr>
          <p:nvPr/>
        </p:nvCxnSpPr>
        <p:spPr>
          <a:xfrm>
            <a:off x="25044401" y="12427273"/>
            <a:ext cx="19301" cy="813790"/>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B4D04FD-51DD-4072-CD33-C01FC9647A84}"/>
              </a:ext>
            </a:extLst>
          </p:cNvPr>
          <p:cNvCxnSpPr>
            <a:cxnSpLocks/>
            <a:stCxn id="12" idx="2"/>
            <a:endCxn id="14" idx="0"/>
          </p:cNvCxnSpPr>
          <p:nvPr/>
        </p:nvCxnSpPr>
        <p:spPr>
          <a:xfrm>
            <a:off x="10791273" y="14612305"/>
            <a:ext cx="7057815" cy="685441"/>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B90072F-8637-2B67-29B7-D3D23D4247A1}"/>
              </a:ext>
            </a:extLst>
          </p:cNvPr>
          <p:cNvCxnSpPr>
            <a:cxnSpLocks/>
            <a:stCxn id="9" idx="2"/>
            <a:endCxn id="14" idx="0"/>
          </p:cNvCxnSpPr>
          <p:nvPr/>
        </p:nvCxnSpPr>
        <p:spPr>
          <a:xfrm flipH="1">
            <a:off x="17849088" y="14612305"/>
            <a:ext cx="7195313" cy="685441"/>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9303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86FAD-F8D6-9F61-B4EE-0DEF07F21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B11A7-DCB1-09A0-278F-4F79C2C37BF1}"/>
              </a:ext>
            </a:extLst>
          </p:cNvPr>
          <p:cNvSpPr>
            <a:spLocks noGrp="1"/>
          </p:cNvSpPr>
          <p:nvPr>
            <p:ph type="title"/>
          </p:nvPr>
        </p:nvSpPr>
        <p:spPr/>
        <p:txBody>
          <a:bodyPr/>
          <a:lstStyle/>
          <a:p>
            <a:r>
              <a:rPr lang="en-US" dirty="0"/>
              <a:t>Intermediate Fusion</a:t>
            </a:r>
          </a:p>
        </p:txBody>
      </p:sp>
      <p:pic>
        <p:nvPicPr>
          <p:cNvPr id="7" name="Picture 4">
            <a:extLst>
              <a:ext uri="{FF2B5EF4-FFF2-40B4-BE49-F238E27FC236}">
                <a16:creationId xmlns:a16="http://schemas.microsoft.com/office/drawing/2014/main" id="{7EF19D29-8D9F-9633-2142-398EFB4D84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4298" y="3242099"/>
            <a:ext cx="7061877" cy="70449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FBA1C34-CBFD-BF6D-1B10-AB025EBB878F}"/>
              </a:ext>
            </a:extLst>
          </p:cNvPr>
          <p:cNvPicPr>
            <a:picLocks noChangeAspect="1"/>
          </p:cNvPicPr>
          <p:nvPr/>
        </p:nvPicPr>
        <p:blipFill>
          <a:blip r:embed="rId4"/>
          <a:srcRect l="8859" t="19593" r="8286" b="12616"/>
          <a:stretch/>
        </p:blipFill>
        <p:spPr>
          <a:xfrm>
            <a:off x="20523201" y="3242099"/>
            <a:ext cx="8965196" cy="7335161"/>
          </a:xfrm>
          <a:prstGeom prst="rect">
            <a:avLst/>
          </a:prstGeom>
        </p:spPr>
      </p:pic>
      <p:sp>
        <p:nvSpPr>
          <p:cNvPr id="9" name="Rectangle 8">
            <a:extLst>
              <a:ext uri="{FF2B5EF4-FFF2-40B4-BE49-F238E27FC236}">
                <a16:creationId xmlns:a16="http://schemas.microsoft.com/office/drawing/2014/main" id="{2CEE381D-59D4-0468-1A67-76A518734629}"/>
              </a:ext>
            </a:extLst>
          </p:cNvPr>
          <p:cNvSpPr/>
          <p:nvPr/>
        </p:nvSpPr>
        <p:spPr>
          <a:xfrm>
            <a:off x="20523201" y="13240704"/>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Flatten</a:t>
            </a:r>
          </a:p>
        </p:txBody>
      </p:sp>
      <p:sp>
        <p:nvSpPr>
          <p:cNvPr id="10" name="Rectangle 9">
            <a:extLst>
              <a:ext uri="{FF2B5EF4-FFF2-40B4-BE49-F238E27FC236}">
                <a16:creationId xmlns:a16="http://schemas.microsoft.com/office/drawing/2014/main" id="{7BBD9439-545A-66F1-051B-7ED0CB0EFDC8}"/>
              </a:ext>
            </a:extLst>
          </p:cNvPr>
          <p:cNvSpPr/>
          <p:nvPr/>
        </p:nvSpPr>
        <p:spPr>
          <a:xfrm>
            <a:off x="20523201" y="11055672"/>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1" name="Rectangle 10">
            <a:extLst>
              <a:ext uri="{FF2B5EF4-FFF2-40B4-BE49-F238E27FC236}">
                <a16:creationId xmlns:a16="http://schemas.microsoft.com/office/drawing/2014/main" id="{5069413E-D336-9C7B-79D4-0E9E022D1D53}"/>
              </a:ext>
            </a:extLst>
          </p:cNvPr>
          <p:cNvSpPr/>
          <p:nvPr/>
        </p:nvSpPr>
        <p:spPr>
          <a:xfrm>
            <a:off x="13327888" y="17446098"/>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Dense</a:t>
            </a:r>
          </a:p>
        </p:txBody>
      </p:sp>
      <p:sp>
        <p:nvSpPr>
          <p:cNvPr id="12" name="Rectangle 11">
            <a:extLst>
              <a:ext uri="{FF2B5EF4-FFF2-40B4-BE49-F238E27FC236}">
                <a16:creationId xmlns:a16="http://schemas.microsoft.com/office/drawing/2014/main" id="{33AEAF56-5776-97FB-D259-27261D41B347}"/>
              </a:ext>
            </a:extLst>
          </p:cNvPr>
          <p:cNvSpPr/>
          <p:nvPr/>
        </p:nvSpPr>
        <p:spPr>
          <a:xfrm>
            <a:off x="6270073" y="13240704"/>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Flatten</a:t>
            </a:r>
          </a:p>
        </p:txBody>
      </p:sp>
      <p:sp>
        <p:nvSpPr>
          <p:cNvPr id="13" name="Rectangle 12">
            <a:extLst>
              <a:ext uri="{FF2B5EF4-FFF2-40B4-BE49-F238E27FC236}">
                <a16:creationId xmlns:a16="http://schemas.microsoft.com/office/drawing/2014/main" id="{B74F68B1-AC5D-6330-06CA-282BB10B65E7}"/>
              </a:ext>
            </a:extLst>
          </p:cNvPr>
          <p:cNvSpPr/>
          <p:nvPr/>
        </p:nvSpPr>
        <p:spPr>
          <a:xfrm>
            <a:off x="6270073" y="11055672"/>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4" name="Rectangle 13">
            <a:extLst>
              <a:ext uri="{FF2B5EF4-FFF2-40B4-BE49-F238E27FC236}">
                <a16:creationId xmlns:a16="http://schemas.microsoft.com/office/drawing/2014/main" id="{66084CBE-2110-965B-70DA-4DA8FE9F985F}"/>
              </a:ext>
            </a:extLst>
          </p:cNvPr>
          <p:cNvSpPr/>
          <p:nvPr/>
        </p:nvSpPr>
        <p:spPr>
          <a:xfrm>
            <a:off x="13327888" y="15297746"/>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Dense</a:t>
            </a:r>
          </a:p>
        </p:txBody>
      </p:sp>
      <p:cxnSp>
        <p:nvCxnSpPr>
          <p:cNvPr id="16" name="Straight Arrow Connector 15">
            <a:extLst>
              <a:ext uri="{FF2B5EF4-FFF2-40B4-BE49-F238E27FC236}">
                <a16:creationId xmlns:a16="http://schemas.microsoft.com/office/drawing/2014/main" id="{2EAA2391-B5F4-8DDF-2707-806CFC46D50C}"/>
              </a:ext>
            </a:extLst>
          </p:cNvPr>
          <p:cNvCxnSpPr>
            <a:cxnSpLocks/>
          </p:cNvCxnSpPr>
          <p:nvPr/>
        </p:nvCxnSpPr>
        <p:spPr>
          <a:xfrm>
            <a:off x="10791273" y="12427273"/>
            <a:ext cx="0" cy="813072"/>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2342BD3-12FF-6F7C-F548-62C8C9828647}"/>
              </a:ext>
            </a:extLst>
          </p:cNvPr>
          <p:cNvCxnSpPr>
            <a:cxnSpLocks/>
          </p:cNvCxnSpPr>
          <p:nvPr/>
        </p:nvCxnSpPr>
        <p:spPr>
          <a:xfrm>
            <a:off x="25044401" y="12427273"/>
            <a:ext cx="19301" cy="813790"/>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020D640-1682-181D-4AF5-122F27E855F2}"/>
              </a:ext>
            </a:extLst>
          </p:cNvPr>
          <p:cNvCxnSpPr>
            <a:cxnSpLocks/>
            <a:stCxn id="12" idx="2"/>
            <a:endCxn id="14" idx="0"/>
          </p:cNvCxnSpPr>
          <p:nvPr/>
        </p:nvCxnSpPr>
        <p:spPr>
          <a:xfrm>
            <a:off x="10791273" y="14612305"/>
            <a:ext cx="7057815" cy="685441"/>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22B15FD-8700-5F6E-2AE2-0DD0A089E117}"/>
              </a:ext>
            </a:extLst>
          </p:cNvPr>
          <p:cNvCxnSpPr>
            <a:cxnSpLocks/>
            <a:stCxn id="9" idx="2"/>
            <a:endCxn id="14" idx="0"/>
          </p:cNvCxnSpPr>
          <p:nvPr/>
        </p:nvCxnSpPr>
        <p:spPr>
          <a:xfrm flipH="1">
            <a:off x="17849088" y="14612305"/>
            <a:ext cx="7195313" cy="685441"/>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1929D2C-338F-CD0B-EB35-4932C6C8C588}"/>
              </a:ext>
            </a:extLst>
          </p:cNvPr>
          <p:cNvCxnSpPr>
            <a:cxnSpLocks/>
            <a:stCxn id="14" idx="2"/>
            <a:endCxn id="11" idx="0"/>
          </p:cNvCxnSpPr>
          <p:nvPr/>
        </p:nvCxnSpPr>
        <p:spPr>
          <a:xfrm>
            <a:off x="17849088" y="16669347"/>
            <a:ext cx="0" cy="776751"/>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 name="Connector: Curved 3">
            <a:extLst>
              <a:ext uri="{FF2B5EF4-FFF2-40B4-BE49-F238E27FC236}">
                <a16:creationId xmlns:a16="http://schemas.microsoft.com/office/drawing/2014/main" id="{82B703E4-DACD-B8B0-5AD2-A7CCE6E07E56}"/>
              </a:ext>
            </a:extLst>
          </p:cNvPr>
          <p:cNvCxnSpPr>
            <a:cxnSpLocks/>
            <a:stCxn id="12" idx="2"/>
          </p:cNvCxnSpPr>
          <p:nvPr/>
        </p:nvCxnSpPr>
        <p:spPr>
          <a:xfrm rot="16200000" flipH="1">
            <a:off x="12903284" y="12500293"/>
            <a:ext cx="2833795" cy="7057817"/>
          </a:xfrm>
          <a:prstGeom prst="curvedConnector2">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nector: Curved 5">
            <a:extLst>
              <a:ext uri="{FF2B5EF4-FFF2-40B4-BE49-F238E27FC236}">
                <a16:creationId xmlns:a16="http://schemas.microsoft.com/office/drawing/2014/main" id="{ED851280-2BB8-FC12-CBBA-B024C416D432}"/>
              </a:ext>
            </a:extLst>
          </p:cNvPr>
          <p:cNvCxnSpPr>
            <a:cxnSpLocks/>
            <a:stCxn id="9" idx="2"/>
          </p:cNvCxnSpPr>
          <p:nvPr/>
        </p:nvCxnSpPr>
        <p:spPr>
          <a:xfrm rot="5400000">
            <a:off x="20029848" y="12431546"/>
            <a:ext cx="2833795" cy="7195313"/>
          </a:xfrm>
          <a:prstGeom prst="curvedConnector2">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2642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29E20-6FDD-FC5D-0C54-B6CD28CEA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D12377-1D30-2D4D-3748-0E29E13F7249}"/>
              </a:ext>
            </a:extLst>
          </p:cNvPr>
          <p:cNvSpPr>
            <a:spLocks noGrp="1"/>
          </p:cNvSpPr>
          <p:nvPr>
            <p:ph type="title"/>
          </p:nvPr>
        </p:nvSpPr>
        <p:spPr/>
        <p:txBody>
          <a:bodyPr/>
          <a:lstStyle/>
          <a:p>
            <a:r>
              <a:rPr lang="en-US" dirty="0"/>
              <a:t>Intermediate Fusion</a:t>
            </a:r>
          </a:p>
        </p:txBody>
      </p:sp>
      <p:pic>
        <p:nvPicPr>
          <p:cNvPr id="10" name="Graphic 9" descr="Brain with solid fill">
            <a:extLst>
              <a:ext uri="{FF2B5EF4-FFF2-40B4-BE49-F238E27FC236}">
                <a16:creationId xmlns:a16="http://schemas.microsoft.com/office/drawing/2014/main" id="{9A3A8518-FDC6-93EA-3933-25BF89DF3E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20457" y="9339943"/>
            <a:ext cx="3135086" cy="3135086"/>
          </a:xfrm>
          <a:prstGeom prst="rect">
            <a:avLst/>
          </a:prstGeom>
        </p:spPr>
      </p:pic>
      <p:sp>
        <p:nvSpPr>
          <p:cNvPr id="13" name="TextBox 12">
            <a:extLst>
              <a:ext uri="{FF2B5EF4-FFF2-40B4-BE49-F238E27FC236}">
                <a16:creationId xmlns:a16="http://schemas.microsoft.com/office/drawing/2014/main" id="{A7302196-0864-1AF4-A454-BD37E8B8F08E}"/>
              </a:ext>
            </a:extLst>
          </p:cNvPr>
          <p:cNvSpPr txBox="1"/>
          <p:nvPr/>
        </p:nvSpPr>
        <p:spPr>
          <a:xfrm>
            <a:off x="16957283" y="12475029"/>
            <a:ext cx="2661434" cy="1323439"/>
          </a:xfrm>
          <a:prstGeom prst="rect">
            <a:avLst/>
          </a:prstGeom>
          <a:noFill/>
        </p:spPr>
        <p:txBody>
          <a:bodyPr wrap="none" rtlCol="0">
            <a:spAutoFit/>
          </a:bodyPr>
          <a:lstStyle/>
          <a:p>
            <a:pPr algn="ctr"/>
            <a:r>
              <a:rPr lang="en-US" sz="8000" dirty="0">
                <a:latin typeface="NVIDIA Sans" panose="020B0503020203020204" pitchFamily="34" charset="0"/>
                <a:cs typeface="NVIDIA Sans" panose="020B0503020203020204" pitchFamily="34" charset="0"/>
              </a:rPr>
              <a:t>Brain</a:t>
            </a:r>
          </a:p>
        </p:txBody>
      </p:sp>
      <p:pic>
        <p:nvPicPr>
          <p:cNvPr id="17" name="Graphic 16" descr="Nose with solid fill">
            <a:extLst>
              <a:ext uri="{FF2B5EF4-FFF2-40B4-BE49-F238E27FC236}">
                <a16:creationId xmlns:a16="http://schemas.microsoft.com/office/drawing/2014/main" id="{BFBE4E25-3F45-B346-656C-80313E64A50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000184" y="8174227"/>
            <a:ext cx="1787917" cy="1787917"/>
          </a:xfrm>
          <a:prstGeom prst="rect">
            <a:avLst/>
          </a:prstGeom>
        </p:spPr>
      </p:pic>
      <p:pic>
        <p:nvPicPr>
          <p:cNvPr id="19" name="Graphic 18" descr="Tongue with solid fill">
            <a:extLst>
              <a:ext uri="{FF2B5EF4-FFF2-40B4-BE49-F238E27FC236}">
                <a16:creationId xmlns:a16="http://schemas.microsoft.com/office/drawing/2014/main" id="{D8694D7E-EB27-095F-75A5-C306B17162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862597" y="14663056"/>
            <a:ext cx="1787917" cy="1787917"/>
          </a:xfrm>
          <a:prstGeom prst="rect">
            <a:avLst/>
          </a:prstGeom>
        </p:spPr>
      </p:pic>
      <p:pic>
        <p:nvPicPr>
          <p:cNvPr id="23" name="Graphic 22" descr="Ear with solid fill">
            <a:extLst>
              <a:ext uri="{FF2B5EF4-FFF2-40B4-BE49-F238E27FC236}">
                <a16:creationId xmlns:a16="http://schemas.microsoft.com/office/drawing/2014/main" id="{8471766B-C2B6-30CB-5BB7-8FB99B42533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043900" y="14663056"/>
            <a:ext cx="1787917" cy="1787917"/>
          </a:xfrm>
          <a:prstGeom prst="rect">
            <a:avLst/>
          </a:prstGeom>
        </p:spPr>
      </p:pic>
      <p:pic>
        <p:nvPicPr>
          <p:cNvPr id="5" name="Graphic 4" descr="Handshake with solid fill">
            <a:extLst>
              <a:ext uri="{FF2B5EF4-FFF2-40B4-BE49-F238E27FC236}">
                <a16:creationId xmlns:a16="http://schemas.microsoft.com/office/drawing/2014/main" id="{1FE56224-B8CD-22D7-78BA-4EE7559192B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866217" y="8174226"/>
            <a:ext cx="1787917" cy="1787917"/>
          </a:xfrm>
          <a:prstGeom prst="rect">
            <a:avLst/>
          </a:prstGeom>
        </p:spPr>
      </p:pic>
      <p:pic>
        <p:nvPicPr>
          <p:cNvPr id="15" name="Graphic 14" descr="Eye with solid fill">
            <a:extLst>
              <a:ext uri="{FF2B5EF4-FFF2-40B4-BE49-F238E27FC236}">
                <a16:creationId xmlns:a16="http://schemas.microsoft.com/office/drawing/2014/main" id="{9B95D1B9-46EE-5B17-46CB-A766EAB1628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394041" y="4183453"/>
            <a:ext cx="1787917" cy="1787917"/>
          </a:xfrm>
          <a:prstGeom prst="rect">
            <a:avLst/>
          </a:prstGeom>
        </p:spPr>
      </p:pic>
      <p:pic>
        <p:nvPicPr>
          <p:cNvPr id="4" name="Picture 3">
            <a:extLst>
              <a:ext uri="{FF2B5EF4-FFF2-40B4-BE49-F238E27FC236}">
                <a16:creationId xmlns:a16="http://schemas.microsoft.com/office/drawing/2014/main" id="{1DB53BB1-B66B-3559-6D08-03CA6EBDCC24}"/>
              </a:ext>
            </a:extLst>
          </p:cNvPr>
          <p:cNvPicPr>
            <a:picLocks noChangeAspect="1"/>
          </p:cNvPicPr>
          <p:nvPr/>
        </p:nvPicPr>
        <p:blipFill>
          <a:blip r:embed="rId15"/>
          <a:stretch>
            <a:fillRect/>
          </a:stretch>
        </p:blipFill>
        <p:spPr>
          <a:xfrm>
            <a:off x="6571261" y="3895344"/>
            <a:ext cx="23433475" cy="15078933"/>
          </a:xfrm>
          <a:prstGeom prst="rect">
            <a:avLst/>
          </a:prstGeom>
        </p:spPr>
      </p:pic>
      <p:sp>
        <p:nvSpPr>
          <p:cNvPr id="3" name="Text Placeholder 2">
            <a:extLst>
              <a:ext uri="{FF2B5EF4-FFF2-40B4-BE49-F238E27FC236}">
                <a16:creationId xmlns:a16="http://schemas.microsoft.com/office/drawing/2014/main" id="{C298C61B-7744-DD49-AC89-0DB5794FF2CD}"/>
              </a:ext>
            </a:extLst>
          </p:cNvPr>
          <p:cNvSpPr>
            <a:spLocks noGrp="1"/>
          </p:cNvSpPr>
          <p:nvPr>
            <p:ph type="body" sz="quarter" idx="10"/>
          </p:nvPr>
        </p:nvSpPr>
        <p:spPr>
          <a:xfrm>
            <a:off x="2514600" y="2487168"/>
            <a:ext cx="31546800" cy="1408176"/>
          </a:xfrm>
        </p:spPr>
        <p:txBody>
          <a:bodyPr/>
          <a:lstStyle/>
          <a:p>
            <a:r>
              <a:rPr lang="en-US" dirty="0"/>
              <a:t>Finding the Center</a:t>
            </a:r>
          </a:p>
        </p:txBody>
      </p:sp>
    </p:spTree>
    <p:extLst>
      <p:ext uri="{BB962C8B-B14F-4D97-AF65-F5344CB8AC3E}">
        <p14:creationId xmlns:p14="http://schemas.microsoft.com/office/powerpoint/2010/main" val="802242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74E69-00C4-941E-A151-16C7582F0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99136-EA7C-F2F4-39FE-1CCB259851B1}"/>
              </a:ext>
            </a:extLst>
          </p:cNvPr>
          <p:cNvSpPr>
            <a:spLocks noGrp="1"/>
          </p:cNvSpPr>
          <p:nvPr>
            <p:ph type="title"/>
          </p:nvPr>
        </p:nvSpPr>
        <p:spPr/>
        <p:txBody>
          <a:bodyPr/>
          <a:lstStyle/>
          <a:p>
            <a:r>
              <a:rPr lang="en-US" dirty="0"/>
              <a:t>Intermediate Fusion</a:t>
            </a:r>
          </a:p>
        </p:txBody>
      </p:sp>
      <p:pic>
        <p:nvPicPr>
          <p:cNvPr id="10" name="Graphic 9" descr="Brain with solid fill">
            <a:extLst>
              <a:ext uri="{FF2B5EF4-FFF2-40B4-BE49-F238E27FC236}">
                <a16:creationId xmlns:a16="http://schemas.microsoft.com/office/drawing/2014/main" id="{8FB73FB1-95B7-4E60-D44F-9879891136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20457" y="9339943"/>
            <a:ext cx="3135086" cy="3135086"/>
          </a:xfrm>
          <a:prstGeom prst="rect">
            <a:avLst/>
          </a:prstGeom>
        </p:spPr>
      </p:pic>
      <p:sp>
        <p:nvSpPr>
          <p:cNvPr id="13" name="TextBox 12">
            <a:extLst>
              <a:ext uri="{FF2B5EF4-FFF2-40B4-BE49-F238E27FC236}">
                <a16:creationId xmlns:a16="http://schemas.microsoft.com/office/drawing/2014/main" id="{741B0F6B-5695-B585-86B7-F428218BD887}"/>
              </a:ext>
            </a:extLst>
          </p:cNvPr>
          <p:cNvSpPr txBox="1"/>
          <p:nvPr/>
        </p:nvSpPr>
        <p:spPr>
          <a:xfrm>
            <a:off x="16957283" y="12475029"/>
            <a:ext cx="2661434" cy="1323439"/>
          </a:xfrm>
          <a:prstGeom prst="rect">
            <a:avLst/>
          </a:prstGeom>
          <a:noFill/>
        </p:spPr>
        <p:txBody>
          <a:bodyPr wrap="none" rtlCol="0">
            <a:spAutoFit/>
          </a:bodyPr>
          <a:lstStyle/>
          <a:p>
            <a:pPr algn="ctr"/>
            <a:r>
              <a:rPr lang="en-US" sz="8000" dirty="0">
                <a:latin typeface="NVIDIA Sans" panose="020B0503020203020204" pitchFamily="34" charset="0"/>
                <a:cs typeface="NVIDIA Sans" panose="020B0503020203020204" pitchFamily="34" charset="0"/>
              </a:rPr>
              <a:t>Brain</a:t>
            </a:r>
          </a:p>
        </p:txBody>
      </p:sp>
      <p:pic>
        <p:nvPicPr>
          <p:cNvPr id="17" name="Graphic 16" descr="Nose with solid fill">
            <a:extLst>
              <a:ext uri="{FF2B5EF4-FFF2-40B4-BE49-F238E27FC236}">
                <a16:creationId xmlns:a16="http://schemas.microsoft.com/office/drawing/2014/main" id="{9054E042-978C-8AEC-A0E0-2BA4132773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000184" y="8174227"/>
            <a:ext cx="1787917" cy="1787917"/>
          </a:xfrm>
          <a:prstGeom prst="rect">
            <a:avLst/>
          </a:prstGeom>
        </p:spPr>
      </p:pic>
      <p:pic>
        <p:nvPicPr>
          <p:cNvPr id="19" name="Graphic 18" descr="Tongue with solid fill">
            <a:extLst>
              <a:ext uri="{FF2B5EF4-FFF2-40B4-BE49-F238E27FC236}">
                <a16:creationId xmlns:a16="http://schemas.microsoft.com/office/drawing/2014/main" id="{BF4AE3D4-FD9B-5E51-6F32-42B5CA7164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862597" y="14663056"/>
            <a:ext cx="1787917" cy="1787917"/>
          </a:xfrm>
          <a:prstGeom prst="rect">
            <a:avLst/>
          </a:prstGeom>
        </p:spPr>
      </p:pic>
      <p:pic>
        <p:nvPicPr>
          <p:cNvPr id="23" name="Graphic 22" descr="Ear with solid fill">
            <a:extLst>
              <a:ext uri="{FF2B5EF4-FFF2-40B4-BE49-F238E27FC236}">
                <a16:creationId xmlns:a16="http://schemas.microsoft.com/office/drawing/2014/main" id="{FC03C916-59B7-2BB2-03AA-23501D8E2B4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043900" y="14663056"/>
            <a:ext cx="1787917" cy="1787917"/>
          </a:xfrm>
          <a:prstGeom prst="rect">
            <a:avLst/>
          </a:prstGeom>
        </p:spPr>
      </p:pic>
      <p:pic>
        <p:nvPicPr>
          <p:cNvPr id="5" name="Graphic 4" descr="Handshake with solid fill">
            <a:extLst>
              <a:ext uri="{FF2B5EF4-FFF2-40B4-BE49-F238E27FC236}">
                <a16:creationId xmlns:a16="http://schemas.microsoft.com/office/drawing/2014/main" id="{34303A80-2F9E-962B-8A27-2EDF2A624E9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866217" y="8174226"/>
            <a:ext cx="1787917" cy="1787917"/>
          </a:xfrm>
          <a:prstGeom prst="rect">
            <a:avLst/>
          </a:prstGeom>
        </p:spPr>
      </p:pic>
      <p:pic>
        <p:nvPicPr>
          <p:cNvPr id="15" name="Graphic 14" descr="Eye with solid fill">
            <a:extLst>
              <a:ext uri="{FF2B5EF4-FFF2-40B4-BE49-F238E27FC236}">
                <a16:creationId xmlns:a16="http://schemas.microsoft.com/office/drawing/2014/main" id="{3654F17A-6D7B-35B2-BE08-BA8F731A56A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394041" y="4183453"/>
            <a:ext cx="1787917" cy="1787917"/>
          </a:xfrm>
          <a:prstGeom prst="rect">
            <a:avLst/>
          </a:prstGeom>
        </p:spPr>
      </p:pic>
      <p:pic>
        <p:nvPicPr>
          <p:cNvPr id="3" name="Graphic 2" descr="Brain with solid fill">
            <a:extLst>
              <a:ext uri="{FF2B5EF4-FFF2-40B4-BE49-F238E27FC236}">
                <a16:creationId xmlns:a16="http://schemas.microsoft.com/office/drawing/2014/main" id="{5462164F-0E10-5F15-3085-8C89C638D8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20457" y="9339943"/>
            <a:ext cx="3135086" cy="3135086"/>
          </a:xfrm>
          <a:prstGeom prst="rect">
            <a:avLst/>
          </a:prstGeom>
        </p:spPr>
      </p:pic>
      <p:sp>
        <p:nvSpPr>
          <p:cNvPr id="6" name="TextBox 5">
            <a:extLst>
              <a:ext uri="{FF2B5EF4-FFF2-40B4-BE49-F238E27FC236}">
                <a16:creationId xmlns:a16="http://schemas.microsoft.com/office/drawing/2014/main" id="{CA48BE27-F9A6-895A-42F0-2168F3E83958}"/>
              </a:ext>
            </a:extLst>
          </p:cNvPr>
          <p:cNvSpPr txBox="1"/>
          <p:nvPr/>
        </p:nvSpPr>
        <p:spPr>
          <a:xfrm>
            <a:off x="16957283" y="12475029"/>
            <a:ext cx="2661434" cy="1323439"/>
          </a:xfrm>
          <a:prstGeom prst="rect">
            <a:avLst/>
          </a:prstGeom>
          <a:noFill/>
        </p:spPr>
        <p:txBody>
          <a:bodyPr wrap="none" rtlCol="0">
            <a:spAutoFit/>
          </a:bodyPr>
          <a:lstStyle/>
          <a:p>
            <a:pPr algn="ctr"/>
            <a:r>
              <a:rPr lang="en-US" sz="8000" dirty="0">
                <a:latin typeface="NVIDIA Sans" panose="020B0503020203020204" pitchFamily="34" charset="0"/>
                <a:cs typeface="NVIDIA Sans" panose="020B0503020203020204" pitchFamily="34" charset="0"/>
              </a:rPr>
              <a:t>Brain</a:t>
            </a:r>
          </a:p>
        </p:txBody>
      </p:sp>
      <p:pic>
        <p:nvPicPr>
          <p:cNvPr id="7" name="Graphic 6" descr="Nose with solid fill">
            <a:extLst>
              <a:ext uri="{FF2B5EF4-FFF2-40B4-BE49-F238E27FC236}">
                <a16:creationId xmlns:a16="http://schemas.microsoft.com/office/drawing/2014/main" id="{0E185B85-C362-BE7A-2C9C-323B3393620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000184" y="8174227"/>
            <a:ext cx="1787917" cy="1787917"/>
          </a:xfrm>
          <a:prstGeom prst="rect">
            <a:avLst/>
          </a:prstGeom>
        </p:spPr>
      </p:pic>
      <p:pic>
        <p:nvPicPr>
          <p:cNvPr id="8" name="Graphic 7" descr="Tongue with solid fill">
            <a:extLst>
              <a:ext uri="{FF2B5EF4-FFF2-40B4-BE49-F238E27FC236}">
                <a16:creationId xmlns:a16="http://schemas.microsoft.com/office/drawing/2014/main" id="{CDCD842C-7AFB-8153-A803-016710DDA00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862597" y="14663056"/>
            <a:ext cx="1787917" cy="1787917"/>
          </a:xfrm>
          <a:prstGeom prst="rect">
            <a:avLst/>
          </a:prstGeom>
        </p:spPr>
      </p:pic>
      <p:pic>
        <p:nvPicPr>
          <p:cNvPr id="9" name="Graphic 8" descr="Ear with solid fill">
            <a:extLst>
              <a:ext uri="{FF2B5EF4-FFF2-40B4-BE49-F238E27FC236}">
                <a16:creationId xmlns:a16="http://schemas.microsoft.com/office/drawing/2014/main" id="{78816FB0-C334-0DB5-566B-154274AF7F2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043900" y="14663056"/>
            <a:ext cx="1787917" cy="1787917"/>
          </a:xfrm>
          <a:prstGeom prst="rect">
            <a:avLst/>
          </a:prstGeom>
        </p:spPr>
      </p:pic>
      <p:pic>
        <p:nvPicPr>
          <p:cNvPr id="11" name="Graphic 10" descr="Handshake with solid fill">
            <a:extLst>
              <a:ext uri="{FF2B5EF4-FFF2-40B4-BE49-F238E27FC236}">
                <a16:creationId xmlns:a16="http://schemas.microsoft.com/office/drawing/2014/main" id="{6E158599-5C7C-8833-E29E-FF62A2C5172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866217" y="8174226"/>
            <a:ext cx="1787917" cy="1787917"/>
          </a:xfrm>
          <a:prstGeom prst="rect">
            <a:avLst/>
          </a:prstGeom>
        </p:spPr>
      </p:pic>
      <p:pic>
        <p:nvPicPr>
          <p:cNvPr id="12" name="Graphic 11" descr="Eye with solid fill">
            <a:extLst>
              <a:ext uri="{FF2B5EF4-FFF2-40B4-BE49-F238E27FC236}">
                <a16:creationId xmlns:a16="http://schemas.microsoft.com/office/drawing/2014/main" id="{15FAD461-0DE2-8999-A314-CB8E6B90DEF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394041" y="4183453"/>
            <a:ext cx="1787917" cy="1787917"/>
          </a:xfrm>
          <a:prstGeom prst="rect">
            <a:avLst/>
          </a:prstGeom>
        </p:spPr>
      </p:pic>
      <p:pic>
        <p:nvPicPr>
          <p:cNvPr id="14" name="Picture 13">
            <a:extLst>
              <a:ext uri="{FF2B5EF4-FFF2-40B4-BE49-F238E27FC236}">
                <a16:creationId xmlns:a16="http://schemas.microsoft.com/office/drawing/2014/main" id="{B1FF7BE1-2560-2134-4D16-0E983E5D4196}"/>
              </a:ext>
            </a:extLst>
          </p:cNvPr>
          <p:cNvPicPr>
            <a:picLocks noChangeAspect="1"/>
          </p:cNvPicPr>
          <p:nvPr/>
        </p:nvPicPr>
        <p:blipFill>
          <a:blip r:embed="rId15"/>
          <a:stretch>
            <a:fillRect/>
          </a:stretch>
        </p:blipFill>
        <p:spPr>
          <a:xfrm>
            <a:off x="6571261" y="3895344"/>
            <a:ext cx="23433475" cy="15078933"/>
          </a:xfrm>
          <a:prstGeom prst="rect">
            <a:avLst/>
          </a:prstGeom>
        </p:spPr>
      </p:pic>
      <p:sp>
        <p:nvSpPr>
          <p:cNvPr id="16" name="Text Placeholder 2">
            <a:extLst>
              <a:ext uri="{FF2B5EF4-FFF2-40B4-BE49-F238E27FC236}">
                <a16:creationId xmlns:a16="http://schemas.microsoft.com/office/drawing/2014/main" id="{1625C208-AC33-2445-5326-4848C9E4A8FA}"/>
              </a:ext>
            </a:extLst>
          </p:cNvPr>
          <p:cNvSpPr>
            <a:spLocks noGrp="1"/>
          </p:cNvSpPr>
          <p:nvPr>
            <p:ph type="body" sz="quarter" idx="10"/>
          </p:nvPr>
        </p:nvSpPr>
        <p:spPr>
          <a:xfrm>
            <a:off x="2514600" y="2487168"/>
            <a:ext cx="31546800" cy="1408176"/>
          </a:xfrm>
        </p:spPr>
        <p:txBody>
          <a:bodyPr/>
          <a:lstStyle/>
          <a:p>
            <a:r>
              <a:rPr lang="en-US" dirty="0"/>
              <a:t>Finding the Center</a:t>
            </a:r>
          </a:p>
        </p:txBody>
      </p:sp>
      <p:cxnSp>
        <p:nvCxnSpPr>
          <p:cNvPr id="20" name="Straight Connector 19">
            <a:extLst>
              <a:ext uri="{FF2B5EF4-FFF2-40B4-BE49-F238E27FC236}">
                <a16:creationId xmlns:a16="http://schemas.microsoft.com/office/drawing/2014/main" id="{F239960A-AD85-448C-7342-B2D3BCFAD96A}"/>
              </a:ext>
            </a:extLst>
          </p:cNvPr>
          <p:cNvCxnSpPr>
            <a:cxnSpLocks/>
          </p:cNvCxnSpPr>
          <p:nvPr/>
        </p:nvCxnSpPr>
        <p:spPr>
          <a:xfrm flipH="1">
            <a:off x="24935904" y="9962143"/>
            <a:ext cx="633491" cy="207136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40E5872-2697-DC05-B20C-90AD5956AE07}"/>
              </a:ext>
            </a:extLst>
          </p:cNvPr>
          <p:cNvCxnSpPr>
            <a:cxnSpLocks/>
          </p:cNvCxnSpPr>
          <p:nvPr/>
        </p:nvCxnSpPr>
        <p:spPr>
          <a:xfrm flipH="1">
            <a:off x="25600036" y="9962142"/>
            <a:ext cx="1795388"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396588E-36D1-F63C-08AD-0BEE2E9CA3BA}"/>
              </a:ext>
            </a:extLst>
          </p:cNvPr>
          <p:cNvCxnSpPr>
            <a:cxnSpLocks/>
          </p:cNvCxnSpPr>
          <p:nvPr/>
        </p:nvCxnSpPr>
        <p:spPr>
          <a:xfrm>
            <a:off x="24396192" y="9363696"/>
            <a:ext cx="1203844" cy="59844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2361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F2D67-4CF4-5A17-2344-8A17163276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078B3-740C-EBE3-D90F-9B71EA1CB3F6}"/>
              </a:ext>
            </a:extLst>
          </p:cNvPr>
          <p:cNvSpPr>
            <a:spLocks noGrp="1"/>
          </p:cNvSpPr>
          <p:nvPr>
            <p:ph type="title"/>
          </p:nvPr>
        </p:nvSpPr>
        <p:spPr/>
        <p:txBody>
          <a:bodyPr/>
          <a:lstStyle/>
          <a:p>
            <a:r>
              <a:rPr lang="en-US" dirty="0"/>
              <a:t>Intermediate Fusion</a:t>
            </a:r>
          </a:p>
        </p:txBody>
      </p:sp>
      <p:sp>
        <p:nvSpPr>
          <p:cNvPr id="13" name="TextBox 12">
            <a:extLst>
              <a:ext uri="{FF2B5EF4-FFF2-40B4-BE49-F238E27FC236}">
                <a16:creationId xmlns:a16="http://schemas.microsoft.com/office/drawing/2014/main" id="{C9639155-6B8A-3E24-BEEC-E8FAD6573E69}"/>
              </a:ext>
            </a:extLst>
          </p:cNvPr>
          <p:cNvSpPr txBox="1"/>
          <p:nvPr/>
        </p:nvSpPr>
        <p:spPr>
          <a:xfrm>
            <a:off x="15389740" y="14541573"/>
            <a:ext cx="2661434" cy="1323439"/>
          </a:xfrm>
          <a:prstGeom prst="rect">
            <a:avLst/>
          </a:prstGeom>
          <a:noFill/>
        </p:spPr>
        <p:txBody>
          <a:bodyPr wrap="none" rtlCol="0">
            <a:spAutoFit/>
          </a:bodyPr>
          <a:lstStyle/>
          <a:p>
            <a:pPr algn="ctr"/>
            <a:r>
              <a:rPr lang="en-US" sz="8000" dirty="0">
                <a:latin typeface="NVIDIA Sans" panose="020B0503020203020204" pitchFamily="34" charset="0"/>
                <a:cs typeface="NVIDIA Sans" panose="020B0503020203020204" pitchFamily="34" charset="0"/>
              </a:rPr>
              <a:t>Brain</a:t>
            </a:r>
          </a:p>
        </p:txBody>
      </p:sp>
      <p:pic>
        <p:nvPicPr>
          <p:cNvPr id="19" name="Graphic 18" descr="Tongue with solid fill">
            <a:extLst>
              <a:ext uri="{FF2B5EF4-FFF2-40B4-BE49-F238E27FC236}">
                <a16:creationId xmlns:a16="http://schemas.microsoft.com/office/drawing/2014/main" id="{C6C58A4C-E136-35B3-C972-56BFC80872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862597" y="14663056"/>
            <a:ext cx="1787917" cy="1787917"/>
          </a:xfrm>
          <a:prstGeom prst="rect">
            <a:avLst/>
          </a:prstGeom>
        </p:spPr>
      </p:pic>
      <p:pic>
        <p:nvPicPr>
          <p:cNvPr id="23" name="Graphic 22" descr="Ear with solid fill">
            <a:extLst>
              <a:ext uri="{FF2B5EF4-FFF2-40B4-BE49-F238E27FC236}">
                <a16:creationId xmlns:a16="http://schemas.microsoft.com/office/drawing/2014/main" id="{10300B40-CE39-C27F-823D-D07A77B822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043900" y="14663056"/>
            <a:ext cx="1787917" cy="1787917"/>
          </a:xfrm>
          <a:prstGeom prst="rect">
            <a:avLst/>
          </a:prstGeom>
        </p:spPr>
      </p:pic>
      <p:pic>
        <p:nvPicPr>
          <p:cNvPr id="15" name="Graphic 14" descr="Eye with solid fill">
            <a:extLst>
              <a:ext uri="{FF2B5EF4-FFF2-40B4-BE49-F238E27FC236}">
                <a16:creationId xmlns:a16="http://schemas.microsoft.com/office/drawing/2014/main" id="{E5950F65-36D1-D85E-D885-1B4DB434B8D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826498" y="6249997"/>
            <a:ext cx="1787917" cy="1787917"/>
          </a:xfrm>
          <a:prstGeom prst="rect">
            <a:avLst/>
          </a:prstGeom>
        </p:spPr>
      </p:pic>
      <p:sp>
        <p:nvSpPr>
          <p:cNvPr id="6" name="TextBox 5">
            <a:extLst>
              <a:ext uri="{FF2B5EF4-FFF2-40B4-BE49-F238E27FC236}">
                <a16:creationId xmlns:a16="http://schemas.microsoft.com/office/drawing/2014/main" id="{5D515DCD-322F-679F-5C53-41BBDC2F052D}"/>
              </a:ext>
            </a:extLst>
          </p:cNvPr>
          <p:cNvSpPr txBox="1"/>
          <p:nvPr/>
        </p:nvSpPr>
        <p:spPr>
          <a:xfrm>
            <a:off x="15389740" y="14541573"/>
            <a:ext cx="2661434" cy="1323439"/>
          </a:xfrm>
          <a:prstGeom prst="rect">
            <a:avLst/>
          </a:prstGeom>
          <a:noFill/>
        </p:spPr>
        <p:txBody>
          <a:bodyPr wrap="none" rtlCol="0">
            <a:spAutoFit/>
          </a:bodyPr>
          <a:lstStyle/>
          <a:p>
            <a:pPr algn="ctr"/>
            <a:r>
              <a:rPr lang="en-US" sz="8000" dirty="0">
                <a:latin typeface="NVIDIA Sans" panose="020B0503020203020204" pitchFamily="34" charset="0"/>
                <a:cs typeface="NVIDIA Sans" panose="020B0503020203020204" pitchFamily="34" charset="0"/>
              </a:rPr>
              <a:t>Brain</a:t>
            </a:r>
          </a:p>
        </p:txBody>
      </p:sp>
      <p:pic>
        <p:nvPicPr>
          <p:cNvPr id="8" name="Graphic 7" descr="Tongue with solid fill">
            <a:extLst>
              <a:ext uri="{FF2B5EF4-FFF2-40B4-BE49-F238E27FC236}">
                <a16:creationId xmlns:a16="http://schemas.microsoft.com/office/drawing/2014/main" id="{152C3303-7260-8BB4-7C96-C8F986FC24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862597" y="14663056"/>
            <a:ext cx="1787917" cy="1787917"/>
          </a:xfrm>
          <a:prstGeom prst="rect">
            <a:avLst/>
          </a:prstGeom>
        </p:spPr>
      </p:pic>
      <p:pic>
        <p:nvPicPr>
          <p:cNvPr id="9" name="Graphic 8" descr="Ear with solid fill">
            <a:extLst>
              <a:ext uri="{FF2B5EF4-FFF2-40B4-BE49-F238E27FC236}">
                <a16:creationId xmlns:a16="http://schemas.microsoft.com/office/drawing/2014/main" id="{88C0A25D-B4F1-DB0A-FCAA-080C4DB66E9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043900" y="14663056"/>
            <a:ext cx="1787917" cy="1787917"/>
          </a:xfrm>
          <a:prstGeom prst="rect">
            <a:avLst/>
          </a:prstGeom>
        </p:spPr>
      </p:pic>
      <p:pic>
        <p:nvPicPr>
          <p:cNvPr id="12" name="Graphic 11" descr="Eye with solid fill">
            <a:extLst>
              <a:ext uri="{FF2B5EF4-FFF2-40B4-BE49-F238E27FC236}">
                <a16:creationId xmlns:a16="http://schemas.microsoft.com/office/drawing/2014/main" id="{248A8236-D254-95EE-CA5B-3B3AC3EC242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826498" y="6249997"/>
            <a:ext cx="1787917" cy="1787917"/>
          </a:xfrm>
          <a:prstGeom prst="rect">
            <a:avLst/>
          </a:prstGeom>
        </p:spPr>
      </p:pic>
      <p:sp>
        <p:nvSpPr>
          <p:cNvPr id="16" name="Text Placeholder 2">
            <a:extLst>
              <a:ext uri="{FF2B5EF4-FFF2-40B4-BE49-F238E27FC236}">
                <a16:creationId xmlns:a16="http://schemas.microsoft.com/office/drawing/2014/main" id="{7AADA9CD-1C34-98FB-8F01-1621FC26006D}"/>
              </a:ext>
            </a:extLst>
          </p:cNvPr>
          <p:cNvSpPr>
            <a:spLocks noGrp="1"/>
          </p:cNvSpPr>
          <p:nvPr>
            <p:ph type="body" sz="quarter" idx="10"/>
          </p:nvPr>
        </p:nvSpPr>
        <p:spPr>
          <a:xfrm>
            <a:off x="2514600" y="2487168"/>
            <a:ext cx="31546800" cy="1408176"/>
          </a:xfrm>
        </p:spPr>
        <p:txBody>
          <a:bodyPr/>
          <a:lstStyle/>
          <a:p>
            <a:r>
              <a:rPr lang="en-US" dirty="0"/>
              <a:t>Finding the Center</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CB96CB7-40E8-5D12-1346-9BA8597CA777}"/>
                  </a:ext>
                </a:extLst>
              </p:cNvPr>
              <p:cNvSpPr txBox="1"/>
              <p:nvPr/>
            </p:nvSpPr>
            <p:spPr>
              <a:xfrm>
                <a:off x="13854042" y="10240770"/>
                <a:ext cx="6514989" cy="1329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9600" b="0" i="1" smtClean="0">
                          <a:solidFill>
                            <a:schemeClr val="bg1"/>
                          </a:solidFill>
                          <a:latin typeface="Cambria Math" panose="02040503050406030204" pitchFamily="18" charset="0"/>
                        </a:rPr>
                        <m:t>𝑦</m:t>
                      </m:r>
                      <m:r>
                        <a:rPr lang="en-US" sz="9600" b="0" i="1" smtClean="0">
                          <a:solidFill>
                            <a:schemeClr val="bg1"/>
                          </a:solidFill>
                          <a:latin typeface="Cambria Math" panose="02040503050406030204" pitchFamily="18" charset="0"/>
                        </a:rPr>
                        <m:t>=</m:t>
                      </m:r>
                      <m:r>
                        <a:rPr lang="en-US" sz="9600" b="0" i="1" smtClean="0">
                          <a:solidFill>
                            <a:schemeClr val="bg1"/>
                          </a:solidFill>
                          <a:latin typeface="Cambria Math" panose="02040503050406030204" pitchFamily="18" charset="0"/>
                        </a:rPr>
                        <m:t>𝑚𝑥</m:t>
                      </m:r>
                      <m:r>
                        <a:rPr lang="en-US" sz="9600" b="0" i="1" smtClean="0">
                          <a:solidFill>
                            <a:schemeClr val="bg1"/>
                          </a:solidFill>
                          <a:latin typeface="Cambria Math" panose="02040503050406030204" pitchFamily="18" charset="0"/>
                        </a:rPr>
                        <m:t>+</m:t>
                      </m:r>
                      <m:r>
                        <a:rPr lang="en-US" sz="9600" b="0" i="1" smtClean="0">
                          <a:solidFill>
                            <a:schemeClr val="bg1"/>
                          </a:solidFill>
                          <a:latin typeface="Cambria Math" panose="02040503050406030204" pitchFamily="18" charset="0"/>
                        </a:rPr>
                        <m:t>𝑏</m:t>
                      </m:r>
                    </m:oMath>
                  </m:oMathPara>
                </a14:m>
                <a:endParaRPr lang="en-US" sz="9600" dirty="0">
                  <a:solidFill>
                    <a:schemeClr val="bg1"/>
                  </a:solidFill>
                </a:endParaRPr>
              </a:p>
            </p:txBody>
          </p:sp>
        </mc:Choice>
        <mc:Fallback xmlns="">
          <p:sp>
            <p:nvSpPr>
              <p:cNvPr id="4" name="TextBox 3">
                <a:extLst>
                  <a:ext uri="{FF2B5EF4-FFF2-40B4-BE49-F238E27FC236}">
                    <a16:creationId xmlns:a16="http://schemas.microsoft.com/office/drawing/2014/main" id="{CCB96CB7-40E8-5D12-1346-9BA8597CA777}"/>
                  </a:ext>
                </a:extLst>
              </p:cNvPr>
              <p:cNvSpPr txBox="1">
                <a:spLocks noRot="1" noChangeAspect="1" noMove="1" noResize="1" noEditPoints="1" noAdjustHandles="1" noChangeArrowheads="1" noChangeShapeType="1" noTextEdit="1"/>
              </p:cNvSpPr>
              <p:nvPr/>
            </p:nvSpPr>
            <p:spPr>
              <a:xfrm>
                <a:off x="13854042" y="10240770"/>
                <a:ext cx="6514989" cy="1329595"/>
              </a:xfrm>
              <a:prstGeom prst="rect">
                <a:avLst/>
              </a:prstGeom>
              <a:blipFill>
                <a:blip r:embed="rId9"/>
                <a:stretch>
                  <a:fillRect/>
                </a:stretch>
              </a:blipFill>
              <a:ln w="6350">
                <a:noFill/>
              </a:ln>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FEA1397C-9508-0947-9F20-907DBD026B36}"/>
              </a:ext>
            </a:extLst>
          </p:cNvPr>
          <p:cNvCxnSpPr>
            <a:cxnSpLocks/>
            <a:stCxn id="24" idx="2"/>
          </p:cNvCxnSpPr>
          <p:nvPr/>
        </p:nvCxnSpPr>
        <p:spPr>
          <a:xfrm flipH="1">
            <a:off x="16497032" y="7754113"/>
            <a:ext cx="1790968" cy="2486657"/>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A6F04BBE-49E4-FF0C-325C-8099A0AC263A}"/>
              </a:ext>
            </a:extLst>
          </p:cNvPr>
          <p:cNvSpPr/>
          <p:nvPr/>
        </p:nvSpPr>
        <p:spPr>
          <a:xfrm>
            <a:off x="13766800" y="6382512"/>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Static after training</a:t>
            </a:r>
          </a:p>
        </p:txBody>
      </p:sp>
      <p:cxnSp>
        <p:nvCxnSpPr>
          <p:cNvPr id="25" name="Straight Arrow Connector 24">
            <a:extLst>
              <a:ext uri="{FF2B5EF4-FFF2-40B4-BE49-F238E27FC236}">
                <a16:creationId xmlns:a16="http://schemas.microsoft.com/office/drawing/2014/main" id="{3CDAC827-3D96-CE37-75AB-0369CD6FC2EB}"/>
              </a:ext>
            </a:extLst>
          </p:cNvPr>
          <p:cNvCxnSpPr>
            <a:cxnSpLocks/>
            <a:stCxn id="24" idx="2"/>
          </p:cNvCxnSpPr>
          <p:nvPr/>
        </p:nvCxnSpPr>
        <p:spPr>
          <a:xfrm>
            <a:off x="18288000" y="7754113"/>
            <a:ext cx="1386113" cy="2295384"/>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777B321D-BD50-ADE8-FF4F-55D19E9DC068}"/>
              </a:ext>
            </a:extLst>
          </p:cNvPr>
          <p:cNvSpPr/>
          <p:nvPr/>
        </p:nvSpPr>
        <p:spPr>
          <a:xfrm>
            <a:off x="11740371" y="13169972"/>
            <a:ext cx="12621605"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Variable after training is complete</a:t>
            </a:r>
          </a:p>
        </p:txBody>
      </p:sp>
      <p:cxnSp>
        <p:nvCxnSpPr>
          <p:cNvPr id="35" name="Straight Arrow Connector 34">
            <a:extLst>
              <a:ext uri="{FF2B5EF4-FFF2-40B4-BE49-F238E27FC236}">
                <a16:creationId xmlns:a16="http://schemas.microsoft.com/office/drawing/2014/main" id="{91E1085F-B1B4-9B4B-4568-83DF8EF500E5}"/>
              </a:ext>
            </a:extLst>
          </p:cNvPr>
          <p:cNvCxnSpPr>
            <a:cxnSpLocks/>
            <a:stCxn id="34" idx="0"/>
          </p:cNvCxnSpPr>
          <p:nvPr/>
        </p:nvCxnSpPr>
        <p:spPr>
          <a:xfrm flipH="1" flipV="1">
            <a:off x="17732828" y="11537116"/>
            <a:ext cx="318346" cy="1632856"/>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29590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17216-CD9A-C989-7DD1-94B013875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EB39B-6097-B165-B89A-42E524C20F0F}"/>
              </a:ext>
            </a:extLst>
          </p:cNvPr>
          <p:cNvSpPr>
            <a:spLocks noGrp="1"/>
          </p:cNvSpPr>
          <p:nvPr>
            <p:ph type="title"/>
          </p:nvPr>
        </p:nvSpPr>
        <p:spPr/>
        <p:txBody>
          <a:bodyPr/>
          <a:lstStyle/>
          <a:p>
            <a:r>
              <a:rPr lang="en-US" dirty="0"/>
              <a:t>Intermediate Fusion</a:t>
            </a:r>
          </a:p>
        </p:txBody>
      </p:sp>
      <p:pic>
        <p:nvPicPr>
          <p:cNvPr id="7" name="Picture 4">
            <a:extLst>
              <a:ext uri="{FF2B5EF4-FFF2-40B4-BE49-F238E27FC236}">
                <a16:creationId xmlns:a16="http://schemas.microsoft.com/office/drawing/2014/main" id="{9FD14E99-C07F-58D0-1E3A-DEECE49CDE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1035" y="3328032"/>
            <a:ext cx="4259750" cy="42495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DC13EE6-E697-9A50-EFDF-2A8A9257A798}"/>
              </a:ext>
            </a:extLst>
          </p:cNvPr>
          <p:cNvPicPr>
            <a:picLocks noChangeAspect="1"/>
          </p:cNvPicPr>
          <p:nvPr/>
        </p:nvPicPr>
        <p:blipFill>
          <a:blip r:embed="rId4"/>
          <a:srcRect l="8859" t="19593" r="8286" b="12616"/>
          <a:stretch/>
        </p:blipFill>
        <p:spPr>
          <a:xfrm>
            <a:off x="21839937" y="3328032"/>
            <a:ext cx="5407839" cy="4424596"/>
          </a:xfrm>
          <a:prstGeom prst="rect">
            <a:avLst/>
          </a:prstGeom>
        </p:spPr>
      </p:pic>
      <p:sp>
        <p:nvSpPr>
          <p:cNvPr id="9" name="Rectangle 8">
            <a:extLst>
              <a:ext uri="{FF2B5EF4-FFF2-40B4-BE49-F238E27FC236}">
                <a16:creationId xmlns:a16="http://schemas.microsoft.com/office/drawing/2014/main" id="{0590434E-C92D-24DF-EB21-27A68D94260A}"/>
              </a:ext>
            </a:extLst>
          </p:cNvPr>
          <p:cNvSpPr/>
          <p:nvPr/>
        </p:nvSpPr>
        <p:spPr>
          <a:xfrm>
            <a:off x="20413473" y="12288435"/>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Flatten</a:t>
            </a:r>
          </a:p>
        </p:txBody>
      </p:sp>
      <p:sp>
        <p:nvSpPr>
          <p:cNvPr id="10" name="Rectangle 9">
            <a:extLst>
              <a:ext uri="{FF2B5EF4-FFF2-40B4-BE49-F238E27FC236}">
                <a16:creationId xmlns:a16="http://schemas.microsoft.com/office/drawing/2014/main" id="{E615FFA0-5A70-38E7-8055-FED5CB957415}"/>
              </a:ext>
            </a:extLst>
          </p:cNvPr>
          <p:cNvSpPr/>
          <p:nvPr/>
        </p:nvSpPr>
        <p:spPr>
          <a:xfrm>
            <a:off x="20413473" y="1010340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2" name="Rectangle 11">
            <a:extLst>
              <a:ext uri="{FF2B5EF4-FFF2-40B4-BE49-F238E27FC236}">
                <a16:creationId xmlns:a16="http://schemas.microsoft.com/office/drawing/2014/main" id="{ABF6AC1A-9FBA-44F4-A277-1344F04EB43B}"/>
              </a:ext>
            </a:extLst>
          </p:cNvPr>
          <p:cNvSpPr/>
          <p:nvPr/>
        </p:nvSpPr>
        <p:spPr>
          <a:xfrm>
            <a:off x="6160345" y="12288435"/>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Flatten</a:t>
            </a:r>
          </a:p>
        </p:txBody>
      </p:sp>
      <p:sp>
        <p:nvSpPr>
          <p:cNvPr id="13" name="Rectangle 12">
            <a:extLst>
              <a:ext uri="{FF2B5EF4-FFF2-40B4-BE49-F238E27FC236}">
                <a16:creationId xmlns:a16="http://schemas.microsoft.com/office/drawing/2014/main" id="{1D6127F4-00E7-01A1-F49C-9CC952F5C7B7}"/>
              </a:ext>
            </a:extLst>
          </p:cNvPr>
          <p:cNvSpPr/>
          <p:nvPr/>
        </p:nvSpPr>
        <p:spPr>
          <a:xfrm>
            <a:off x="6160345" y="1010340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4" name="Rectangle 13">
            <a:extLst>
              <a:ext uri="{FF2B5EF4-FFF2-40B4-BE49-F238E27FC236}">
                <a16:creationId xmlns:a16="http://schemas.microsoft.com/office/drawing/2014/main" id="{B8953567-B788-BC72-E15E-2B5B5D3ADFE1}"/>
              </a:ext>
            </a:extLst>
          </p:cNvPr>
          <p:cNvSpPr/>
          <p:nvPr/>
        </p:nvSpPr>
        <p:spPr>
          <a:xfrm>
            <a:off x="13174472" y="14345477"/>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Concatenate</a:t>
            </a:r>
          </a:p>
        </p:txBody>
      </p:sp>
      <p:cxnSp>
        <p:nvCxnSpPr>
          <p:cNvPr id="16" name="Straight Arrow Connector 15">
            <a:extLst>
              <a:ext uri="{FF2B5EF4-FFF2-40B4-BE49-F238E27FC236}">
                <a16:creationId xmlns:a16="http://schemas.microsoft.com/office/drawing/2014/main" id="{27D4BCBC-6369-2C70-8F98-FDA94CA34521}"/>
              </a:ext>
            </a:extLst>
          </p:cNvPr>
          <p:cNvCxnSpPr>
            <a:cxnSpLocks/>
          </p:cNvCxnSpPr>
          <p:nvPr/>
        </p:nvCxnSpPr>
        <p:spPr>
          <a:xfrm>
            <a:off x="10681545" y="11475004"/>
            <a:ext cx="0" cy="813072"/>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17AD7C5-9B41-0ABB-6C57-D6F2D16F4E0D}"/>
              </a:ext>
            </a:extLst>
          </p:cNvPr>
          <p:cNvCxnSpPr>
            <a:cxnSpLocks/>
          </p:cNvCxnSpPr>
          <p:nvPr/>
        </p:nvCxnSpPr>
        <p:spPr>
          <a:xfrm>
            <a:off x="24934673" y="11475004"/>
            <a:ext cx="19301" cy="813790"/>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B608D49-0EC7-A9B1-1C69-50A98E6F14C6}"/>
              </a:ext>
            </a:extLst>
          </p:cNvPr>
          <p:cNvCxnSpPr>
            <a:cxnSpLocks/>
            <a:stCxn id="12" idx="2"/>
            <a:endCxn id="14" idx="0"/>
          </p:cNvCxnSpPr>
          <p:nvPr/>
        </p:nvCxnSpPr>
        <p:spPr>
          <a:xfrm>
            <a:off x="10681545" y="13660036"/>
            <a:ext cx="7014127" cy="685441"/>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D6E3CC-7718-E7F7-451E-6BE166B3ADFB}"/>
              </a:ext>
            </a:extLst>
          </p:cNvPr>
          <p:cNvCxnSpPr>
            <a:cxnSpLocks/>
            <a:stCxn id="9" idx="2"/>
            <a:endCxn id="14" idx="0"/>
          </p:cNvCxnSpPr>
          <p:nvPr/>
        </p:nvCxnSpPr>
        <p:spPr>
          <a:xfrm flipH="1">
            <a:off x="17695672" y="13660036"/>
            <a:ext cx="7239001" cy="685441"/>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98C26A0-7FE3-BDE2-184A-2025ADDD92B7}"/>
              </a:ext>
            </a:extLst>
          </p:cNvPr>
          <p:cNvSpPr/>
          <p:nvPr/>
        </p:nvSpPr>
        <p:spPr>
          <a:xfrm>
            <a:off x="20413473" y="7880258"/>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5" name="Rectangle 14">
            <a:extLst>
              <a:ext uri="{FF2B5EF4-FFF2-40B4-BE49-F238E27FC236}">
                <a16:creationId xmlns:a16="http://schemas.microsoft.com/office/drawing/2014/main" id="{38D339EE-BAAB-1E9A-9AD6-D7638C725193}"/>
              </a:ext>
            </a:extLst>
          </p:cNvPr>
          <p:cNvSpPr/>
          <p:nvPr/>
        </p:nvSpPr>
        <p:spPr>
          <a:xfrm>
            <a:off x="6160345" y="7880258"/>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cxnSp>
        <p:nvCxnSpPr>
          <p:cNvPr id="17" name="Straight Arrow Connector 16">
            <a:extLst>
              <a:ext uri="{FF2B5EF4-FFF2-40B4-BE49-F238E27FC236}">
                <a16:creationId xmlns:a16="http://schemas.microsoft.com/office/drawing/2014/main" id="{CFA2590D-3DC9-2474-15A4-1F8F24765A97}"/>
              </a:ext>
            </a:extLst>
          </p:cNvPr>
          <p:cNvCxnSpPr>
            <a:cxnSpLocks/>
            <a:endCxn id="13" idx="0"/>
          </p:cNvCxnSpPr>
          <p:nvPr/>
        </p:nvCxnSpPr>
        <p:spPr>
          <a:xfrm>
            <a:off x="10681545" y="9251859"/>
            <a:ext cx="0" cy="851544"/>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70AEC6D-9C7C-E6FA-9A7A-4289696ED2E6}"/>
              </a:ext>
            </a:extLst>
          </p:cNvPr>
          <p:cNvCxnSpPr>
            <a:cxnSpLocks/>
            <a:endCxn id="10" idx="0"/>
          </p:cNvCxnSpPr>
          <p:nvPr/>
        </p:nvCxnSpPr>
        <p:spPr>
          <a:xfrm>
            <a:off x="24934673" y="9251859"/>
            <a:ext cx="0" cy="851544"/>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F533D4D-D80C-B8C1-5427-25748C6EE2F3}"/>
              </a:ext>
            </a:extLst>
          </p:cNvPr>
          <p:cNvSpPr/>
          <p:nvPr/>
        </p:nvSpPr>
        <p:spPr>
          <a:xfrm>
            <a:off x="13174472" y="18212262"/>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Dense</a:t>
            </a:r>
          </a:p>
        </p:txBody>
      </p:sp>
      <p:sp>
        <p:nvSpPr>
          <p:cNvPr id="24" name="Rectangle 23">
            <a:extLst>
              <a:ext uri="{FF2B5EF4-FFF2-40B4-BE49-F238E27FC236}">
                <a16:creationId xmlns:a16="http://schemas.microsoft.com/office/drawing/2014/main" id="{C35C061B-7B25-C68E-C845-8BAB8707FD8F}"/>
              </a:ext>
            </a:extLst>
          </p:cNvPr>
          <p:cNvSpPr/>
          <p:nvPr/>
        </p:nvSpPr>
        <p:spPr>
          <a:xfrm>
            <a:off x="13174472" y="1630119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Dense</a:t>
            </a:r>
          </a:p>
        </p:txBody>
      </p:sp>
      <p:cxnSp>
        <p:nvCxnSpPr>
          <p:cNvPr id="26" name="Straight Arrow Connector 25">
            <a:extLst>
              <a:ext uri="{FF2B5EF4-FFF2-40B4-BE49-F238E27FC236}">
                <a16:creationId xmlns:a16="http://schemas.microsoft.com/office/drawing/2014/main" id="{DD4836EA-A3EB-D447-4DF6-D116511487A0}"/>
              </a:ext>
            </a:extLst>
          </p:cNvPr>
          <p:cNvCxnSpPr>
            <a:cxnSpLocks/>
          </p:cNvCxnSpPr>
          <p:nvPr/>
        </p:nvCxnSpPr>
        <p:spPr>
          <a:xfrm>
            <a:off x="17695672" y="17672794"/>
            <a:ext cx="0" cy="539468"/>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4B0D1E3-908D-9813-66AB-81C206DAF1AD}"/>
              </a:ext>
            </a:extLst>
          </p:cNvPr>
          <p:cNvCxnSpPr>
            <a:cxnSpLocks/>
          </p:cNvCxnSpPr>
          <p:nvPr/>
        </p:nvCxnSpPr>
        <p:spPr>
          <a:xfrm>
            <a:off x="17695672" y="15717078"/>
            <a:ext cx="0" cy="584115"/>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8971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49CE6-61CE-3FCA-1508-1C765116E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026F8-8E53-4E9C-754B-172038775A6C}"/>
              </a:ext>
            </a:extLst>
          </p:cNvPr>
          <p:cNvSpPr>
            <a:spLocks noGrp="1"/>
          </p:cNvSpPr>
          <p:nvPr>
            <p:ph type="title"/>
          </p:nvPr>
        </p:nvSpPr>
        <p:spPr/>
        <p:txBody>
          <a:bodyPr/>
          <a:lstStyle/>
          <a:p>
            <a:r>
              <a:rPr lang="en-US" dirty="0"/>
              <a:t>Intermediate Fusion</a:t>
            </a:r>
          </a:p>
        </p:txBody>
      </p:sp>
      <p:pic>
        <p:nvPicPr>
          <p:cNvPr id="7" name="Picture 4">
            <a:extLst>
              <a:ext uri="{FF2B5EF4-FFF2-40B4-BE49-F238E27FC236}">
                <a16:creationId xmlns:a16="http://schemas.microsoft.com/office/drawing/2014/main" id="{70487E01-983C-0D02-E787-6F2E5C3BC9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1035" y="3328032"/>
            <a:ext cx="4259750" cy="42495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B651613-C4CB-6309-FC40-4FF1E415243A}"/>
              </a:ext>
            </a:extLst>
          </p:cNvPr>
          <p:cNvPicPr>
            <a:picLocks noChangeAspect="1"/>
          </p:cNvPicPr>
          <p:nvPr/>
        </p:nvPicPr>
        <p:blipFill>
          <a:blip r:embed="rId4"/>
          <a:srcRect l="8859" t="19593" r="8286" b="12616"/>
          <a:stretch/>
        </p:blipFill>
        <p:spPr>
          <a:xfrm>
            <a:off x="21839937" y="3328032"/>
            <a:ext cx="5407839" cy="4424596"/>
          </a:xfrm>
          <a:prstGeom prst="rect">
            <a:avLst/>
          </a:prstGeom>
        </p:spPr>
      </p:pic>
      <p:sp>
        <p:nvSpPr>
          <p:cNvPr id="9" name="Rectangle 8">
            <a:extLst>
              <a:ext uri="{FF2B5EF4-FFF2-40B4-BE49-F238E27FC236}">
                <a16:creationId xmlns:a16="http://schemas.microsoft.com/office/drawing/2014/main" id="{1DD04C1F-47A0-10C2-0E6A-FDBD5EFAED72}"/>
              </a:ext>
            </a:extLst>
          </p:cNvPr>
          <p:cNvSpPr/>
          <p:nvPr/>
        </p:nvSpPr>
        <p:spPr>
          <a:xfrm>
            <a:off x="20413473" y="12288435"/>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Flatten</a:t>
            </a:r>
          </a:p>
        </p:txBody>
      </p:sp>
      <p:sp>
        <p:nvSpPr>
          <p:cNvPr id="10" name="Rectangle 9">
            <a:extLst>
              <a:ext uri="{FF2B5EF4-FFF2-40B4-BE49-F238E27FC236}">
                <a16:creationId xmlns:a16="http://schemas.microsoft.com/office/drawing/2014/main" id="{94875F34-8A85-15CD-BC4C-4DB4B9292113}"/>
              </a:ext>
            </a:extLst>
          </p:cNvPr>
          <p:cNvSpPr/>
          <p:nvPr/>
        </p:nvSpPr>
        <p:spPr>
          <a:xfrm>
            <a:off x="20413473" y="1010340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2" name="Rectangle 11">
            <a:extLst>
              <a:ext uri="{FF2B5EF4-FFF2-40B4-BE49-F238E27FC236}">
                <a16:creationId xmlns:a16="http://schemas.microsoft.com/office/drawing/2014/main" id="{999F5EA9-1AE8-4E56-78A1-719DA3E48C71}"/>
              </a:ext>
            </a:extLst>
          </p:cNvPr>
          <p:cNvSpPr/>
          <p:nvPr/>
        </p:nvSpPr>
        <p:spPr>
          <a:xfrm>
            <a:off x="6160345" y="12288435"/>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Flatten</a:t>
            </a:r>
          </a:p>
        </p:txBody>
      </p:sp>
      <p:sp>
        <p:nvSpPr>
          <p:cNvPr id="13" name="Rectangle 12">
            <a:extLst>
              <a:ext uri="{FF2B5EF4-FFF2-40B4-BE49-F238E27FC236}">
                <a16:creationId xmlns:a16="http://schemas.microsoft.com/office/drawing/2014/main" id="{8A1C93D7-ECC7-5232-88E4-C4D3416A4A31}"/>
              </a:ext>
            </a:extLst>
          </p:cNvPr>
          <p:cNvSpPr/>
          <p:nvPr/>
        </p:nvSpPr>
        <p:spPr>
          <a:xfrm>
            <a:off x="6160345" y="1010340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4" name="Rectangle 13">
            <a:extLst>
              <a:ext uri="{FF2B5EF4-FFF2-40B4-BE49-F238E27FC236}">
                <a16:creationId xmlns:a16="http://schemas.microsoft.com/office/drawing/2014/main" id="{D1E62DDF-A9B1-5E09-AED6-F28037401C0A}"/>
              </a:ext>
            </a:extLst>
          </p:cNvPr>
          <p:cNvSpPr/>
          <p:nvPr/>
        </p:nvSpPr>
        <p:spPr>
          <a:xfrm>
            <a:off x="13174472" y="14345477"/>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Concatenate</a:t>
            </a:r>
          </a:p>
        </p:txBody>
      </p:sp>
      <p:cxnSp>
        <p:nvCxnSpPr>
          <p:cNvPr id="16" name="Straight Arrow Connector 15">
            <a:extLst>
              <a:ext uri="{FF2B5EF4-FFF2-40B4-BE49-F238E27FC236}">
                <a16:creationId xmlns:a16="http://schemas.microsoft.com/office/drawing/2014/main" id="{4BAB070F-7D17-7D12-2AD2-039043CB2579}"/>
              </a:ext>
            </a:extLst>
          </p:cNvPr>
          <p:cNvCxnSpPr>
            <a:cxnSpLocks/>
          </p:cNvCxnSpPr>
          <p:nvPr/>
        </p:nvCxnSpPr>
        <p:spPr>
          <a:xfrm>
            <a:off x="10681545" y="11475004"/>
            <a:ext cx="0" cy="813072"/>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7BF2D1F-3585-BFDA-23D3-D18FCFEC1119}"/>
              </a:ext>
            </a:extLst>
          </p:cNvPr>
          <p:cNvCxnSpPr>
            <a:cxnSpLocks/>
          </p:cNvCxnSpPr>
          <p:nvPr/>
        </p:nvCxnSpPr>
        <p:spPr>
          <a:xfrm>
            <a:off x="24934673" y="11475004"/>
            <a:ext cx="19301" cy="813790"/>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09E6108-A3A5-D72E-A870-43323EB4003F}"/>
              </a:ext>
            </a:extLst>
          </p:cNvPr>
          <p:cNvCxnSpPr>
            <a:cxnSpLocks/>
            <a:stCxn id="12" idx="2"/>
            <a:endCxn id="14" idx="0"/>
          </p:cNvCxnSpPr>
          <p:nvPr/>
        </p:nvCxnSpPr>
        <p:spPr>
          <a:xfrm>
            <a:off x="10681545" y="13660036"/>
            <a:ext cx="7014127" cy="685441"/>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119A2D5-A6F2-42FE-BDC9-FED99F499634}"/>
              </a:ext>
            </a:extLst>
          </p:cNvPr>
          <p:cNvCxnSpPr>
            <a:cxnSpLocks/>
            <a:stCxn id="9" idx="2"/>
            <a:endCxn id="14" idx="0"/>
          </p:cNvCxnSpPr>
          <p:nvPr/>
        </p:nvCxnSpPr>
        <p:spPr>
          <a:xfrm flipH="1">
            <a:off x="17695672" y="13660036"/>
            <a:ext cx="7239001" cy="685441"/>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BD1BC24-CAA6-F9ED-13F6-672028C4FA5A}"/>
              </a:ext>
            </a:extLst>
          </p:cNvPr>
          <p:cNvSpPr/>
          <p:nvPr/>
        </p:nvSpPr>
        <p:spPr>
          <a:xfrm>
            <a:off x="20413473" y="7880258"/>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5" name="Rectangle 14">
            <a:extLst>
              <a:ext uri="{FF2B5EF4-FFF2-40B4-BE49-F238E27FC236}">
                <a16:creationId xmlns:a16="http://schemas.microsoft.com/office/drawing/2014/main" id="{05B59206-1A4F-2FDD-55AE-FF835476096F}"/>
              </a:ext>
            </a:extLst>
          </p:cNvPr>
          <p:cNvSpPr/>
          <p:nvPr/>
        </p:nvSpPr>
        <p:spPr>
          <a:xfrm>
            <a:off x="6160345" y="7880258"/>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cxnSp>
        <p:nvCxnSpPr>
          <p:cNvPr id="17" name="Straight Arrow Connector 16">
            <a:extLst>
              <a:ext uri="{FF2B5EF4-FFF2-40B4-BE49-F238E27FC236}">
                <a16:creationId xmlns:a16="http://schemas.microsoft.com/office/drawing/2014/main" id="{22E45600-9F44-00AE-AEE2-B68E01F417FC}"/>
              </a:ext>
            </a:extLst>
          </p:cNvPr>
          <p:cNvCxnSpPr>
            <a:cxnSpLocks/>
            <a:endCxn id="13" idx="0"/>
          </p:cNvCxnSpPr>
          <p:nvPr/>
        </p:nvCxnSpPr>
        <p:spPr>
          <a:xfrm>
            <a:off x="10681545" y="9251859"/>
            <a:ext cx="0" cy="851544"/>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E8079A7-82A3-3A9B-BEDD-9936B355C644}"/>
              </a:ext>
            </a:extLst>
          </p:cNvPr>
          <p:cNvCxnSpPr>
            <a:cxnSpLocks/>
            <a:endCxn id="10" idx="0"/>
          </p:cNvCxnSpPr>
          <p:nvPr/>
        </p:nvCxnSpPr>
        <p:spPr>
          <a:xfrm>
            <a:off x="24934673" y="9251859"/>
            <a:ext cx="0" cy="851544"/>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97E1A3C-DD2B-B492-6857-847E9DB99A9C}"/>
              </a:ext>
            </a:extLst>
          </p:cNvPr>
          <p:cNvSpPr/>
          <p:nvPr/>
        </p:nvSpPr>
        <p:spPr>
          <a:xfrm>
            <a:off x="13174472" y="18212262"/>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Dense</a:t>
            </a:r>
          </a:p>
        </p:txBody>
      </p:sp>
      <p:sp>
        <p:nvSpPr>
          <p:cNvPr id="24" name="Rectangle 23">
            <a:extLst>
              <a:ext uri="{FF2B5EF4-FFF2-40B4-BE49-F238E27FC236}">
                <a16:creationId xmlns:a16="http://schemas.microsoft.com/office/drawing/2014/main" id="{3DFEA9B6-484C-BD06-6759-04D1CA46A637}"/>
              </a:ext>
            </a:extLst>
          </p:cNvPr>
          <p:cNvSpPr/>
          <p:nvPr/>
        </p:nvSpPr>
        <p:spPr>
          <a:xfrm>
            <a:off x="13174472" y="1630119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Dense</a:t>
            </a:r>
          </a:p>
        </p:txBody>
      </p:sp>
      <p:cxnSp>
        <p:nvCxnSpPr>
          <p:cNvPr id="26" name="Straight Arrow Connector 25">
            <a:extLst>
              <a:ext uri="{FF2B5EF4-FFF2-40B4-BE49-F238E27FC236}">
                <a16:creationId xmlns:a16="http://schemas.microsoft.com/office/drawing/2014/main" id="{8D638436-0ED6-CF2D-D90F-BE2B99960A6D}"/>
              </a:ext>
            </a:extLst>
          </p:cNvPr>
          <p:cNvCxnSpPr>
            <a:cxnSpLocks/>
          </p:cNvCxnSpPr>
          <p:nvPr/>
        </p:nvCxnSpPr>
        <p:spPr>
          <a:xfrm>
            <a:off x="17695672" y="17672794"/>
            <a:ext cx="0" cy="539468"/>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B2B92DF-DEF6-6607-4907-FAF9337EAD87}"/>
              </a:ext>
            </a:extLst>
          </p:cNvPr>
          <p:cNvCxnSpPr>
            <a:cxnSpLocks/>
          </p:cNvCxnSpPr>
          <p:nvPr/>
        </p:nvCxnSpPr>
        <p:spPr>
          <a:xfrm>
            <a:off x="17695672" y="15717078"/>
            <a:ext cx="0" cy="584115"/>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E89BFBC0-C062-06BC-1B14-0DEE62EF7136}"/>
              </a:ext>
            </a:extLst>
          </p:cNvPr>
          <p:cNvSpPr/>
          <p:nvPr/>
        </p:nvSpPr>
        <p:spPr>
          <a:xfrm>
            <a:off x="5669280" y="7608219"/>
            <a:ext cx="24213312" cy="1955716"/>
          </a:xfrm>
          <a:prstGeom prst="rect">
            <a:avLst/>
          </a:prstGeom>
          <a:noFill/>
          <a:ln w="152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4" name="Multiplication Sign 3">
            <a:extLst>
              <a:ext uri="{FF2B5EF4-FFF2-40B4-BE49-F238E27FC236}">
                <a16:creationId xmlns:a16="http://schemas.microsoft.com/office/drawing/2014/main" id="{6618784A-705B-24A4-6DA9-8229F8FC4CCA}"/>
              </a:ext>
            </a:extLst>
          </p:cNvPr>
          <p:cNvSpPr/>
          <p:nvPr/>
        </p:nvSpPr>
        <p:spPr>
          <a:xfrm>
            <a:off x="16934688" y="7880258"/>
            <a:ext cx="1682496" cy="1371601"/>
          </a:xfrm>
          <a:prstGeom prst="mathMultipl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984017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52185-5E84-97F3-7402-3103D0F21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E8B4E-4796-A916-9639-F166CB714390}"/>
              </a:ext>
            </a:extLst>
          </p:cNvPr>
          <p:cNvSpPr>
            <a:spLocks noGrp="1"/>
          </p:cNvSpPr>
          <p:nvPr>
            <p:ph type="title"/>
          </p:nvPr>
        </p:nvSpPr>
        <p:spPr/>
        <p:txBody>
          <a:bodyPr/>
          <a:lstStyle/>
          <a:p>
            <a:r>
              <a:rPr lang="en-US" dirty="0"/>
              <a:t>Intermediate Fusion</a:t>
            </a:r>
          </a:p>
        </p:txBody>
      </p:sp>
      <p:pic>
        <p:nvPicPr>
          <p:cNvPr id="7" name="Picture 4">
            <a:extLst>
              <a:ext uri="{FF2B5EF4-FFF2-40B4-BE49-F238E27FC236}">
                <a16:creationId xmlns:a16="http://schemas.microsoft.com/office/drawing/2014/main" id="{8260EBCD-2AE2-A33C-1559-51CBAD33AD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1035" y="3328032"/>
            <a:ext cx="4259750" cy="42495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7636349-7DA2-A09C-D240-B6E13A3F2FDC}"/>
              </a:ext>
            </a:extLst>
          </p:cNvPr>
          <p:cNvPicPr>
            <a:picLocks noChangeAspect="1"/>
          </p:cNvPicPr>
          <p:nvPr/>
        </p:nvPicPr>
        <p:blipFill>
          <a:blip r:embed="rId4"/>
          <a:srcRect l="8859" t="19593" r="8286" b="12616"/>
          <a:stretch/>
        </p:blipFill>
        <p:spPr>
          <a:xfrm>
            <a:off x="21839937" y="3328032"/>
            <a:ext cx="5407839" cy="4424596"/>
          </a:xfrm>
          <a:prstGeom prst="rect">
            <a:avLst/>
          </a:prstGeom>
        </p:spPr>
      </p:pic>
      <p:sp>
        <p:nvSpPr>
          <p:cNvPr id="9" name="Rectangle 8">
            <a:extLst>
              <a:ext uri="{FF2B5EF4-FFF2-40B4-BE49-F238E27FC236}">
                <a16:creationId xmlns:a16="http://schemas.microsoft.com/office/drawing/2014/main" id="{F0CF379E-EA90-9EC9-A408-CBA8B851F4CE}"/>
              </a:ext>
            </a:extLst>
          </p:cNvPr>
          <p:cNvSpPr/>
          <p:nvPr/>
        </p:nvSpPr>
        <p:spPr>
          <a:xfrm>
            <a:off x="20413473" y="12288435"/>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Flatten</a:t>
            </a:r>
          </a:p>
        </p:txBody>
      </p:sp>
      <p:sp>
        <p:nvSpPr>
          <p:cNvPr id="10" name="Rectangle 9">
            <a:extLst>
              <a:ext uri="{FF2B5EF4-FFF2-40B4-BE49-F238E27FC236}">
                <a16:creationId xmlns:a16="http://schemas.microsoft.com/office/drawing/2014/main" id="{AFE01364-6133-B763-4AAC-986570514B7F}"/>
              </a:ext>
            </a:extLst>
          </p:cNvPr>
          <p:cNvSpPr/>
          <p:nvPr/>
        </p:nvSpPr>
        <p:spPr>
          <a:xfrm>
            <a:off x="20413473" y="1010340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2" name="Rectangle 11">
            <a:extLst>
              <a:ext uri="{FF2B5EF4-FFF2-40B4-BE49-F238E27FC236}">
                <a16:creationId xmlns:a16="http://schemas.microsoft.com/office/drawing/2014/main" id="{97958B17-478C-B243-89D4-8A33C6A58818}"/>
              </a:ext>
            </a:extLst>
          </p:cNvPr>
          <p:cNvSpPr/>
          <p:nvPr/>
        </p:nvSpPr>
        <p:spPr>
          <a:xfrm>
            <a:off x="6160345" y="12288435"/>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Flatten</a:t>
            </a:r>
          </a:p>
        </p:txBody>
      </p:sp>
      <p:sp>
        <p:nvSpPr>
          <p:cNvPr id="13" name="Rectangle 12">
            <a:extLst>
              <a:ext uri="{FF2B5EF4-FFF2-40B4-BE49-F238E27FC236}">
                <a16:creationId xmlns:a16="http://schemas.microsoft.com/office/drawing/2014/main" id="{2176EBCB-3295-B86F-B370-CF311DB41653}"/>
              </a:ext>
            </a:extLst>
          </p:cNvPr>
          <p:cNvSpPr/>
          <p:nvPr/>
        </p:nvSpPr>
        <p:spPr>
          <a:xfrm>
            <a:off x="6160345" y="1010340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4" name="Rectangle 13">
            <a:extLst>
              <a:ext uri="{FF2B5EF4-FFF2-40B4-BE49-F238E27FC236}">
                <a16:creationId xmlns:a16="http://schemas.microsoft.com/office/drawing/2014/main" id="{E38C5F55-3767-2511-8B44-AF8082B6C2D1}"/>
              </a:ext>
            </a:extLst>
          </p:cNvPr>
          <p:cNvSpPr/>
          <p:nvPr/>
        </p:nvSpPr>
        <p:spPr>
          <a:xfrm>
            <a:off x="13174472" y="14345477"/>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Concatenate</a:t>
            </a:r>
          </a:p>
        </p:txBody>
      </p:sp>
      <p:cxnSp>
        <p:nvCxnSpPr>
          <p:cNvPr id="16" name="Straight Arrow Connector 15">
            <a:extLst>
              <a:ext uri="{FF2B5EF4-FFF2-40B4-BE49-F238E27FC236}">
                <a16:creationId xmlns:a16="http://schemas.microsoft.com/office/drawing/2014/main" id="{EC72E0CA-BA62-7CBC-2F2B-4A29CCB765D6}"/>
              </a:ext>
            </a:extLst>
          </p:cNvPr>
          <p:cNvCxnSpPr>
            <a:cxnSpLocks/>
          </p:cNvCxnSpPr>
          <p:nvPr/>
        </p:nvCxnSpPr>
        <p:spPr>
          <a:xfrm>
            <a:off x="10681545" y="11475004"/>
            <a:ext cx="0" cy="813072"/>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8F0F272-1770-6094-9C8D-692EC9DC78BB}"/>
              </a:ext>
            </a:extLst>
          </p:cNvPr>
          <p:cNvCxnSpPr>
            <a:cxnSpLocks/>
          </p:cNvCxnSpPr>
          <p:nvPr/>
        </p:nvCxnSpPr>
        <p:spPr>
          <a:xfrm>
            <a:off x="24934673" y="11475004"/>
            <a:ext cx="19301" cy="813790"/>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8786D30-1658-3A70-5220-B4A0870FE5C4}"/>
              </a:ext>
            </a:extLst>
          </p:cNvPr>
          <p:cNvCxnSpPr>
            <a:cxnSpLocks/>
            <a:stCxn id="12" idx="2"/>
            <a:endCxn id="14" idx="0"/>
          </p:cNvCxnSpPr>
          <p:nvPr/>
        </p:nvCxnSpPr>
        <p:spPr>
          <a:xfrm>
            <a:off x="10681545" y="13660036"/>
            <a:ext cx="7014127" cy="685441"/>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225FBA3-B752-C140-6BA7-A120DE937FA9}"/>
              </a:ext>
            </a:extLst>
          </p:cNvPr>
          <p:cNvCxnSpPr>
            <a:cxnSpLocks/>
            <a:stCxn id="9" idx="2"/>
            <a:endCxn id="14" idx="0"/>
          </p:cNvCxnSpPr>
          <p:nvPr/>
        </p:nvCxnSpPr>
        <p:spPr>
          <a:xfrm flipH="1">
            <a:off x="17695672" y="13660036"/>
            <a:ext cx="7239001" cy="685441"/>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B8EB725-E62D-0662-8832-07171BD21B89}"/>
              </a:ext>
            </a:extLst>
          </p:cNvPr>
          <p:cNvSpPr/>
          <p:nvPr/>
        </p:nvSpPr>
        <p:spPr>
          <a:xfrm>
            <a:off x="20413473" y="7880258"/>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15" name="Rectangle 14">
            <a:extLst>
              <a:ext uri="{FF2B5EF4-FFF2-40B4-BE49-F238E27FC236}">
                <a16:creationId xmlns:a16="http://schemas.microsoft.com/office/drawing/2014/main" id="{58236E93-A6F9-57FF-AF2C-3A0917BE5E4D}"/>
              </a:ext>
            </a:extLst>
          </p:cNvPr>
          <p:cNvSpPr/>
          <p:nvPr/>
        </p:nvSpPr>
        <p:spPr>
          <a:xfrm>
            <a:off x="6160345" y="7880258"/>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cxnSp>
        <p:nvCxnSpPr>
          <p:cNvPr id="17" name="Straight Arrow Connector 16">
            <a:extLst>
              <a:ext uri="{FF2B5EF4-FFF2-40B4-BE49-F238E27FC236}">
                <a16:creationId xmlns:a16="http://schemas.microsoft.com/office/drawing/2014/main" id="{7E2EEAA8-025B-E3CC-2AC9-EE59B8ECF90E}"/>
              </a:ext>
            </a:extLst>
          </p:cNvPr>
          <p:cNvCxnSpPr>
            <a:cxnSpLocks/>
            <a:endCxn id="13" idx="0"/>
          </p:cNvCxnSpPr>
          <p:nvPr/>
        </p:nvCxnSpPr>
        <p:spPr>
          <a:xfrm>
            <a:off x="10681545" y="9251859"/>
            <a:ext cx="0" cy="851544"/>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FD10332-6452-5041-8CC9-396B38FD7145}"/>
              </a:ext>
            </a:extLst>
          </p:cNvPr>
          <p:cNvCxnSpPr>
            <a:cxnSpLocks/>
            <a:endCxn id="10" idx="0"/>
          </p:cNvCxnSpPr>
          <p:nvPr/>
        </p:nvCxnSpPr>
        <p:spPr>
          <a:xfrm>
            <a:off x="24934673" y="9251859"/>
            <a:ext cx="0" cy="851544"/>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6810EC6-B8E8-3578-615A-BB75B60D3B1E}"/>
              </a:ext>
            </a:extLst>
          </p:cNvPr>
          <p:cNvSpPr/>
          <p:nvPr/>
        </p:nvSpPr>
        <p:spPr>
          <a:xfrm>
            <a:off x="13174472" y="18212262"/>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Output</a:t>
            </a:r>
          </a:p>
        </p:txBody>
      </p:sp>
      <p:sp>
        <p:nvSpPr>
          <p:cNvPr id="24" name="Rectangle 23">
            <a:extLst>
              <a:ext uri="{FF2B5EF4-FFF2-40B4-BE49-F238E27FC236}">
                <a16:creationId xmlns:a16="http://schemas.microsoft.com/office/drawing/2014/main" id="{E670D824-C538-C874-3BF7-7D3DFDBB1D16}"/>
              </a:ext>
            </a:extLst>
          </p:cNvPr>
          <p:cNvSpPr/>
          <p:nvPr/>
        </p:nvSpPr>
        <p:spPr>
          <a:xfrm>
            <a:off x="6160345" y="1630119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Dense</a:t>
            </a:r>
          </a:p>
        </p:txBody>
      </p:sp>
      <p:cxnSp>
        <p:nvCxnSpPr>
          <p:cNvPr id="26" name="Straight Arrow Connector 25">
            <a:extLst>
              <a:ext uri="{FF2B5EF4-FFF2-40B4-BE49-F238E27FC236}">
                <a16:creationId xmlns:a16="http://schemas.microsoft.com/office/drawing/2014/main" id="{70D5E500-0A5E-5BFB-8984-799AF0D0FBE2}"/>
              </a:ext>
            </a:extLst>
          </p:cNvPr>
          <p:cNvCxnSpPr>
            <a:cxnSpLocks/>
            <a:stCxn id="5" idx="2"/>
          </p:cNvCxnSpPr>
          <p:nvPr/>
        </p:nvCxnSpPr>
        <p:spPr>
          <a:xfrm flipH="1">
            <a:off x="17695672" y="17672794"/>
            <a:ext cx="7258302" cy="539468"/>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2555DBC-83EE-1B01-734C-15B753B8EADE}"/>
              </a:ext>
            </a:extLst>
          </p:cNvPr>
          <p:cNvCxnSpPr>
            <a:cxnSpLocks/>
          </p:cNvCxnSpPr>
          <p:nvPr/>
        </p:nvCxnSpPr>
        <p:spPr>
          <a:xfrm flipH="1">
            <a:off x="10681545" y="15717078"/>
            <a:ext cx="7014127" cy="584115"/>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 name="Multiplication Sign 3">
            <a:extLst>
              <a:ext uri="{FF2B5EF4-FFF2-40B4-BE49-F238E27FC236}">
                <a16:creationId xmlns:a16="http://schemas.microsoft.com/office/drawing/2014/main" id="{88FCD77F-9AD2-F6B6-4E0A-8398FC815A3D}"/>
              </a:ext>
            </a:extLst>
          </p:cNvPr>
          <p:cNvSpPr/>
          <p:nvPr/>
        </p:nvSpPr>
        <p:spPr>
          <a:xfrm>
            <a:off x="16976511" y="16299709"/>
            <a:ext cx="1682496" cy="1371601"/>
          </a:xfrm>
          <a:prstGeom prst="mathMultipl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5" name="Rectangle 4">
            <a:extLst>
              <a:ext uri="{FF2B5EF4-FFF2-40B4-BE49-F238E27FC236}">
                <a16:creationId xmlns:a16="http://schemas.microsoft.com/office/drawing/2014/main" id="{5361BDD6-95DC-48D3-69D6-22CC2C3233C8}"/>
              </a:ext>
            </a:extLst>
          </p:cNvPr>
          <p:cNvSpPr/>
          <p:nvPr/>
        </p:nvSpPr>
        <p:spPr>
          <a:xfrm>
            <a:off x="20432774" y="1630119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Dense</a:t>
            </a:r>
          </a:p>
        </p:txBody>
      </p:sp>
      <p:cxnSp>
        <p:nvCxnSpPr>
          <p:cNvPr id="20" name="Straight Arrow Connector 19">
            <a:extLst>
              <a:ext uri="{FF2B5EF4-FFF2-40B4-BE49-F238E27FC236}">
                <a16:creationId xmlns:a16="http://schemas.microsoft.com/office/drawing/2014/main" id="{33817FD8-1E4A-DE87-CC49-51E6AF1FAA85}"/>
              </a:ext>
            </a:extLst>
          </p:cNvPr>
          <p:cNvCxnSpPr>
            <a:cxnSpLocks/>
            <a:stCxn id="14" idx="2"/>
            <a:endCxn id="5" idx="0"/>
          </p:cNvCxnSpPr>
          <p:nvPr/>
        </p:nvCxnSpPr>
        <p:spPr>
          <a:xfrm>
            <a:off x="17695672" y="15717078"/>
            <a:ext cx="7258302" cy="584115"/>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D43351E-5840-61A3-A235-26E4DDA101DE}"/>
              </a:ext>
            </a:extLst>
          </p:cNvPr>
          <p:cNvCxnSpPr>
            <a:cxnSpLocks/>
            <a:stCxn id="24" idx="2"/>
            <a:endCxn id="23" idx="0"/>
          </p:cNvCxnSpPr>
          <p:nvPr/>
        </p:nvCxnSpPr>
        <p:spPr>
          <a:xfrm>
            <a:off x="10681545" y="17672794"/>
            <a:ext cx="7014127" cy="539468"/>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6BE0D1A1-38A9-6383-0CAE-288A88ED4337}"/>
              </a:ext>
            </a:extLst>
          </p:cNvPr>
          <p:cNvSpPr/>
          <p:nvPr/>
        </p:nvSpPr>
        <p:spPr>
          <a:xfrm>
            <a:off x="5669280" y="16020699"/>
            <a:ext cx="24213312" cy="1955716"/>
          </a:xfrm>
          <a:prstGeom prst="rect">
            <a:avLst/>
          </a:prstGeom>
          <a:noFill/>
          <a:ln w="152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42666769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9FC53-87FA-B074-D7A5-C41B22E673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3C183-D6C7-D787-0132-AC5D4C065E23}"/>
              </a:ext>
            </a:extLst>
          </p:cNvPr>
          <p:cNvSpPr>
            <a:spLocks noGrp="1"/>
          </p:cNvSpPr>
          <p:nvPr>
            <p:ph type="title"/>
          </p:nvPr>
        </p:nvSpPr>
        <p:spPr/>
        <p:txBody>
          <a:bodyPr/>
          <a:lstStyle/>
          <a:p>
            <a:r>
              <a:rPr lang="en-US" dirty="0"/>
              <a:t>Intermediate Fusion</a:t>
            </a:r>
          </a:p>
        </p:txBody>
      </p:sp>
      <p:pic>
        <p:nvPicPr>
          <p:cNvPr id="7" name="Picture 4">
            <a:extLst>
              <a:ext uri="{FF2B5EF4-FFF2-40B4-BE49-F238E27FC236}">
                <a16:creationId xmlns:a16="http://schemas.microsoft.com/office/drawing/2014/main" id="{3B9EDF6A-EAFE-CDA6-79DD-C907EB6A11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1035" y="3328032"/>
            <a:ext cx="4259750" cy="42495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D37C97F-00F3-6676-0309-8EE693B5702D}"/>
              </a:ext>
            </a:extLst>
          </p:cNvPr>
          <p:cNvPicPr>
            <a:picLocks noChangeAspect="1"/>
          </p:cNvPicPr>
          <p:nvPr/>
        </p:nvPicPr>
        <p:blipFill>
          <a:blip r:embed="rId4"/>
          <a:srcRect l="8859" t="19593" r="8286" b="12616"/>
          <a:stretch/>
        </p:blipFill>
        <p:spPr>
          <a:xfrm>
            <a:off x="21839937" y="3328032"/>
            <a:ext cx="5407839" cy="4424596"/>
          </a:xfrm>
          <a:prstGeom prst="rect">
            <a:avLst/>
          </a:prstGeom>
        </p:spPr>
      </p:pic>
      <p:sp>
        <p:nvSpPr>
          <p:cNvPr id="6" name="Rectangle 5">
            <a:extLst>
              <a:ext uri="{FF2B5EF4-FFF2-40B4-BE49-F238E27FC236}">
                <a16:creationId xmlns:a16="http://schemas.microsoft.com/office/drawing/2014/main" id="{EAC5C2D8-877C-7358-80AE-B6E78742A998}"/>
              </a:ext>
            </a:extLst>
          </p:cNvPr>
          <p:cNvSpPr/>
          <p:nvPr/>
        </p:nvSpPr>
        <p:spPr>
          <a:xfrm>
            <a:off x="20413473" y="1010340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20" name="Rectangle 19">
            <a:extLst>
              <a:ext uri="{FF2B5EF4-FFF2-40B4-BE49-F238E27FC236}">
                <a16:creationId xmlns:a16="http://schemas.microsoft.com/office/drawing/2014/main" id="{AA43C32C-BFB0-2FFB-00B9-0CF055E6AEA8}"/>
              </a:ext>
            </a:extLst>
          </p:cNvPr>
          <p:cNvSpPr/>
          <p:nvPr/>
        </p:nvSpPr>
        <p:spPr>
          <a:xfrm>
            <a:off x="13174472" y="12389761"/>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5400" dirty="0">
              <a:solidFill>
                <a:schemeClr val="bg2">
                  <a:lumMod val="10000"/>
                </a:schemeClr>
              </a:solidFill>
              <a:latin typeface="Trebuchet MS" panose="020B0603020202020204" pitchFamily="34" charset="0"/>
            </a:endParaRPr>
          </a:p>
        </p:txBody>
      </p:sp>
      <p:sp>
        <p:nvSpPr>
          <p:cNvPr id="21" name="Rectangle 20">
            <a:extLst>
              <a:ext uri="{FF2B5EF4-FFF2-40B4-BE49-F238E27FC236}">
                <a16:creationId xmlns:a16="http://schemas.microsoft.com/office/drawing/2014/main" id="{E57F62E6-FCB2-30A2-069A-98E76AC10519}"/>
              </a:ext>
            </a:extLst>
          </p:cNvPr>
          <p:cNvSpPr/>
          <p:nvPr/>
        </p:nvSpPr>
        <p:spPr>
          <a:xfrm>
            <a:off x="6160345" y="10103403"/>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27" name="Rectangle 26">
            <a:extLst>
              <a:ext uri="{FF2B5EF4-FFF2-40B4-BE49-F238E27FC236}">
                <a16:creationId xmlns:a16="http://schemas.microsoft.com/office/drawing/2014/main" id="{9B1A80A5-2B88-5CA6-3C40-96E18EA1465B}"/>
              </a:ext>
            </a:extLst>
          </p:cNvPr>
          <p:cNvSpPr/>
          <p:nvPr/>
        </p:nvSpPr>
        <p:spPr>
          <a:xfrm>
            <a:off x="13174472" y="14330595"/>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Flatten</a:t>
            </a:r>
          </a:p>
        </p:txBody>
      </p:sp>
      <p:cxnSp>
        <p:nvCxnSpPr>
          <p:cNvPr id="29" name="Straight Arrow Connector 28">
            <a:extLst>
              <a:ext uri="{FF2B5EF4-FFF2-40B4-BE49-F238E27FC236}">
                <a16:creationId xmlns:a16="http://schemas.microsoft.com/office/drawing/2014/main" id="{C274C137-BD03-9D79-09E5-70EB0E4E1461}"/>
              </a:ext>
            </a:extLst>
          </p:cNvPr>
          <p:cNvCxnSpPr>
            <a:cxnSpLocks/>
            <a:stCxn id="21" idx="2"/>
            <a:endCxn id="20" idx="0"/>
          </p:cNvCxnSpPr>
          <p:nvPr/>
        </p:nvCxnSpPr>
        <p:spPr>
          <a:xfrm>
            <a:off x="10681545" y="11475004"/>
            <a:ext cx="7014127" cy="914757"/>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F8C05F7-E8B1-0404-EF5E-1EA00A5D61B6}"/>
              </a:ext>
            </a:extLst>
          </p:cNvPr>
          <p:cNvCxnSpPr>
            <a:cxnSpLocks/>
            <a:stCxn id="6" idx="2"/>
            <a:endCxn id="20" idx="0"/>
          </p:cNvCxnSpPr>
          <p:nvPr/>
        </p:nvCxnSpPr>
        <p:spPr>
          <a:xfrm flipH="1">
            <a:off x="17695672" y="11475004"/>
            <a:ext cx="7239001" cy="914757"/>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920B573-8743-3C6E-B0CE-067F790E7F10}"/>
              </a:ext>
            </a:extLst>
          </p:cNvPr>
          <p:cNvCxnSpPr>
            <a:cxnSpLocks/>
            <a:stCxn id="20" idx="2"/>
            <a:endCxn id="27" idx="0"/>
          </p:cNvCxnSpPr>
          <p:nvPr/>
        </p:nvCxnSpPr>
        <p:spPr>
          <a:xfrm>
            <a:off x="17695672" y="13761362"/>
            <a:ext cx="0" cy="569233"/>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F57CADB7-B747-D6C8-71A0-81B03446B243}"/>
              </a:ext>
            </a:extLst>
          </p:cNvPr>
          <p:cNvSpPr/>
          <p:nvPr/>
        </p:nvSpPr>
        <p:spPr>
          <a:xfrm>
            <a:off x="20413473" y="7880258"/>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sp>
        <p:nvSpPr>
          <p:cNvPr id="34" name="Rectangle 33">
            <a:extLst>
              <a:ext uri="{FF2B5EF4-FFF2-40B4-BE49-F238E27FC236}">
                <a16:creationId xmlns:a16="http://schemas.microsoft.com/office/drawing/2014/main" id="{C016B18B-0345-E299-F604-22F5F11C05FA}"/>
              </a:ext>
            </a:extLst>
          </p:cNvPr>
          <p:cNvSpPr/>
          <p:nvPr/>
        </p:nvSpPr>
        <p:spPr>
          <a:xfrm>
            <a:off x="6160345" y="7880258"/>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Convolution</a:t>
            </a:r>
          </a:p>
        </p:txBody>
      </p:sp>
      <p:cxnSp>
        <p:nvCxnSpPr>
          <p:cNvPr id="35" name="Straight Arrow Connector 34">
            <a:extLst>
              <a:ext uri="{FF2B5EF4-FFF2-40B4-BE49-F238E27FC236}">
                <a16:creationId xmlns:a16="http://schemas.microsoft.com/office/drawing/2014/main" id="{1471F2C4-BB44-DF65-50F7-5A8C8878A82D}"/>
              </a:ext>
            </a:extLst>
          </p:cNvPr>
          <p:cNvCxnSpPr>
            <a:cxnSpLocks/>
            <a:endCxn id="21" idx="0"/>
          </p:cNvCxnSpPr>
          <p:nvPr/>
        </p:nvCxnSpPr>
        <p:spPr>
          <a:xfrm>
            <a:off x="10681545" y="9251859"/>
            <a:ext cx="0" cy="851544"/>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E6676C3-D7C5-30D1-610E-BC75122D8AC0}"/>
              </a:ext>
            </a:extLst>
          </p:cNvPr>
          <p:cNvCxnSpPr>
            <a:cxnSpLocks/>
            <a:endCxn id="6" idx="0"/>
          </p:cNvCxnSpPr>
          <p:nvPr/>
        </p:nvCxnSpPr>
        <p:spPr>
          <a:xfrm>
            <a:off x="24934673" y="9251859"/>
            <a:ext cx="0" cy="851544"/>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BF867341-FDEF-DE14-32A0-260A5843605D}"/>
              </a:ext>
            </a:extLst>
          </p:cNvPr>
          <p:cNvSpPr/>
          <p:nvPr/>
        </p:nvSpPr>
        <p:spPr>
          <a:xfrm>
            <a:off x="13174472" y="18212262"/>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Dense</a:t>
            </a:r>
          </a:p>
        </p:txBody>
      </p:sp>
      <p:sp>
        <p:nvSpPr>
          <p:cNvPr id="38" name="Rectangle 37">
            <a:extLst>
              <a:ext uri="{FF2B5EF4-FFF2-40B4-BE49-F238E27FC236}">
                <a16:creationId xmlns:a16="http://schemas.microsoft.com/office/drawing/2014/main" id="{7FAB4E43-03E3-C0C8-8B4A-8E85E979EADC}"/>
              </a:ext>
            </a:extLst>
          </p:cNvPr>
          <p:cNvSpPr/>
          <p:nvPr/>
        </p:nvSpPr>
        <p:spPr>
          <a:xfrm>
            <a:off x="13174472" y="16271429"/>
            <a:ext cx="9042400" cy="1371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5400" dirty="0">
                <a:solidFill>
                  <a:schemeClr val="bg2">
                    <a:lumMod val="10000"/>
                  </a:schemeClr>
                </a:solidFill>
                <a:latin typeface="Trebuchet MS" panose="020B0603020202020204" pitchFamily="34" charset="0"/>
              </a:rPr>
              <a:t>Dense</a:t>
            </a:r>
          </a:p>
        </p:txBody>
      </p:sp>
      <p:cxnSp>
        <p:nvCxnSpPr>
          <p:cNvPr id="39" name="Straight Arrow Connector 38">
            <a:extLst>
              <a:ext uri="{FF2B5EF4-FFF2-40B4-BE49-F238E27FC236}">
                <a16:creationId xmlns:a16="http://schemas.microsoft.com/office/drawing/2014/main" id="{C71A2248-CF2D-93D3-156F-9A522EFB88E3}"/>
              </a:ext>
            </a:extLst>
          </p:cNvPr>
          <p:cNvCxnSpPr>
            <a:cxnSpLocks/>
          </p:cNvCxnSpPr>
          <p:nvPr/>
        </p:nvCxnSpPr>
        <p:spPr>
          <a:xfrm>
            <a:off x="17695672" y="17672794"/>
            <a:ext cx="0" cy="539468"/>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66EBF7-1112-1BA5-BD05-7BA8D5CBB93C}"/>
              </a:ext>
            </a:extLst>
          </p:cNvPr>
          <p:cNvCxnSpPr>
            <a:cxnSpLocks/>
          </p:cNvCxnSpPr>
          <p:nvPr/>
        </p:nvCxnSpPr>
        <p:spPr>
          <a:xfrm>
            <a:off x="17695672" y="15717078"/>
            <a:ext cx="0" cy="584115"/>
          </a:xfrm>
          <a:prstGeom prst="straightConnector1">
            <a:avLst/>
          </a:prstGeom>
          <a:ln w="152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00A70645-B728-FC44-BE43-42364AB3D0D4}"/>
              </a:ext>
            </a:extLst>
          </p:cNvPr>
          <p:cNvSpPr/>
          <p:nvPr/>
        </p:nvSpPr>
        <p:spPr>
          <a:xfrm>
            <a:off x="5771896" y="12214272"/>
            <a:ext cx="24213312" cy="1955716"/>
          </a:xfrm>
          <a:prstGeom prst="rect">
            <a:avLst/>
          </a:prstGeom>
          <a:noFill/>
          <a:ln w="152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50" name="Multiplication Sign 49">
            <a:extLst>
              <a:ext uri="{FF2B5EF4-FFF2-40B4-BE49-F238E27FC236}">
                <a16:creationId xmlns:a16="http://schemas.microsoft.com/office/drawing/2014/main" id="{3F76B88A-AD19-76A1-B2CA-F0F8C4435787}"/>
              </a:ext>
            </a:extLst>
          </p:cNvPr>
          <p:cNvSpPr/>
          <p:nvPr/>
        </p:nvSpPr>
        <p:spPr>
          <a:xfrm>
            <a:off x="16854424" y="12486311"/>
            <a:ext cx="1682496" cy="1371601"/>
          </a:xfrm>
          <a:prstGeom prst="mathMultipl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35080056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7A3C-9498-6A8A-0A8C-E7004BCBD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546EA-D1E1-7948-B898-8DA9ABF6AB24}"/>
              </a:ext>
            </a:extLst>
          </p:cNvPr>
          <p:cNvSpPr>
            <a:spLocks noGrp="1"/>
          </p:cNvSpPr>
          <p:nvPr>
            <p:ph type="title"/>
          </p:nvPr>
        </p:nvSpPr>
        <p:spPr/>
        <p:txBody>
          <a:bodyPr/>
          <a:lstStyle/>
          <a:p>
            <a:r>
              <a:rPr lang="en-US" dirty="0"/>
              <a:t>Multiplication Overfitting</a:t>
            </a:r>
          </a:p>
        </p:txBody>
      </p:sp>
      <p:pic>
        <p:nvPicPr>
          <p:cNvPr id="1026" name="Picture 2">
            <a:extLst>
              <a:ext uri="{FF2B5EF4-FFF2-40B4-BE49-F238E27FC236}">
                <a16:creationId xmlns:a16="http://schemas.microsoft.com/office/drawing/2014/main" id="{40EA3B3C-5788-55FC-B53F-76A2D7ADC6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1939" y="3067493"/>
            <a:ext cx="17732121" cy="1443901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DDFE7F-B127-D613-5799-44748368901D}"/>
              </a:ext>
            </a:extLst>
          </p:cNvPr>
          <p:cNvSpPr txBox="1"/>
          <p:nvPr/>
        </p:nvSpPr>
        <p:spPr>
          <a:xfrm>
            <a:off x="24543636" y="5925312"/>
            <a:ext cx="473207" cy="769441"/>
          </a:xfrm>
          <a:prstGeom prst="rect">
            <a:avLst/>
          </a:prstGeom>
          <a:noFill/>
        </p:spPr>
        <p:txBody>
          <a:bodyPr wrap="none" rtlCol="0">
            <a:spAutoFit/>
          </a:bodyPr>
          <a:lstStyle/>
          <a:p>
            <a:pPr algn="ctr"/>
            <a:r>
              <a:rPr lang="en-US" sz="4400" dirty="0">
                <a:solidFill>
                  <a:schemeClr val="bg1"/>
                </a:solidFill>
                <a:latin typeface="NVIDIA Sans" panose="020B0503020203020204" pitchFamily="34" charset="0"/>
                <a:cs typeface="NVIDIA Sans" panose="020B0503020203020204" pitchFamily="34" charset="0"/>
              </a:rPr>
              <a:t>y</a:t>
            </a:r>
          </a:p>
        </p:txBody>
      </p:sp>
    </p:spTree>
    <p:extLst>
      <p:ext uri="{BB962C8B-B14F-4D97-AF65-F5344CB8AC3E}">
        <p14:creationId xmlns:p14="http://schemas.microsoft.com/office/powerpoint/2010/main" val="38413311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6A78A-5F66-5841-20AE-370864407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8B9A3-C76B-108D-5595-B346060E2BFB}"/>
              </a:ext>
            </a:extLst>
          </p:cNvPr>
          <p:cNvSpPr>
            <a:spLocks noGrp="1"/>
          </p:cNvSpPr>
          <p:nvPr>
            <p:ph type="title"/>
          </p:nvPr>
        </p:nvSpPr>
        <p:spPr/>
        <p:txBody>
          <a:bodyPr/>
          <a:lstStyle/>
          <a:p>
            <a:r>
              <a:rPr lang="en-US" dirty="0"/>
              <a:t>Lab Experiment</a:t>
            </a:r>
          </a:p>
        </p:txBody>
      </p:sp>
      <p:graphicFrame>
        <p:nvGraphicFramePr>
          <p:cNvPr id="3" name="Diagram 2">
            <a:extLst>
              <a:ext uri="{FF2B5EF4-FFF2-40B4-BE49-F238E27FC236}">
                <a16:creationId xmlns:a16="http://schemas.microsoft.com/office/drawing/2014/main" id="{89493881-8E91-34FF-E0A7-B937E1B988E6}"/>
              </a:ext>
            </a:extLst>
          </p:cNvPr>
          <p:cNvGraphicFramePr/>
          <p:nvPr>
            <p:extLst>
              <p:ext uri="{D42A27DB-BD31-4B8C-83A1-F6EECF244321}">
                <p14:modId xmlns:p14="http://schemas.microsoft.com/office/powerpoint/2010/main" val="1094283018"/>
              </p:ext>
            </p:extLst>
          </p:nvPr>
        </p:nvGraphicFramePr>
        <p:xfrm>
          <a:off x="2197608" y="4242816"/>
          <a:ext cx="32180784" cy="13404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621627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64AE6-C738-68DA-10F1-3D027C9C951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4E85EAC-AA38-B13C-BD37-CD0CE6BA5D62}"/>
              </a:ext>
            </a:extLst>
          </p:cNvPr>
          <p:cNvSpPr>
            <a:spLocks noGrp="1"/>
          </p:cNvSpPr>
          <p:nvPr>
            <p:ph type="body" sz="quarter" idx="13"/>
          </p:nvPr>
        </p:nvSpPr>
        <p:spPr>
          <a:xfrm>
            <a:off x="1473200" y="1865313"/>
            <a:ext cx="18476913" cy="5943600"/>
          </a:xfrm>
        </p:spPr>
        <p:txBody>
          <a:bodyPr/>
          <a:lstStyle/>
          <a:p>
            <a:r>
              <a:rPr lang="en-US" dirty="0"/>
              <a:t>The Curse of Dimensionality</a:t>
            </a:r>
          </a:p>
        </p:txBody>
      </p:sp>
    </p:spTree>
    <p:extLst>
      <p:ext uri="{BB962C8B-B14F-4D97-AF65-F5344CB8AC3E}">
        <p14:creationId xmlns:p14="http://schemas.microsoft.com/office/powerpoint/2010/main" val="305016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2E799-DD5D-5799-FCDB-42F117CBB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E992C4-1446-3EE1-F1EE-BD31DBD2BA0B}"/>
              </a:ext>
            </a:extLst>
          </p:cNvPr>
          <p:cNvSpPr>
            <a:spLocks noGrp="1"/>
          </p:cNvSpPr>
          <p:nvPr>
            <p:ph type="title"/>
          </p:nvPr>
        </p:nvSpPr>
        <p:spPr/>
        <p:txBody>
          <a:bodyPr/>
          <a:lstStyle/>
          <a:p>
            <a:r>
              <a:rPr lang="en-US" dirty="0"/>
              <a:t>The Curse of Dimensionality</a:t>
            </a:r>
          </a:p>
        </p:txBody>
      </p:sp>
      <p:graphicFrame>
        <p:nvGraphicFramePr>
          <p:cNvPr id="6" name="Table 5">
            <a:extLst>
              <a:ext uri="{FF2B5EF4-FFF2-40B4-BE49-F238E27FC236}">
                <a16:creationId xmlns:a16="http://schemas.microsoft.com/office/drawing/2014/main" id="{65853802-42D3-858F-F43E-F26A3B070A13}"/>
              </a:ext>
            </a:extLst>
          </p:cNvPr>
          <p:cNvGraphicFramePr>
            <a:graphicFrameLocks noGrp="1"/>
          </p:cNvGraphicFramePr>
          <p:nvPr>
            <p:extLst>
              <p:ext uri="{D42A27DB-BD31-4B8C-83A1-F6EECF244321}">
                <p14:modId xmlns:p14="http://schemas.microsoft.com/office/powerpoint/2010/main" val="3652185964"/>
              </p:ext>
            </p:extLst>
          </p:nvPr>
        </p:nvGraphicFramePr>
        <p:xfrm>
          <a:off x="3230879" y="11968480"/>
          <a:ext cx="30114240" cy="3362960"/>
        </p:xfrm>
        <a:graphic>
          <a:graphicData uri="http://schemas.openxmlformats.org/drawingml/2006/table">
            <a:tbl>
              <a:tblPr firstRow="1" bandRow="1">
                <a:tableStyleId>{5C22544A-7EE6-4342-B048-85BDC9FD1C3A}</a:tableStyleId>
              </a:tblPr>
              <a:tblGrid>
                <a:gridCol w="2509520">
                  <a:extLst>
                    <a:ext uri="{9D8B030D-6E8A-4147-A177-3AD203B41FA5}">
                      <a16:colId xmlns:a16="http://schemas.microsoft.com/office/drawing/2014/main" val="2109286887"/>
                    </a:ext>
                  </a:extLst>
                </a:gridCol>
                <a:gridCol w="2509520">
                  <a:extLst>
                    <a:ext uri="{9D8B030D-6E8A-4147-A177-3AD203B41FA5}">
                      <a16:colId xmlns:a16="http://schemas.microsoft.com/office/drawing/2014/main" val="3401115631"/>
                    </a:ext>
                  </a:extLst>
                </a:gridCol>
                <a:gridCol w="2509520">
                  <a:extLst>
                    <a:ext uri="{9D8B030D-6E8A-4147-A177-3AD203B41FA5}">
                      <a16:colId xmlns:a16="http://schemas.microsoft.com/office/drawing/2014/main" val="3883326489"/>
                    </a:ext>
                  </a:extLst>
                </a:gridCol>
                <a:gridCol w="2509520">
                  <a:extLst>
                    <a:ext uri="{9D8B030D-6E8A-4147-A177-3AD203B41FA5}">
                      <a16:colId xmlns:a16="http://schemas.microsoft.com/office/drawing/2014/main" val="1501969402"/>
                    </a:ext>
                  </a:extLst>
                </a:gridCol>
                <a:gridCol w="2509520">
                  <a:extLst>
                    <a:ext uri="{9D8B030D-6E8A-4147-A177-3AD203B41FA5}">
                      <a16:colId xmlns:a16="http://schemas.microsoft.com/office/drawing/2014/main" val="1037181355"/>
                    </a:ext>
                  </a:extLst>
                </a:gridCol>
                <a:gridCol w="2509520">
                  <a:extLst>
                    <a:ext uri="{9D8B030D-6E8A-4147-A177-3AD203B41FA5}">
                      <a16:colId xmlns:a16="http://schemas.microsoft.com/office/drawing/2014/main" val="219268318"/>
                    </a:ext>
                  </a:extLst>
                </a:gridCol>
                <a:gridCol w="2509520">
                  <a:extLst>
                    <a:ext uri="{9D8B030D-6E8A-4147-A177-3AD203B41FA5}">
                      <a16:colId xmlns:a16="http://schemas.microsoft.com/office/drawing/2014/main" val="1426704902"/>
                    </a:ext>
                  </a:extLst>
                </a:gridCol>
                <a:gridCol w="2509520">
                  <a:extLst>
                    <a:ext uri="{9D8B030D-6E8A-4147-A177-3AD203B41FA5}">
                      <a16:colId xmlns:a16="http://schemas.microsoft.com/office/drawing/2014/main" val="2237075241"/>
                    </a:ext>
                  </a:extLst>
                </a:gridCol>
                <a:gridCol w="2509520">
                  <a:extLst>
                    <a:ext uri="{9D8B030D-6E8A-4147-A177-3AD203B41FA5}">
                      <a16:colId xmlns:a16="http://schemas.microsoft.com/office/drawing/2014/main" val="3702613927"/>
                    </a:ext>
                  </a:extLst>
                </a:gridCol>
                <a:gridCol w="2509520">
                  <a:extLst>
                    <a:ext uri="{9D8B030D-6E8A-4147-A177-3AD203B41FA5}">
                      <a16:colId xmlns:a16="http://schemas.microsoft.com/office/drawing/2014/main" val="1160937132"/>
                    </a:ext>
                  </a:extLst>
                </a:gridCol>
                <a:gridCol w="2509520">
                  <a:extLst>
                    <a:ext uri="{9D8B030D-6E8A-4147-A177-3AD203B41FA5}">
                      <a16:colId xmlns:a16="http://schemas.microsoft.com/office/drawing/2014/main" val="743784606"/>
                    </a:ext>
                  </a:extLst>
                </a:gridCol>
                <a:gridCol w="2509520">
                  <a:extLst>
                    <a:ext uri="{9D8B030D-6E8A-4147-A177-3AD203B41FA5}">
                      <a16:colId xmlns:a16="http://schemas.microsoft.com/office/drawing/2014/main" val="2199882441"/>
                    </a:ext>
                  </a:extLst>
                </a:gridCol>
              </a:tblGrid>
              <a:tr h="1681480">
                <a:tc>
                  <a:txBody>
                    <a:bodyPr/>
                    <a:lstStyle/>
                    <a:p>
                      <a:pPr algn="ctr"/>
                      <a:endParaRPr lang="en-US" dirty="0">
                        <a:solidFill>
                          <a:schemeClr val="bg1"/>
                        </a:solidFill>
                      </a:endParaRPr>
                    </a:p>
                  </a:txBody>
                  <a:tcPr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0334"/>
                  </a:ext>
                </a:extLst>
              </a:tr>
              <a:tr h="1681480">
                <a:tc>
                  <a:txBody>
                    <a:bodyPr/>
                    <a:lstStyle/>
                    <a:p>
                      <a:pPr algn="ctr"/>
                      <a:endParaRPr lang="en-US" dirty="0">
                        <a:solidFill>
                          <a:schemeClr val="bg1"/>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6</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7</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8</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9</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10</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11</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12</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13</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14</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15</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16</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310855"/>
                  </a:ext>
                </a:extLst>
              </a:tr>
            </a:tbl>
          </a:graphicData>
        </a:graphic>
      </p:graphicFrame>
      <p:sp>
        <p:nvSpPr>
          <p:cNvPr id="7" name="TextBox 6">
            <a:extLst>
              <a:ext uri="{FF2B5EF4-FFF2-40B4-BE49-F238E27FC236}">
                <a16:creationId xmlns:a16="http://schemas.microsoft.com/office/drawing/2014/main" id="{2492188F-0508-DB29-101C-A737BF2E34B7}"/>
              </a:ext>
            </a:extLst>
          </p:cNvPr>
          <p:cNvSpPr txBox="1"/>
          <p:nvPr/>
        </p:nvSpPr>
        <p:spPr>
          <a:xfrm>
            <a:off x="15894555" y="15331440"/>
            <a:ext cx="4786888" cy="1323439"/>
          </a:xfrm>
          <a:prstGeom prst="rect">
            <a:avLst/>
          </a:prstGeom>
          <a:noFill/>
        </p:spPr>
        <p:txBody>
          <a:bodyPr wrap="none" rtlCol="0">
            <a:spAutoFit/>
          </a:bodyPr>
          <a:lstStyle/>
          <a:p>
            <a:pPr algn="ctr"/>
            <a:r>
              <a:rPr lang="en-US" sz="8000" dirty="0">
                <a:solidFill>
                  <a:schemeClr val="bg1"/>
                </a:solidFill>
                <a:latin typeface="NVIDIA Sans" panose="020B0503020203020204" pitchFamily="34" charset="0"/>
                <a:cs typeface="NVIDIA Sans" panose="020B0503020203020204" pitchFamily="34" charset="0"/>
              </a:rPr>
              <a:t>Shoe Size</a:t>
            </a:r>
          </a:p>
        </p:txBody>
      </p:sp>
    </p:spTree>
    <p:extLst>
      <p:ext uri="{BB962C8B-B14F-4D97-AF65-F5344CB8AC3E}">
        <p14:creationId xmlns:p14="http://schemas.microsoft.com/office/powerpoint/2010/main" val="15684412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4A074-966C-8957-C798-1AF2C1150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AF458E-4A6F-54B9-46C5-C91BE1C2CB8C}"/>
              </a:ext>
            </a:extLst>
          </p:cNvPr>
          <p:cNvSpPr>
            <a:spLocks noGrp="1"/>
          </p:cNvSpPr>
          <p:nvPr>
            <p:ph type="title"/>
          </p:nvPr>
        </p:nvSpPr>
        <p:spPr/>
        <p:txBody>
          <a:bodyPr/>
          <a:lstStyle/>
          <a:p>
            <a:r>
              <a:rPr lang="en-US" dirty="0"/>
              <a:t>The Curse of Dimensionality</a:t>
            </a:r>
          </a:p>
        </p:txBody>
      </p:sp>
      <p:graphicFrame>
        <p:nvGraphicFramePr>
          <p:cNvPr id="3" name="Table 2">
            <a:extLst>
              <a:ext uri="{FF2B5EF4-FFF2-40B4-BE49-F238E27FC236}">
                <a16:creationId xmlns:a16="http://schemas.microsoft.com/office/drawing/2014/main" id="{702FE7ED-7EDF-C888-D4FC-E98D7A1AA0DE}"/>
              </a:ext>
            </a:extLst>
          </p:cNvPr>
          <p:cNvGraphicFramePr>
            <a:graphicFrameLocks noGrp="1"/>
          </p:cNvGraphicFramePr>
          <p:nvPr>
            <p:extLst>
              <p:ext uri="{D42A27DB-BD31-4B8C-83A1-F6EECF244321}">
                <p14:modId xmlns:p14="http://schemas.microsoft.com/office/powerpoint/2010/main" val="141332951"/>
              </p:ext>
            </p:extLst>
          </p:nvPr>
        </p:nvGraphicFramePr>
        <p:xfrm>
          <a:off x="3230879" y="11968480"/>
          <a:ext cx="30114240" cy="3362960"/>
        </p:xfrm>
        <a:graphic>
          <a:graphicData uri="http://schemas.openxmlformats.org/drawingml/2006/table">
            <a:tbl>
              <a:tblPr firstRow="1" bandRow="1">
                <a:tableStyleId>{5C22544A-7EE6-4342-B048-85BDC9FD1C3A}</a:tableStyleId>
              </a:tblPr>
              <a:tblGrid>
                <a:gridCol w="2509520">
                  <a:extLst>
                    <a:ext uri="{9D8B030D-6E8A-4147-A177-3AD203B41FA5}">
                      <a16:colId xmlns:a16="http://schemas.microsoft.com/office/drawing/2014/main" val="2109286887"/>
                    </a:ext>
                  </a:extLst>
                </a:gridCol>
                <a:gridCol w="2509520">
                  <a:extLst>
                    <a:ext uri="{9D8B030D-6E8A-4147-A177-3AD203B41FA5}">
                      <a16:colId xmlns:a16="http://schemas.microsoft.com/office/drawing/2014/main" val="3401115631"/>
                    </a:ext>
                  </a:extLst>
                </a:gridCol>
                <a:gridCol w="2509520">
                  <a:extLst>
                    <a:ext uri="{9D8B030D-6E8A-4147-A177-3AD203B41FA5}">
                      <a16:colId xmlns:a16="http://schemas.microsoft.com/office/drawing/2014/main" val="3883326489"/>
                    </a:ext>
                  </a:extLst>
                </a:gridCol>
                <a:gridCol w="2509520">
                  <a:extLst>
                    <a:ext uri="{9D8B030D-6E8A-4147-A177-3AD203B41FA5}">
                      <a16:colId xmlns:a16="http://schemas.microsoft.com/office/drawing/2014/main" val="1501969402"/>
                    </a:ext>
                  </a:extLst>
                </a:gridCol>
                <a:gridCol w="2509520">
                  <a:extLst>
                    <a:ext uri="{9D8B030D-6E8A-4147-A177-3AD203B41FA5}">
                      <a16:colId xmlns:a16="http://schemas.microsoft.com/office/drawing/2014/main" val="1037181355"/>
                    </a:ext>
                  </a:extLst>
                </a:gridCol>
                <a:gridCol w="2509520">
                  <a:extLst>
                    <a:ext uri="{9D8B030D-6E8A-4147-A177-3AD203B41FA5}">
                      <a16:colId xmlns:a16="http://schemas.microsoft.com/office/drawing/2014/main" val="219268318"/>
                    </a:ext>
                  </a:extLst>
                </a:gridCol>
                <a:gridCol w="2509520">
                  <a:extLst>
                    <a:ext uri="{9D8B030D-6E8A-4147-A177-3AD203B41FA5}">
                      <a16:colId xmlns:a16="http://schemas.microsoft.com/office/drawing/2014/main" val="1426704902"/>
                    </a:ext>
                  </a:extLst>
                </a:gridCol>
                <a:gridCol w="2509520">
                  <a:extLst>
                    <a:ext uri="{9D8B030D-6E8A-4147-A177-3AD203B41FA5}">
                      <a16:colId xmlns:a16="http://schemas.microsoft.com/office/drawing/2014/main" val="2237075241"/>
                    </a:ext>
                  </a:extLst>
                </a:gridCol>
                <a:gridCol w="2509520">
                  <a:extLst>
                    <a:ext uri="{9D8B030D-6E8A-4147-A177-3AD203B41FA5}">
                      <a16:colId xmlns:a16="http://schemas.microsoft.com/office/drawing/2014/main" val="3702613927"/>
                    </a:ext>
                  </a:extLst>
                </a:gridCol>
                <a:gridCol w="2509520">
                  <a:extLst>
                    <a:ext uri="{9D8B030D-6E8A-4147-A177-3AD203B41FA5}">
                      <a16:colId xmlns:a16="http://schemas.microsoft.com/office/drawing/2014/main" val="1160937132"/>
                    </a:ext>
                  </a:extLst>
                </a:gridCol>
                <a:gridCol w="2509520">
                  <a:extLst>
                    <a:ext uri="{9D8B030D-6E8A-4147-A177-3AD203B41FA5}">
                      <a16:colId xmlns:a16="http://schemas.microsoft.com/office/drawing/2014/main" val="743784606"/>
                    </a:ext>
                  </a:extLst>
                </a:gridCol>
                <a:gridCol w="2509520">
                  <a:extLst>
                    <a:ext uri="{9D8B030D-6E8A-4147-A177-3AD203B41FA5}">
                      <a16:colId xmlns:a16="http://schemas.microsoft.com/office/drawing/2014/main" val="2199882441"/>
                    </a:ext>
                  </a:extLst>
                </a:gridCol>
              </a:tblGrid>
              <a:tr h="1681480">
                <a:tc>
                  <a:txBody>
                    <a:bodyPr/>
                    <a:lstStyle/>
                    <a:p>
                      <a:pPr algn="ctr"/>
                      <a:endParaRPr lang="en-US" dirty="0">
                        <a:solidFill>
                          <a:schemeClr val="bg1"/>
                        </a:solidFill>
                      </a:endParaRPr>
                    </a:p>
                  </a:txBody>
                  <a:tcPr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0334"/>
                  </a:ext>
                </a:extLst>
              </a:tr>
              <a:tr h="1681480">
                <a:tc>
                  <a:txBody>
                    <a:bodyPr/>
                    <a:lstStyle/>
                    <a:p>
                      <a:pPr algn="ctr"/>
                      <a:endParaRPr lang="en-US" dirty="0">
                        <a:solidFill>
                          <a:schemeClr val="bg1"/>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6</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7</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8</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9</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10</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11</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12</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13</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14</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15</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16</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310855"/>
                  </a:ext>
                </a:extLst>
              </a:tr>
            </a:tbl>
          </a:graphicData>
        </a:graphic>
      </p:graphicFrame>
      <p:sp>
        <p:nvSpPr>
          <p:cNvPr id="6" name="TextBox 5">
            <a:extLst>
              <a:ext uri="{FF2B5EF4-FFF2-40B4-BE49-F238E27FC236}">
                <a16:creationId xmlns:a16="http://schemas.microsoft.com/office/drawing/2014/main" id="{1567D86B-4D00-5719-37CC-E204E733998C}"/>
              </a:ext>
            </a:extLst>
          </p:cNvPr>
          <p:cNvSpPr txBox="1"/>
          <p:nvPr/>
        </p:nvSpPr>
        <p:spPr>
          <a:xfrm>
            <a:off x="15894555" y="15331440"/>
            <a:ext cx="4786888" cy="1323439"/>
          </a:xfrm>
          <a:prstGeom prst="rect">
            <a:avLst/>
          </a:prstGeom>
          <a:noFill/>
        </p:spPr>
        <p:txBody>
          <a:bodyPr wrap="none" rtlCol="0">
            <a:spAutoFit/>
          </a:bodyPr>
          <a:lstStyle/>
          <a:p>
            <a:pPr algn="ctr"/>
            <a:r>
              <a:rPr lang="en-US" sz="8000" dirty="0">
                <a:solidFill>
                  <a:schemeClr val="bg1"/>
                </a:solidFill>
                <a:latin typeface="NVIDIA Sans" panose="020B0503020203020204" pitchFamily="34" charset="0"/>
                <a:cs typeface="NVIDIA Sans" panose="020B0503020203020204" pitchFamily="34" charset="0"/>
              </a:rPr>
              <a:t>Shoe Size</a:t>
            </a:r>
          </a:p>
        </p:txBody>
      </p:sp>
    </p:spTree>
    <p:extLst>
      <p:ext uri="{BB962C8B-B14F-4D97-AF65-F5344CB8AC3E}">
        <p14:creationId xmlns:p14="http://schemas.microsoft.com/office/powerpoint/2010/main" val="1915938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4DC93-0684-678D-D027-7E81E454C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36DA1-BA99-A07E-E792-54C4DBF37034}"/>
              </a:ext>
            </a:extLst>
          </p:cNvPr>
          <p:cNvSpPr>
            <a:spLocks noGrp="1"/>
          </p:cNvSpPr>
          <p:nvPr>
            <p:ph type="title"/>
          </p:nvPr>
        </p:nvSpPr>
        <p:spPr/>
        <p:txBody>
          <a:bodyPr/>
          <a:lstStyle/>
          <a:p>
            <a:r>
              <a:rPr lang="en-US" dirty="0"/>
              <a:t>The Curse of Dimensionality</a:t>
            </a:r>
          </a:p>
        </p:txBody>
      </p:sp>
      <p:graphicFrame>
        <p:nvGraphicFramePr>
          <p:cNvPr id="4" name="Table 3">
            <a:extLst>
              <a:ext uri="{FF2B5EF4-FFF2-40B4-BE49-F238E27FC236}">
                <a16:creationId xmlns:a16="http://schemas.microsoft.com/office/drawing/2014/main" id="{473D7CDD-3B2D-0B6E-601B-56CA89EA5774}"/>
              </a:ext>
            </a:extLst>
          </p:cNvPr>
          <p:cNvGraphicFramePr>
            <a:graphicFrameLocks noGrp="1"/>
          </p:cNvGraphicFramePr>
          <p:nvPr/>
        </p:nvGraphicFramePr>
        <p:xfrm>
          <a:off x="3230880" y="5242560"/>
          <a:ext cx="30114240" cy="10088880"/>
        </p:xfrm>
        <a:graphic>
          <a:graphicData uri="http://schemas.openxmlformats.org/drawingml/2006/table">
            <a:tbl>
              <a:tblPr firstRow="1" bandRow="1">
                <a:tableStyleId>{5C22544A-7EE6-4342-B048-85BDC9FD1C3A}</a:tableStyleId>
              </a:tblPr>
              <a:tblGrid>
                <a:gridCol w="2509520">
                  <a:extLst>
                    <a:ext uri="{9D8B030D-6E8A-4147-A177-3AD203B41FA5}">
                      <a16:colId xmlns:a16="http://schemas.microsoft.com/office/drawing/2014/main" val="2109286887"/>
                    </a:ext>
                  </a:extLst>
                </a:gridCol>
                <a:gridCol w="2509520">
                  <a:extLst>
                    <a:ext uri="{9D8B030D-6E8A-4147-A177-3AD203B41FA5}">
                      <a16:colId xmlns:a16="http://schemas.microsoft.com/office/drawing/2014/main" val="3401115631"/>
                    </a:ext>
                  </a:extLst>
                </a:gridCol>
                <a:gridCol w="2509520">
                  <a:extLst>
                    <a:ext uri="{9D8B030D-6E8A-4147-A177-3AD203B41FA5}">
                      <a16:colId xmlns:a16="http://schemas.microsoft.com/office/drawing/2014/main" val="3883326489"/>
                    </a:ext>
                  </a:extLst>
                </a:gridCol>
                <a:gridCol w="2509520">
                  <a:extLst>
                    <a:ext uri="{9D8B030D-6E8A-4147-A177-3AD203B41FA5}">
                      <a16:colId xmlns:a16="http://schemas.microsoft.com/office/drawing/2014/main" val="1501969402"/>
                    </a:ext>
                  </a:extLst>
                </a:gridCol>
                <a:gridCol w="2509520">
                  <a:extLst>
                    <a:ext uri="{9D8B030D-6E8A-4147-A177-3AD203B41FA5}">
                      <a16:colId xmlns:a16="http://schemas.microsoft.com/office/drawing/2014/main" val="1037181355"/>
                    </a:ext>
                  </a:extLst>
                </a:gridCol>
                <a:gridCol w="2509520">
                  <a:extLst>
                    <a:ext uri="{9D8B030D-6E8A-4147-A177-3AD203B41FA5}">
                      <a16:colId xmlns:a16="http://schemas.microsoft.com/office/drawing/2014/main" val="219268318"/>
                    </a:ext>
                  </a:extLst>
                </a:gridCol>
                <a:gridCol w="2509520">
                  <a:extLst>
                    <a:ext uri="{9D8B030D-6E8A-4147-A177-3AD203B41FA5}">
                      <a16:colId xmlns:a16="http://schemas.microsoft.com/office/drawing/2014/main" val="1426704902"/>
                    </a:ext>
                  </a:extLst>
                </a:gridCol>
                <a:gridCol w="2509520">
                  <a:extLst>
                    <a:ext uri="{9D8B030D-6E8A-4147-A177-3AD203B41FA5}">
                      <a16:colId xmlns:a16="http://schemas.microsoft.com/office/drawing/2014/main" val="2237075241"/>
                    </a:ext>
                  </a:extLst>
                </a:gridCol>
                <a:gridCol w="2509520">
                  <a:extLst>
                    <a:ext uri="{9D8B030D-6E8A-4147-A177-3AD203B41FA5}">
                      <a16:colId xmlns:a16="http://schemas.microsoft.com/office/drawing/2014/main" val="3702613927"/>
                    </a:ext>
                  </a:extLst>
                </a:gridCol>
                <a:gridCol w="2509520">
                  <a:extLst>
                    <a:ext uri="{9D8B030D-6E8A-4147-A177-3AD203B41FA5}">
                      <a16:colId xmlns:a16="http://schemas.microsoft.com/office/drawing/2014/main" val="1160937132"/>
                    </a:ext>
                  </a:extLst>
                </a:gridCol>
                <a:gridCol w="2509520">
                  <a:extLst>
                    <a:ext uri="{9D8B030D-6E8A-4147-A177-3AD203B41FA5}">
                      <a16:colId xmlns:a16="http://schemas.microsoft.com/office/drawing/2014/main" val="743784606"/>
                    </a:ext>
                  </a:extLst>
                </a:gridCol>
                <a:gridCol w="2509520">
                  <a:extLst>
                    <a:ext uri="{9D8B030D-6E8A-4147-A177-3AD203B41FA5}">
                      <a16:colId xmlns:a16="http://schemas.microsoft.com/office/drawing/2014/main" val="2199882441"/>
                    </a:ext>
                  </a:extLst>
                </a:gridCol>
              </a:tblGrid>
              <a:tr h="1681480">
                <a:tc>
                  <a:txBody>
                    <a:bodyPr/>
                    <a:lstStyle/>
                    <a:p>
                      <a:pPr algn="ctr"/>
                      <a:r>
                        <a:rPr lang="en-US" b="0" dirty="0">
                          <a:solidFill>
                            <a:schemeClr val="bg1"/>
                          </a:solidFill>
                        </a:rPr>
                        <a:t>XS</a:t>
                      </a:r>
                    </a:p>
                  </a:txBody>
                  <a:tcPr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7843999"/>
                  </a:ext>
                </a:extLst>
              </a:tr>
              <a:tr h="1681480">
                <a:tc>
                  <a:txBody>
                    <a:bodyPr/>
                    <a:lstStyle/>
                    <a:p>
                      <a:pPr algn="ctr"/>
                      <a:r>
                        <a:rPr lang="en-US" dirty="0">
                          <a:solidFill>
                            <a:schemeClr val="bg1"/>
                          </a:solidFill>
                        </a:rPr>
                        <a:t>S</a:t>
                      </a:r>
                    </a:p>
                  </a:txBody>
                  <a:tcPr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2415825"/>
                  </a:ext>
                </a:extLst>
              </a:tr>
              <a:tr h="1681480">
                <a:tc>
                  <a:txBody>
                    <a:bodyPr/>
                    <a:lstStyle/>
                    <a:p>
                      <a:pPr algn="ctr"/>
                      <a:r>
                        <a:rPr lang="en-US" dirty="0">
                          <a:solidFill>
                            <a:schemeClr val="bg1"/>
                          </a:solidFill>
                        </a:rPr>
                        <a:t>M</a:t>
                      </a:r>
                    </a:p>
                  </a:txBody>
                  <a:tcPr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529129"/>
                  </a:ext>
                </a:extLst>
              </a:tr>
              <a:tr h="1681480">
                <a:tc>
                  <a:txBody>
                    <a:bodyPr/>
                    <a:lstStyle/>
                    <a:p>
                      <a:pPr algn="ctr"/>
                      <a:r>
                        <a:rPr lang="en-US" dirty="0">
                          <a:solidFill>
                            <a:schemeClr val="bg1"/>
                          </a:solidFill>
                        </a:rPr>
                        <a:t>L</a:t>
                      </a:r>
                    </a:p>
                  </a:txBody>
                  <a:tcPr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9988414"/>
                  </a:ext>
                </a:extLst>
              </a:tr>
              <a:tr h="1681480">
                <a:tc>
                  <a:txBody>
                    <a:bodyPr/>
                    <a:lstStyle/>
                    <a:p>
                      <a:pPr algn="ctr"/>
                      <a:r>
                        <a:rPr lang="en-US" dirty="0">
                          <a:solidFill>
                            <a:schemeClr val="bg1"/>
                          </a:solidFill>
                        </a:rPr>
                        <a:t>XL</a:t>
                      </a:r>
                    </a:p>
                  </a:txBody>
                  <a:tcPr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0334"/>
                  </a:ext>
                </a:extLst>
              </a:tr>
              <a:tr h="1681480">
                <a:tc>
                  <a:txBody>
                    <a:bodyPr/>
                    <a:lstStyle/>
                    <a:p>
                      <a:pPr algn="ctr"/>
                      <a:endParaRPr lang="en-US" dirty="0">
                        <a:solidFill>
                          <a:schemeClr val="bg1"/>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6</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7</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8</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9</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10</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11</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12</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13</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14</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15</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bg1"/>
                          </a:solidFill>
                        </a:rPr>
                        <a:t>16</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310855"/>
                  </a:ext>
                </a:extLst>
              </a:tr>
            </a:tbl>
          </a:graphicData>
        </a:graphic>
      </p:graphicFrame>
      <p:sp>
        <p:nvSpPr>
          <p:cNvPr id="5" name="TextBox 4">
            <a:extLst>
              <a:ext uri="{FF2B5EF4-FFF2-40B4-BE49-F238E27FC236}">
                <a16:creationId xmlns:a16="http://schemas.microsoft.com/office/drawing/2014/main" id="{5BDB0CCE-16EC-C9BA-261A-C0AC5C28941F}"/>
              </a:ext>
            </a:extLst>
          </p:cNvPr>
          <p:cNvSpPr txBox="1"/>
          <p:nvPr/>
        </p:nvSpPr>
        <p:spPr>
          <a:xfrm>
            <a:off x="15894555" y="15331440"/>
            <a:ext cx="4786888" cy="1323439"/>
          </a:xfrm>
          <a:prstGeom prst="rect">
            <a:avLst/>
          </a:prstGeom>
          <a:noFill/>
        </p:spPr>
        <p:txBody>
          <a:bodyPr wrap="none" rtlCol="0">
            <a:spAutoFit/>
          </a:bodyPr>
          <a:lstStyle/>
          <a:p>
            <a:pPr algn="ctr"/>
            <a:r>
              <a:rPr lang="en-US" sz="8000" dirty="0">
                <a:solidFill>
                  <a:schemeClr val="bg1"/>
                </a:solidFill>
                <a:latin typeface="NVIDIA Sans" panose="020B0503020203020204" pitchFamily="34" charset="0"/>
                <a:cs typeface="NVIDIA Sans" panose="020B0503020203020204" pitchFamily="34" charset="0"/>
              </a:rPr>
              <a:t>Shoe Size</a:t>
            </a:r>
          </a:p>
        </p:txBody>
      </p:sp>
      <p:sp>
        <p:nvSpPr>
          <p:cNvPr id="3" name="TextBox 2">
            <a:extLst>
              <a:ext uri="{FF2B5EF4-FFF2-40B4-BE49-F238E27FC236}">
                <a16:creationId xmlns:a16="http://schemas.microsoft.com/office/drawing/2014/main" id="{F2EE1EB0-364F-2E94-1D2B-EC9F297EF1AE}"/>
              </a:ext>
            </a:extLst>
          </p:cNvPr>
          <p:cNvSpPr txBox="1"/>
          <p:nvPr/>
        </p:nvSpPr>
        <p:spPr>
          <a:xfrm rot="16200000">
            <a:off x="210181" y="8852817"/>
            <a:ext cx="4717959" cy="1323439"/>
          </a:xfrm>
          <a:prstGeom prst="rect">
            <a:avLst/>
          </a:prstGeom>
          <a:noFill/>
        </p:spPr>
        <p:txBody>
          <a:bodyPr wrap="none" rtlCol="0">
            <a:spAutoFit/>
          </a:bodyPr>
          <a:lstStyle/>
          <a:p>
            <a:pPr algn="ctr"/>
            <a:r>
              <a:rPr lang="en-US" sz="8000" dirty="0">
                <a:solidFill>
                  <a:schemeClr val="bg1"/>
                </a:solidFill>
                <a:latin typeface="NVIDIA Sans" panose="020B0503020203020204" pitchFamily="34" charset="0"/>
                <a:cs typeface="NVIDIA Sans" panose="020B0503020203020204" pitchFamily="34" charset="0"/>
              </a:rPr>
              <a:t>Shirt Size</a:t>
            </a:r>
          </a:p>
        </p:txBody>
      </p:sp>
    </p:spTree>
    <p:extLst>
      <p:ext uri="{BB962C8B-B14F-4D97-AF65-F5344CB8AC3E}">
        <p14:creationId xmlns:p14="http://schemas.microsoft.com/office/powerpoint/2010/main" val="27153304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63EAE-EAA5-4C2A-3668-D0631F03F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CB4B72-9EE5-7C06-5AE0-BF63357281CC}"/>
              </a:ext>
            </a:extLst>
          </p:cNvPr>
          <p:cNvSpPr>
            <a:spLocks noGrp="1"/>
          </p:cNvSpPr>
          <p:nvPr>
            <p:ph type="title"/>
          </p:nvPr>
        </p:nvSpPr>
        <p:spPr/>
        <p:txBody>
          <a:bodyPr/>
          <a:lstStyle/>
          <a:p>
            <a:r>
              <a:rPr lang="en-US" dirty="0"/>
              <a:t>Choosing Data</a:t>
            </a:r>
          </a:p>
        </p:txBody>
      </p:sp>
      <p:pic>
        <p:nvPicPr>
          <p:cNvPr id="5" name="Picture 4">
            <a:extLst>
              <a:ext uri="{FF2B5EF4-FFF2-40B4-BE49-F238E27FC236}">
                <a16:creationId xmlns:a16="http://schemas.microsoft.com/office/drawing/2014/main" id="{49C5BE3A-E8B9-2476-C909-E9E3550B7A24}"/>
              </a:ext>
            </a:extLst>
          </p:cNvPr>
          <p:cNvPicPr>
            <a:picLocks noChangeAspect="1"/>
          </p:cNvPicPr>
          <p:nvPr/>
        </p:nvPicPr>
        <p:blipFill>
          <a:blip r:embed="rId3"/>
          <a:stretch>
            <a:fillRect/>
          </a:stretch>
        </p:blipFill>
        <p:spPr>
          <a:xfrm>
            <a:off x="4457225" y="5298450"/>
            <a:ext cx="13135831" cy="13413705"/>
          </a:xfrm>
          <a:prstGeom prst="rect">
            <a:avLst/>
          </a:prstGeom>
        </p:spPr>
      </p:pic>
      <p:sp>
        <p:nvSpPr>
          <p:cNvPr id="6" name="Rectangle 5">
            <a:extLst>
              <a:ext uri="{FF2B5EF4-FFF2-40B4-BE49-F238E27FC236}">
                <a16:creationId xmlns:a16="http://schemas.microsoft.com/office/drawing/2014/main" id="{F9BE9BF6-C135-232A-7405-8AA189F9CA1C}"/>
              </a:ext>
            </a:extLst>
          </p:cNvPr>
          <p:cNvSpPr/>
          <p:nvPr/>
        </p:nvSpPr>
        <p:spPr>
          <a:xfrm>
            <a:off x="6502232" y="3914407"/>
            <a:ext cx="10021824"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CT Scan</a:t>
            </a:r>
          </a:p>
        </p:txBody>
      </p:sp>
      <p:pic>
        <p:nvPicPr>
          <p:cNvPr id="7" name="Picture 2">
            <a:extLst>
              <a:ext uri="{FF2B5EF4-FFF2-40B4-BE49-F238E27FC236}">
                <a16:creationId xmlns:a16="http://schemas.microsoft.com/office/drawing/2014/main" id="{94E37EBA-FE68-A64C-1EE8-46CB6322D1A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835"/>
          <a:stretch/>
        </p:blipFill>
        <p:spPr bwMode="auto">
          <a:xfrm>
            <a:off x="17836695" y="3895344"/>
            <a:ext cx="11309950" cy="683849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E1211C3-BD61-D9ED-D271-6D3A7ACD8E31}"/>
              </a:ext>
            </a:extLst>
          </p:cNvPr>
          <p:cNvSpPr/>
          <p:nvPr/>
        </p:nvSpPr>
        <p:spPr>
          <a:xfrm>
            <a:off x="29508859" y="3895344"/>
            <a:ext cx="1901629" cy="683849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algn="ctr">
              <a:lnSpc>
                <a:spcPct val="90000"/>
              </a:lnSpc>
            </a:pPr>
            <a:r>
              <a:rPr lang="en-US" sz="4000" spc="-1500" dirty="0">
                <a:solidFill>
                  <a:sysClr val="windowText" lastClr="000000"/>
                </a:solidFill>
                <a:latin typeface="Trebuchet MS" panose="020B0603020202020204" pitchFamily="34" charset="0"/>
              </a:rPr>
              <a:t>Spectrogram</a:t>
            </a:r>
          </a:p>
        </p:txBody>
      </p:sp>
      <p:pic>
        <p:nvPicPr>
          <p:cNvPr id="1026" name="Picture 2">
            <a:extLst>
              <a:ext uri="{FF2B5EF4-FFF2-40B4-BE49-F238E27FC236}">
                <a16:creationId xmlns:a16="http://schemas.microsoft.com/office/drawing/2014/main" id="{A9E1CEC1-1552-C51F-2F30-7AD8D9EA9A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36695" y="11243599"/>
            <a:ext cx="11309950" cy="734276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D87C05F8-E10C-1D59-0EBE-554521E9DFF9}"/>
              </a:ext>
            </a:extLst>
          </p:cNvPr>
          <p:cNvSpPr/>
          <p:nvPr/>
        </p:nvSpPr>
        <p:spPr>
          <a:xfrm>
            <a:off x="29508860" y="11243599"/>
            <a:ext cx="1901628" cy="734276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algn="ctr">
              <a:lnSpc>
                <a:spcPct val="90000"/>
              </a:lnSpc>
            </a:pPr>
            <a:r>
              <a:rPr lang="en-US" sz="4000" kern="0" spc="-1500" dirty="0">
                <a:solidFill>
                  <a:sysClr val="windowText" lastClr="000000"/>
                </a:solidFill>
                <a:latin typeface="Trebuchet MS" panose="020B0603020202020204" pitchFamily="34" charset="0"/>
              </a:rPr>
              <a:t>Magnetic Data</a:t>
            </a:r>
          </a:p>
        </p:txBody>
      </p:sp>
      <p:sp>
        <p:nvSpPr>
          <p:cNvPr id="3" name="Text Placeholder 2">
            <a:extLst>
              <a:ext uri="{FF2B5EF4-FFF2-40B4-BE49-F238E27FC236}">
                <a16:creationId xmlns:a16="http://schemas.microsoft.com/office/drawing/2014/main" id="{1143D586-6697-6AED-34D1-A671C904E738}"/>
              </a:ext>
            </a:extLst>
          </p:cNvPr>
          <p:cNvSpPr>
            <a:spLocks noGrp="1"/>
          </p:cNvSpPr>
          <p:nvPr>
            <p:ph type="body" sz="quarter" idx="10"/>
          </p:nvPr>
        </p:nvSpPr>
        <p:spPr>
          <a:xfrm>
            <a:off x="2514600" y="2487168"/>
            <a:ext cx="31546800" cy="1408176"/>
          </a:xfrm>
        </p:spPr>
        <p:txBody>
          <a:bodyPr/>
          <a:lstStyle/>
          <a:p>
            <a:r>
              <a:rPr lang="en-US" dirty="0"/>
              <a:t>Analysis Paralysis</a:t>
            </a:r>
          </a:p>
        </p:txBody>
      </p:sp>
    </p:spTree>
    <p:extLst>
      <p:ext uri="{BB962C8B-B14F-4D97-AF65-F5344CB8AC3E}">
        <p14:creationId xmlns:p14="http://schemas.microsoft.com/office/powerpoint/2010/main" val="42000340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C7D49-753F-7C84-60E8-82E8CA95B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63ABD-DFC1-C709-85C6-DF98194DCEF3}"/>
              </a:ext>
            </a:extLst>
          </p:cNvPr>
          <p:cNvSpPr>
            <a:spLocks noGrp="1"/>
          </p:cNvSpPr>
          <p:nvPr>
            <p:ph type="title"/>
          </p:nvPr>
        </p:nvSpPr>
        <p:spPr/>
        <p:txBody>
          <a:bodyPr/>
          <a:lstStyle/>
          <a:p>
            <a:r>
              <a:rPr lang="en-US" dirty="0"/>
              <a:t>Choosing Data</a:t>
            </a:r>
          </a:p>
        </p:txBody>
      </p:sp>
      <p:graphicFrame>
        <p:nvGraphicFramePr>
          <p:cNvPr id="13" name="Chart 12">
            <a:extLst>
              <a:ext uri="{FF2B5EF4-FFF2-40B4-BE49-F238E27FC236}">
                <a16:creationId xmlns:a16="http://schemas.microsoft.com/office/drawing/2014/main" id="{945F6BEF-7801-B05D-9298-C2163DF86B20}"/>
              </a:ext>
            </a:extLst>
          </p:cNvPr>
          <p:cNvGraphicFramePr/>
          <p:nvPr>
            <p:extLst>
              <p:ext uri="{D42A27DB-BD31-4B8C-83A1-F6EECF244321}">
                <p14:modId xmlns:p14="http://schemas.microsoft.com/office/powerpoint/2010/main" val="1108244071"/>
              </p:ext>
            </p:extLst>
          </p:nvPr>
        </p:nvGraphicFramePr>
        <p:xfrm>
          <a:off x="6096000" y="3986784"/>
          <a:ext cx="24384000" cy="15598648"/>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Placeholder 2">
            <a:extLst>
              <a:ext uri="{FF2B5EF4-FFF2-40B4-BE49-F238E27FC236}">
                <a16:creationId xmlns:a16="http://schemas.microsoft.com/office/drawing/2014/main" id="{7769E6D4-57AB-01FD-514F-96F5982DA094}"/>
              </a:ext>
            </a:extLst>
          </p:cNvPr>
          <p:cNvSpPr>
            <a:spLocks noGrp="1"/>
          </p:cNvSpPr>
          <p:nvPr>
            <p:ph type="body" sz="quarter" idx="10"/>
          </p:nvPr>
        </p:nvSpPr>
        <p:spPr>
          <a:xfrm>
            <a:off x="2514600" y="2487168"/>
            <a:ext cx="31546800" cy="1408176"/>
          </a:xfrm>
        </p:spPr>
        <p:txBody>
          <a:bodyPr/>
          <a:lstStyle/>
          <a:p>
            <a:r>
              <a:rPr lang="en-US" dirty="0"/>
              <a:t>Highly Correlated Data</a:t>
            </a:r>
          </a:p>
        </p:txBody>
      </p:sp>
    </p:spTree>
    <p:extLst>
      <p:ext uri="{BB962C8B-B14F-4D97-AF65-F5344CB8AC3E}">
        <p14:creationId xmlns:p14="http://schemas.microsoft.com/office/powerpoint/2010/main" val="25211586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US" dirty="0"/>
              <a:t>Lab 2b – Contrastive Pretraining</a:t>
            </a:r>
          </a:p>
        </p:txBody>
      </p:sp>
    </p:spTree>
    <p:extLst>
      <p:ext uri="{BB962C8B-B14F-4D97-AF65-F5344CB8AC3E}">
        <p14:creationId xmlns:p14="http://schemas.microsoft.com/office/powerpoint/2010/main" val="1523788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Matching Text to Image</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r>
              <a:rPr lang="en-US" dirty="0"/>
              <a:t>Is it Possible?</a:t>
            </a:r>
          </a:p>
        </p:txBody>
      </p:sp>
      <p:sp>
        <p:nvSpPr>
          <p:cNvPr id="12" name="Rectangle 11">
            <a:extLst>
              <a:ext uri="{FF2B5EF4-FFF2-40B4-BE49-F238E27FC236}">
                <a16:creationId xmlns:a16="http://schemas.microsoft.com/office/drawing/2014/main" id="{57B316CB-03EA-4519-EB35-D029F7D00C0B}"/>
              </a:ext>
            </a:extLst>
          </p:cNvPr>
          <p:cNvSpPr/>
          <p:nvPr/>
        </p:nvSpPr>
        <p:spPr>
          <a:xfrm>
            <a:off x="6245375" y="16252611"/>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pic>
        <p:nvPicPr>
          <p:cNvPr id="14" name="Picture 13">
            <a:extLst>
              <a:ext uri="{FF2B5EF4-FFF2-40B4-BE49-F238E27FC236}">
                <a16:creationId xmlns:a16="http://schemas.microsoft.com/office/drawing/2014/main" id="{911306AE-8E2E-5E20-88C8-C34C7D9BAFC4}"/>
              </a:ext>
            </a:extLst>
          </p:cNvPr>
          <p:cNvPicPr>
            <a:picLocks noChangeAspect="1"/>
          </p:cNvPicPr>
          <p:nvPr/>
        </p:nvPicPr>
        <p:blipFill>
          <a:blip r:embed="rId3"/>
          <a:stretch>
            <a:fillRect/>
          </a:stretch>
        </p:blipFill>
        <p:spPr>
          <a:xfrm>
            <a:off x="4156751" y="5562489"/>
            <a:ext cx="10730823" cy="9704768"/>
          </a:xfrm>
          <a:prstGeom prst="rect">
            <a:avLst/>
          </a:prstGeom>
        </p:spPr>
      </p:pic>
    </p:spTree>
    <p:extLst>
      <p:ext uri="{BB962C8B-B14F-4D97-AF65-F5344CB8AC3E}">
        <p14:creationId xmlns:p14="http://schemas.microsoft.com/office/powerpoint/2010/main" val="3731641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Matching Text to Image</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r>
              <a:rPr lang="en-US" dirty="0"/>
              <a:t>Is it Possible?</a:t>
            </a:r>
          </a:p>
        </p:txBody>
      </p:sp>
      <p:sp>
        <p:nvSpPr>
          <p:cNvPr id="12" name="Rectangle 11">
            <a:extLst>
              <a:ext uri="{FF2B5EF4-FFF2-40B4-BE49-F238E27FC236}">
                <a16:creationId xmlns:a16="http://schemas.microsoft.com/office/drawing/2014/main" id="{57B316CB-03EA-4519-EB35-D029F7D00C0B}"/>
              </a:ext>
            </a:extLst>
          </p:cNvPr>
          <p:cNvSpPr/>
          <p:nvPr/>
        </p:nvSpPr>
        <p:spPr>
          <a:xfrm>
            <a:off x="6245375" y="16252611"/>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pic>
        <p:nvPicPr>
          <p:cNvPr id="14" name="Picture 13">
            <a:extLst>
              <a:ext uri="{FF2B5EF4-FFF2-40B4-BE49-F238E27FC236}">
                <a16:creationId xmlns:a16="http://schemas.microsoft.com/office/drawing/2014/main" id="{911306AE-8E2E-5E20-88C8-C34C7D9BAFC4}"/>
              </a:ext>
            </a:extLst>
          </p:cNvPr>
          <p:cNvPicPr>
            <a:picLocks noChangeAspect="1"/>
          </p:cNvPicPr>
          <p:nvPr/>
        </p:nvPicPr>
        <p:blipFill>
          <a:blip r:embed="rId3"/>
          <a:stretch>
            <a:fillRect/>
          </a:stretch>
        </p:blipFill>
        <p:spPr>
          <a:xfrm>
            <a:off x="4156751" y="5562489"/>
            <a:ext cx="10730823" cy="9704768"/>
          </a:xfrm>
          <a:prstGeom prst="rect">
            <a:avLst/>
          </a:prstGeom>
        </p:spPr>
      </p:pic>
      <p:grpSp>
        <p:nvGrpSpPr>
          <p:cNvPr id="22" name="Group 21">
            <a:extLst>
              <a:ext uri="{FF2B5EF4-FFF2-40B4-BE49-F238E27FC236}">
                <a16:creationId xmlns:a16="http://schemas.microsoft.com/office/drawing/2014/main" id="{1E02F4BF-54C0-8383-1A92-B07DA1ACAEDD}"/>
              </a:ext>
            </a:extLst>
          </p:cNvPr>
          <p:cNvGrpSpPr/>
          <p:nvPr/>
        </p:nvGrpSpPr>
        <p:grpSpPr>
          <a:xfrm>
            <a:off x="13662134" y="6899127"/>
            <a:ext cx="17262889" cy="11899141"/>
            <a:chOff x="13662134" y="6899127"/>
            <a:chExt cx="17262889" cy="11899141"/>
          </a:xfrm>
        </p:grpSpPr>
        <p:pic>
          <p:nvPicPr>
            <p:cNvPr id="15" name="Picture 14" descr="A black background with a black square&#10;&#10;Description automatically generated with medium confidence">
              <a:extLst>
                <a:ext uri="{FF2B5EF4-FFF2-40B4-BE49-F238E27FC236}">
                  <a16:creationId xmlns:a16="http://schemas.microsoft.com/office/drawing/2014/main" id="{568AFB11-E532-2F93-59FA-1B2DB7FD32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36414" y="6899127"/>
              <a:ext cx="3727732" cy="3727732"/>
            </a:xfrm>
            <a:prstGeom prst="rect">
              <a:avLst/>
            </a:prstGeom>
          </p:spPr>
        </p:pic>
        <p:pic>
          <p:nvPicPr>
            <p:cNvPr id="16" name="Picture 15" descr="A black background with a black square&#10;&#10;Description automatically generated with medium confidence">
              <a:extLst>
                <a:ext uri="{FF2B5EF4-FFF2-40B4-BE49-F238E27FC236}">
                  <a16:creationId xmlns:a16="http://schemas.microsoft.com/office/drawing/2014/main" id="{FF233647-8062-BED4-3CB2-51A9C775B5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36414" y="15070536"/>
              <a:ext cx="3727732" cy="3727732"/>
            </a:xfrm>
            <a:prstGeom prst="rect">
              <a:avLst/>
            </a:prstGeom>
          </p:spPr>
        </p:pic>
        <p:sp>
          <p:nvSpPr>
            <p:cNvPr id="17" name="Arrow: Right 16">
              <a:extLst>
                <a:ext uri="{FF2B5EF4-FFF2-40B4-BE49-F238E27FC236}">
                  <a16:creationId xmlns:a16="http://schemas.microsoft.com/office/drawing/2014/main" id="{1BF52849-0014-5F25-0308-90231C89539E}"/>
                </a:ext>
              </a:extLst>
            </p:cNvPr>
            <p:cNvSpPr/>
            <p:nvPr/>
          </p:nvSpPr>
          <p:spPr>
            <a:xfrm>
              <a:off x="15353561" y="8220068"/>
              <a:ext cx="3382853" cy="1085850"/>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8" name="Arrow: Right 17">
              <a:extLst>
                <a:ext uri="{FF2B5EF4-FFF2-40B4-BE49-F238E27FC236}">
                  <a16:creationId xmlns:a16="http://schemas.microsoft.com/office/drawing/2014/main" id="{58243C89-8950-B197-C775-7CC11A2AED6C}"/>
                </a:ext>
              </a:extLst>
            </p:cNvPr>
            <p:cNvSpPr/>
            <p:nvPr/>
          </p:nvSpPr>
          <p:spPr>
            <a:xfrm>
              <a:off x="13662134" y="16391477"/>
              <a:ext cx="5074280" cy="1085850"/>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9" name="Rectangle 18">
              <a:extLst>
                <a:ext uri="{FF2B5EF4-FFF2-40B4-BE49-F238E27FC236}">
                  <a16:creationId xmlns:a16="http://schemas.microsoft.com/office/drawing/2014/main" id="{8CE42C0D-3D40-C7ED-3D00-02F2D8547C5B}"/>
                </a:ext>
              </a:extLst>
            </p:cNvPr>
            <p:cNvSpPr/>
            <p:nvPr/>
          </p:nvSpPr>
          <p:spPr>
            <a:xfrm>
              <a:off x="24371450" y="12271686"/>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[0.8, -0.6, 0.7]</a:t>
              </a:r>
            </a:p>
          </p:txBody>
        </p:sp>
        <p:sp>
          <p:nvSpPr>
            <p:cNvPr id="20" name="Arrow: Bent 19">
              <a:extLst>
                <a:ext uri="{FF2B5EF4-FFF2-40B4-BE49-F238E27FC236}">
                  <a16:creationId xmlns:a16="http://schemas.microsoft.com/office/drawing/2014/main" id="{A2094C6B-9DC9-95C8-1092-2A7A99E6E7DB}"/>
                </a:ext>
              </a:extLst>
            </p:cNvPr>
            <p:cNvSpPr/>
            <p:nvPr/>
          </p:nvSpPr>
          <p:spPr>
            <a:xfrm rot="5400000">
              <a:off x="24274462" y="6843715"/>
              <a:ext cx="2686050" cy="5857875"/>
            </a:xfrm>
            <a:prstGeom prst="bentArrow">
              <a:avLst>
                <a:gd name="adj1" fmla="val 22039"/>
                <a:gd name="adj2" fmla="val 25000"/>
                <a:gd name="adj3" fmla="val 25000"/>
                <a:gd name="adj4" fmla="val 4375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1" name="Arrow: Bent 20">
              <a:extLst>
                <a:ext uri="{FF2B5EF4-FFF2-40B4-BE49-F238E27FC236}">
                  <a16:creationId xmlns:a16="http://schemas.microsoft.com/office/drawing/2014/main" id="{A2A07E56-9C72-292E-9F98-8ACD1DFE3A60}"/>
                </a:ext>
              </a:extLst>
            </p:cNvPr>
            <p:cNvSpPr/>
            <p:nvPr/>
          </p:nvSpPr>
          <p:spPr>
            <a:xfrm rot="16200000" flipV="1">
              <a:off x="24274462" y="13205364"/>
              <a:ext cx="2686050" cy="5857875"/>
            </a:xfrm>
            <a:prstGeom prst="bentArrow">
              <a:avLst>
                <a:gd name="adj1" fmla="val 22039"/>
                <a:gd name="adj2" fmla="val 25000"/>
                <a:gd name="adj3" fmla="val 25000"/>
                <a:gd name="adj4" fmla="val 4375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spTree>
    <p:extLst>
      <p:ext uri="{BB962C8B-B14F-4D97-AF65-F5344CB8AC3E}">
        <p14:creationId xmlns:p14="http://schemas.microsoft.com/office/powerpoint/2010/main" val="154420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Cosine Similarity</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dirty="0"/>
          </a:p>
        </p:txBody>
      </p:sp>
      <p:sp>
        <p:nvSpPr>
          <p:cNvPr id="12" name="Rectangle 11">
            <a:extLst>
              <a:ext uri="{FF2B5EF4-FFF2-40B4-BE49-F238E27FC236}">
                <a16:creationId xmlns:a16="http://schemas.microsoft.com/office/drawing/2014/main" id="{57B316CB-03EA-4519-EB35-D029F7D00C0B}"/>
              </a:ext>
            </a:extLst>
          </p:cNvPr>
          <p:cNvSpPr/>
          <p:nvPr/>
        </p:nvSpPr>
        <p:spPr>
          <a:xfrm>
            <a:off x="6245375" y="16252611"/>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pic>
        <p:nvPicPr>
          <p:cNvPr id="14" name="Picture 13">
            <a:extLst>
              <a:ext uri="{FF2B5EF4-FFF2-40B4-BE49-F238E27FC236}">
                <a16:creationId xmlns:a16="http://schemas.microsoft.com/office/drawing/2014/main" id="{911306AE-8E2E-5E20-88C8-C34C7D9BAFC4}"/>
              </a:ext>
            </a:extLst>
          </p:cNvPr>
          <p:cNvPicPr>
            <a:picLocks noChangeAspect="1"/>
          </p:cNvPicPr>
          <p:nvPr/>
        </p:nvPicPr>
        <p:blipFill>
          <a:blip r:embed="rId3"/>
          <a:stretch>
            <a:fillRect/>
          </a:stretch>
        </p:blipFill>
        <p:spPr>
          <a:xfrm>
            <a:off x="4156751" y="5562489"/>
            <a:ext cx="10730823" cy="9704768"/>
          </a:xfrm>
          <a:prstGeom prst="rect">
            <a:avLst/>
          </a:prstGeom>
        </p:spPr>
      </p:pic>
      <p:pic>
        <p:nvPicPr>
          <p:cNvPr id="15" name="Picture 14" descr="A black background with a black square&#10;&#10;Description automatically generated with medium confidence">
            <a:extLst>
              <a:ext uri="{FF2B5EF4-FFF2-40B4-BE49-F238E27FC236}">
                <a16:creationId xmlns:a16="http://schemas.microsoft.com/office/drawing/2014/main" id="{568AFB11-E532-2F93-59FA-1B2DB7FD32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36414" y="6899127"/>
            <a:ext cx="3727732" cy="3727732"/>
          </a:xfrm>
          <a:prstGeom prst="rect">
            <a:avLst/>
          </a:prstGeom>
        </p:spPr>
      </p:pic>
      <p:pic>
        <p:nvPicPr>
          <p:cNvPr id="16" name="Picture 15" descr="A black background with a black square&#10;&#10;Description automatically generated with medium confidence">
            <a:extLst>
              <a:ext uri="{FF2B5EF4-FFF2-40B4-BE49-F238E27FC236}">
                <a16:creationId xmlns:a16="http://schemas.microsoft.com/office/drawing/2014/main" id="{FF233647-8062-BED4-3CB2-51A9C775B5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36414" y="15070536"/>
            <a:ext cx="3727732" cy="3727732"/>
          </a:xfrm>
          <a:prstGeom prst="rect">
            <a:avLst/>
          </a:prstGeom>
        </p:spPr>
      </p:pic>
      <p:sp>
        <p:nvSpPr>
          <p:cNvPr id="17" name="Arrow: Right 16">
            <a:extLst>
              <a:ext uri="{FF2B5EF4-FFF2-40B4-BE49-F238E27FC236}">
                <a16:creationId xmlns:a16="http://schemas.microsoft.com/office/drawing/2014/main" id="{1BF52849-0014-5F25-0308-90231C89539E}"/>
              </a:ext>
            </a:extLst>
          </p:cNvPr>
          <p:cNvSpPr/>
          <p:nvPr/>
        </p:nvSpPr>
        <p:spPr>
          <a:xfrm>
            <a:off x="15353561" y="8220068"/>
            <a:ext cx="3382853" cy="1085850"/>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8" name="Arrow: Right 17">
            <a:extLst>
              <a:ext uri="{FF2B5EF4-FFF2-40B4-BE49-F238E27FC236}">
                <a16:creationId xmlns:a16="http://schemas.microsoft.com/office/drawing/2014/main" id="{58243C89-8950-B197-C775-7CC11A2AED6C}"/>
              </a:ext>
            </a:extLst>
          </p:cNvPr>
          <p:cNvSpPr/>
          <p:nvPr/>
        </p:nvSpPr>
        <p:spPr>
          <a:xfrm>
            <a:off x="13662134" y="16391477"/>
            <a:ext cx="5074280" cy="1085850"/>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9" name="Rectangle 18">
            <a:extLst>
              <a:ext uri="{FF2B5EF4-FFF2-40B4-BE49-F238E27FC236}">
                <a16:creationId xmlns:a16="http://schemas.microsoft.com/office/drawing/2014/main" id="{8CE42C0D-3D40-C7ED-3D00-02F2D8547C5B}"/>
              </a:ext>
            </a:extLst>
          </p:cNvPr>
          <p:cNvSpPr/>
          <p:nvPr/>
        </p:nvSpPr>
        <p:spPr>
          <a:xfrm>
            <a:off x="23036199" y="8080876"/>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3" name="Rectangle 2">
            <a:extLst>
              <a:ext uri="{FF2B5EF4-FFF2-40B4-BE49-F238E27FC236}">
                <a16:creationId xmlns:a16="http://schemas.microsoft.com/office/drawing/2014/main" id="{1676316B-3C02-1137-A5B3-1FF917E302F8}"/>
              </a:ext>
            </a:extLst>
          </p:cNvPr>
          <p:cNvSpPr/>
          <p:nvPr/>
        </p:nvSpPr>
        <p:spPr>
          <a:xfrm>
            <a:off x="23036198" y="16252611"/>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spTree>
    <p:extLst>
      <p:ext uri="{BB962C8B-B14F-4D97-AF65-F5344CB8AC3E}">
        <p14:creationId xmlns:p14="http://schemas.microsoft.com/office/powerpoint/2010/main" val="40131169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Cosine Similarity</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dirty="0"/>
          </a:p>
        </p:txBody>
      </p:sp>
      <p:cxnSp>
        <p:nvCxnSpPr>
          <p:cNvPr id="8" name="Straight Arrow Connector 7">
            <a:extLst>
              <a:ext uri="{FF2B5EF4-FFF2-40B4-BE49-F238E27FC236}">
                <a16:creationId xmlns:a16="http://schemas.microsoft.com/office/drawing/2014/main" id="{5E3663AE-0461-2E95-0030-5A82CEC0FD71}"/>
              </a:ext>
            </a:extLst>
          </p:cNvPr>
          <p:cNvCxnSpPr/>
          <p:nvPr/>
        </p:nvCxnSpPr>
        <p:spPr>
          <a:xfrm flipV="1">
            <a:off x="7229475" y="7611122"/>
            <a:ext cx="0" cy="982980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403035C-992B-1DDE-D135-9E77F6D272B8}"/>
              </a:ext>
            </a:extLst>
          </p:cNvPr>
          <p:cNvCxnSpPr>
            <a:cxnSpLocks/>
          </p:cNvCxnSpPr>
          <p:nvPr/>
        </p:nvCxnSpPr>
        <p:spPr>
          <a:xfrm flipV="1">
            <a:off x="7229475" y="7611121"/>
            <a:ext cx="9829801" cy="9829801"/>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4C670D0-E64D-E220-3BD5-564804945FFE}"/>
              </a:ext>
            </a:extLst>
          </p:cNvPr>
          <p:cNvSpPr/>
          <p:nvPr/>
        </p:nvSpPr>
        <p:spPr>
          <a:xfrm>
            <a:off x="5876832"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28" name="Rectangle 27">
            <a:extLst>
              <a:ext uri="{FF2B5EF4-FFF2-40B4-BE49-F238E27FC236}">
                <a16:creationId xmlns:a16="http://schemas.microsoft.com/office/drawing/2014/main" id="{5FB6B05E-E20A-774A-7139-12B12964EFC4}"/>
              </a:ext>
            </a:extLst>
          </p:cNvPr>
          <p:cNvSpPr/>
          <p:nvPr/>
        </p:nvSpPr>
        <p:spPr>
          <a:xfrm>
            <a:off x="15706633"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pic>
        <p:nvPicPr>
          <p:cNvPr id="29" name="Picture 28">
            <a:extLst>
              <a:ext uri="{FF2B5EF4-FFF2-40B4-BE49-F238E27FC236}">
                <a16:creationId xmlns:a16="http://schemas.microsoft.com/office/drawing/2014/main" id="{4AAF4DDE-CCDE-4A6B-0FFB-4A2C9A74F19A}"/>
              </a:ext>
            </a:extLst>
          </p:cNvPr>
          <p:cNvPicPr>
            <a:picLocks noChangeAspect="1"/>
          </p:cNvPicPr>
          <p:nvPr/>
        </p:nvPicPr>
        <p:blipFill>
          <a:blip r:embed="rId3"/>
          <a:stretch>
            <a:fillRect/>
          </a:stretch>
        </p:blipFill>
        <p:spPr>
          <a:xfrm>
            <a:off x="2464138" y="5001769"/>
            <a:ext cx="2958424" cy="2675547"/>
          </a:xfrm>
          <a:prstGeom prst="rect">
            <a:avLst/>
          </a:prstGeom>
        </p:spPr>
      </p:pic>
      <p:sp>
        <p:nvSpPr>
          <p:cNvPr id="3" name="Rectangle 2">
            <a:extLst>
              <a:ext uri="{FF2B5EF4-FFF2-40B4-BE49-F238E27FC236}">
                <a16:creationId xmlns:a16="http://schemas.microsoft.com/office/drawing/2014/main" id="{B333E001-10F0-29DD-2817-132391C993BC}"/>
              </a:ext>
            </a:extLst>
          </p:cNvPr>
          <p:cNvSpPr/>
          <p:nvPr/>
        </p:nvSpPr>
        <p:spPr>
          <a:xfrm>
            <a:off x="12264024" y="8923418"/>
            <a:ext cx="6553573" cy="1363582"/>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spTree>
    <p:extLst>
      <p:ext uri="{BB962C8B-B14F-4D97-AF65-F5344CB8AC3E}">
        <p14:creationId xmlns:p14="http://schemas.microsoft.com/office/powerpoint/2010/main" val="2885574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Cosine Similarity</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dirty="0"/>
          </a:p>
        </p:txBody>
      </p:sp>
      <p:cxnSp>
        <p:nvCxnSpPr>
          <p:cNvPr id="8" name="Straight Arrow Connector 7">
            <a:extLst>
              <a:ext uri="{FF2B5EF4-FFF2-40B4-BE49-F238E27FC236}">
                <a16:creationId xmlns:a16="http://schemas.microsoft.com/office/drawing/2014/main" id="{5E3663AE-0461-2E95-0030-5A82CEC0FD71}"/>
              </a:ext>
            </a:extLst>
          </p:cNvPr>
          <p:cNvCxnSpPr/>
          <p:nvPr/>
        </p:nvCxnSpPr>
        <p:spPr>
          <a:xfrm flipV="1">
            <a:off x="7229475" y="7611122"/>
            <a:ext cx="0" cy="982980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403035C-992B-1DDE-D135-9E77F6D272B8}"/>
              </a:ext>
            </a:extLst>
          </p:cNvPr>
          <p:cNvCxnSpPr>
            <a:cxnSpLocks/>
          </p:cNvCxnSpPr>
          <p:nvPr/>
        </p:nvCxnSpPr>
        <p:spPr>
          <a:xfrm flipV="1">
            <a:off x="7229475" y="7611121"/>
            <a:ext cx="9829801" cy="9829801"/>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4C670D0-E64D-E220-3BD5-564804945FFE}"/>
              </a:ext>
            </a:extLst>
          </p:cNvPr>
          <p:cNvSpPr/>
          <p:nvPr/>
        </p:nvSpPr>
        <p:spPr>
          <a:xfrm>
            <a:off x="5876832"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28" name="Rectangle 27">
            <a:extLst>
              <a:ext uri="{FF2B5EF4-FFF2-40B4-BE49-F238E27FC236}">
                <a16:creationId xmlns:a16="http://schemas.microsoft.com/office/drawing/2014/main" id="{5FB6B05E-E20A-774A-7139-12B12964EFC4}"/>
              </a:ext>
            </a:extLst>
          </p:cNvPr>
          <p:cNvSpPr/>
          <p:nvPr/>
        </p:nvSpPr>
        <p:spPr>
          <a:xfrm>
            <a:off x="15706633"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pic>
        <p:nvPicPr>
          <p:cNvPr id="29" name="Picture 28">
            <a:extLst>
              <a:ext uri="{FF2B5EF4-FFF2-40B4-BE49-F238E27FC236}">
                <a16:creationId xmlns:a16="http://schemas.microsoft.com/office/drawing/2014/main" id="{4AAF4DDE-CCDE-4A6B-0FFB-4A2C9A74F19A}"/>
              </a:ext>
            </a:extLst>
          </p:cNvPr>
          <p:cNvPicPr>
            <a:picLocks noChangeAspect="1"/>
          </p:cNvPicPr>
          <p:nvPr/>
        </p:nvPicPr>
        <p:blipFill>
          <a:blip r:embed="rId3"/>
          <a:stretch>
            <a:fillRect/>
          </a:stretch>
        </p:blipFill>
        <p:spPr>
          <a:xfrm>
            <a:off x="2464138" y="5001769"/>
            <a:ext cx="2958424" cy="2675547"/>
          </a:xfrm>
          <a:prstGeom prst="rect">
            <a:avLst/>
          </a:prstGeom>
        </p:spPr>
      </p:pic>
      <p:grpSp>
        <p:nvGrpSpPr>
          <p:cNvPr id="34" name="Group 33">
            <a:extLst>
              <a:ext uri="{FF2B5EF4-FFF2-40B4-BE49-F238E27FC236}">
                <a16:creationId xmlns:a16="http://schemas.microsoft.com/office/drawing/2014/main" id="{DED83A8A-DF9A-D4A3-A89C-52939CC49B39}"/>
              </a:ext>
            </a:extLst>
          </p:cNvPr>
          <p:cNvGrpSpPr/>
          <p:nvPr/>
        </p:nvGrpSpPr>
        <p:grpSpPr>
          <a:xfrm>
            <a:off x="6000749" y="12526021"/>
            <a:ext cx="9436598" cy="4903543"/>
            <a:chOff x="9344024" y="11887199"/>
            <a:chExt cx="9436598" cy="4903543"/>
          </a:xfrm>
        </p:grpSpPr>
        <p:sp>
          <p:nvSpPr>
            <p:cNvPr id="31" name="Arrow: Circular 30">
              <a:extLst>
                <a:ext uri="{FF2B5EF4-FFF2-40B4-BE49-F238E27FC236}">
                  <a16:creationId xmlns:a16="http://schemas.microsoft.com/office/drawing/2014/main" id="{3A20EDA5-F918-8B26-194A-7E0127F0A571}"/>
                </a:ext>
              </a:extLst>
            </p:cNvPr>
            <p:cNvSpPr/>
            <p:nvPr/>
          </p:nvSpPr>
          <p:spPr>
            <a:xfrm rot="3089527" flipH="1">
              <a:off x="9253490" y="12756858"/>
              <a:ext cx="4124418" cy="3943350"/>
            </a:xfrm>
            <a:prstGeom prst="circularArrow">
              <a:avLst>
                <a:gd name="adj1" fmla="val 13249"/>
                <a:gd name="adj2" fmla="val 1142319"/>
                <a:gd name="adj3" fmla="val 19570667"/>
                <a:gd name="adj4" fmla="val 14999400"/>
                <a:gd name="adj5" fmla="val 1288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DC94D8BB-8615-A18F-1C8D-9FCA1922693B}"/>
                    </a:ext>
                  </a:extLst>
                </p:cNvPr>
                <p:cNvSpPr/>
                <p:nvPr/>
              </p:nvSpPr>
              <p:spPr>
                <a:xfrm>
                  <a:off x="11728384" y="11887199"/>
                  <a:ext cx="1641321" cy="1363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4000" i="1" smtClean="0">
                                <a:solidFill>
                                  <a:schemeClr val="bg1"/>
                                </a:solidFill>
                                <a:latin typeface="Cambria Math" panose="02040503050406030204" pitchFamily="18" charset="0"/>
                                <a:cs typeface="NVIDIA Sans" panose="020B0503020203020204" pitchFamily="34" charset="0"/>
                              </a:rPr>
                            </m:ctrlPr>
                          </m:sSupPr>
                          <m:e>
                            <m:r>
                              <a:rPr lang="en-US" sz="4000" b="0" i="1" smtClean="0">
                                <a:solidFill>
                                  <a:schemeClr val="bg1"/>
                                </a:solidFill>
                                <a:latin typeface="Cambria Math" panose="02040503050406030204" pitchFamily="18" charset="0"/>
                                <a:cs typeface="NVIDIA Sans" panose="020B0503020203020204" pitchFamily="34" charset="0"/>
                              </a:rPr>
                              <m:t>45</m:t>
                            </m:r>
                          </m:e>
                          <m:sup>
                            <m:r>
                              <a:rPr lang="en-US" sz="400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32" name="Rectangle 31">
                  <a:extLst>
                    <a:ext uri="{FF2B5EF4-FFF2-40B4-BE49-F238E27FC236}">
                      <a16:creationId xmlns:a16="http://schemas.microsoft.com/office/drawing/2014/main" id="{DC94D8BB-8615-A18F-1C8D-9FCA1922693B}"/>
                    </a:ext>
                  </a:extLst>
                </p:cNvPr>
                <p:cNvSpPr>
                  <a:spLocks noRot="1" noChangeAspect="1" noMove="1" noResize="1" noEditPoints="1" noAdjustHandles="1" noChangeArrowheads="1" noChangeShapeType="1" noTextEdit="1"/>
                </p:cNvSpPr>
                <p:nvPr/>
              </p:nvSpPr>
              <p:spPr>
                <a:xfrm>
                  <a:off x="11728384" y="11887199"/>
                  <a:ext cx="1641321" cy="1363582"/>
                </a:xfrm>
                <a:prstGeom prst="rect">
                  <a:avLst/>
                </a:prstGeom>
                <a:blipFill>
                  <a:blip r:embed="rId6"/>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2A1C1958-DA7C-F294-B9E6-84BF854DC655}"/>
                    </a:ext>
                  </a:extLst>
                </p:cNvPr>
                <p:cNvSpPr/>
                <p:nvPr/>
              </p:nvSpPr>
              <p:spPr>
                <a:xfrm>
                  <a:off x="12656660" y="14344649"/>
                  <a:ext cx="6123962" cy="1363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bg1"/>
                            </a:solidFill>
                            <a:latin typeface="Cambria Math" panose="02040503050406030204" pitchFamily="18" charset="0"/>
                            <a:cs typeface="NVIDIA Sans" panose="020B0503020203020204" pitchFamily="34" charset="0"/>
                          </a:rPr>
                          <m:t>𝑐𝑜𝑠</m:t>
                        </m:r>
                        <m:d>
                          <m:dPr>
                            <m:ctrlPr>
                              <a:rPr lang="en-US" sz="4000" b="0" i="1" smtClean="0">
                                <a:solidFill>
                                  <a:schemeClr val="bg1"/>
                                </a:solidFill>
                                <a:latin typeface="Cambria Math" panose="02040503050406030204" pitchFamily="18" charset="0"/>
                                <a:cs typeface="NVIDIA Sans" panose="020B0503020203020204" pitchFamily="34" charset="0"/>
                              </a:rPr>
                            </m:ctrlPr>
                          </m:dPr>
                          <m:e>
                            <m:sSup>
                              <m:sSupPr>
                                <m:ctrlPr>
                                  <a:rPr lang="en-US" sz="4000" b="0" i="1" smtClean="0">
                                    <a:solidFill>
                                      <a:schemeClr val="bg1"/>
                                    </a:solidFill>
                                    <a:latin typeface="Cambria Math" panose="02040503050406030204" pitchFamily="18" charset="0"/>
                                    <a:cs typeface="NVIDIA Sans" panose="020B0503020203020204" pitchFamily="34" charset="0"/>
                                  </a:rPr>
                                </m:ctrlPr>
                              </m:sSupPr>
                              <m:e>
                                <m:r>
                                  <a:rPr lang="en-US" sz="4000" b="0" i="1" smtClean="0">
                                    <a:solidFill>
                                      <a:schemeClr val="bg1"/>
                                    </a:solidFill>
                                    <a:latin typeface="Cambria Math" panose="02040503050406030204" pitchFamily="18" charset="0"/>
                                    <a:cs typeface="NVIDIA Sans" panose="020B0503020203020204" pitchFamily="34" charset="0"/>
                                  </a:rPr>
                                  <m:t>45</m:t>
                                </m:r>
                              </m:e>
                              <m:sup>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e>
                        </m:d>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f>
                          <m:fPr>
                            <m:ctrlP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rad>
                              <m:radPr>
                                <m:degHide m:val="on"/>
                                <m:ctrlP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m:t>
                            </m:r>
                          </m:den>
                        </m:f>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33" name="Rectangle 32">
                  <a:extLst>
                    <a:ext uri="{FF2B5EF4-FFF2-40B4-BE49-F238E27FC236}">
                      <a16:creationId xmlns:a16="http://schemas.microsoft.com/office/drawing/2014/main" id="{2A1C1958-DA7C-F294-B9E6-84BF854DC655}"/>
                    </a:ext>
                  </a:extLst>
                </p:cNvPr>
                <p:cNvSpPr>
                  <a:spLocks noRot="1" noChangeAspect="1" noMove="1" noResize="1" noEditPoints="1" noAdjustHandles="1" noChangeArrowheads="1" noChangeShapeType="1" noTextEdit="1"/>
                </p:cNvSpPr>
                <p:nvPr/>
              </p:nvSpPr>
              <p:spPr>
                <a:xfrm>
                  <a:off x="12656660" y="14344649"/>
                  <a:ext cx="6123962" cy="1363582"/>
                </a:xfrm>
                <a:prstGeom prst="rect">
                  <a:avLst/>
                </a:prstGeom>
                <a:blipFill>
                  <a:blip r:embed="rId7"/>
                  <a:stretch>
                    <a:fillRect/>
                  </a:stretch>
                </a:blipFill>
                <a:ln>
                  <a:noFill/>
                </a:ln>
              </p:spPr>
              <p:txBody>
                <a:bodyPr/>
                <a:lstStyle/>
                <a:p>
                  <a:r>
                    <a:rPr lang="en-US">
                      <a:noFill/>
                    </a:rPr>
                    <a:t> </a:t>
                  </a:r>
                </a:p>
              </p:txBody>
            </p:sp>
          </mc:Fallback>
        </mc:AlternateContent>
      </p:grpSp>
      <p:sp>
        <p:nvSpPr>
          <p:cNvPr id="3" name="Rectangle 2">
            <a:extLst>
              <a:ext uri="{FF2B5EF4-FFF2-40B4-BE49-F238E27FC236}">
                <a16:creationId xmlns:a16="http://schemas.microsoft.com/office/drawing/2014/main" id="{B333E001-10F0-29DD-2817-132391C993BC}"/>
              </a:ext>
            </a:extLst>
          </p:cNvPr>
          <p:cNvSpPr/>
          <p:nvPr/>
        </p:nvSpPr>
        <p:spPr>
          <a:xfrm>
            <a:off x="12264024" y="8923418"/>
            <a:ext cx="6553573" cy="1363582"/>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spTree>
    <p:extLst>
      <p:ext uri="{BB962C8B-B14F-4D97-AF65-F5344CB8AC3E}">
        <p14:creationId xmlns:p14="http://schemas.microsoft.com/office/powerpoint/2010/main" val="206504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Cosine Similarity</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dirty="0"/>
          </a:p>
        </p:txBody>
      </p:sp>
      <p:cxnSp>
        <p:nvCxnSpPr>
          <p:cNvPr id="8" name="Straight Arrow Connector 7">
            <a:extLst>
              <a:ext uri="{FF2B5EF4-FFF2-40B4-BE49-F238E27FC236}">
                <a16:creationId xmlns:a16="http://schemas.microsoft.com/office/drawing/2014/main" id="{5E3663AE-0461-2E95-0030-5A82CEC0FD71}"/>
              </a:ext>
            </a:extLst>
          </p:cNvPr>
          <p:cNvCxnSpPr/>
          <p:nvPr/>
        </p:nvCxnSpPr>
        <p:spPr>
          <a:xfrm flipV="1">
            <a:off x="7229475" y="7611122"/>
            <a:ext cx="0" cy="982980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403035C-992B-1DDE-D135-9E77F6D272B8}"/>
              </a:ext>
            </a:extLst>
          </p:cNvPr>
          <p:cNvCxnSpPr>
            <a:cxnSpLocks/>
          </p:cNvCxnSpPr>
          <p:nvPr/>
        </p:nvCxnSpPr>
        <p:spPr>
          <a:xfrm flipV="1">
            <a:off x="7229475" y="7611121"/>
            <a:ext cx="9829801" cy="9829801"/>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4C670D0-E64D-E220-3BD5-564804945FFE}"/>
              </a:ext>
            </a:extLst>
          </p:cNvPr>
          <p:cNvSpPr/>
          <p:nvPr/>
        </p:nvSpPr>
        <p:spPr>
          <a:xfrm>
            <a:off x="5876832"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28" name="Rectangle 27">
            <a:extLst>
              <a:ext uri="{FF2B5EF4-FFF2-40B4-BE49-F238E27FC236}">
                <a16:creationId xmlns:a16="http://schemas.microsoft.com/office/drawing/2014/main" id="{5FB6B05E-E20A-774A-7139-12B12964EFC4}"/>
              </a:ext>
            </a:extLst>
          </p:cNvPr>
          <p:cNvSpPr/>
          <p:nvPr/>
        </p:nvSpPr>
        <p:spPr>
          <a:xfrm>
            <a:off x="15706633"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pic>
        <p:nvPicPr>
          <p:cNvPr id="29" name="Picture 28">
            <a:extLst>
              <a:ext uri="{FF2B5EF4-FFF2-40B4-BE49-F238E27FC236}">
                <a16:creationId xmlns:a16="http://schemas.microsoft.com/office/drawing/2014/main" id="{4AAF4DDE-CCDE-4A6B-0FFB-4A2C9A74F19A}"/>
              </a:ext>
            </a:extLst>
          </p:cNvPr>
          <p:cNvPicPr>
            <a:picLocks noChangeAspect="1"/>
          </p:cNvPicPr>
          <p:nvPr/>
        </p:nvPicPr>
        <p:blipFill>
          <a:blip r:embed="rId3"/>
          <a:stretch>
            <a:fillRect/>
          </a:stretch>
        </p:blipFill>
        <p:spPr>
          <a:xfrm>
            <a:off x="2464138" y="5001769"/>
            <a:ext cx="2958424" cy="2675547"/>
          </a:xfrm>
          <a:prstGeom prst="rect">
            <a:avLst/>
          </a:prstGeom>
        </p:spPr>
      </p:pic>
      <p:grpSp>
        <p:nvGrpSpPr>
          <p:cNvPr id="34" name="Group 33">
            <a:extLst>
              <a:ext uri="{FF2B5EF4-FFF2-40B4-BE49-F238E27FC236}">
                <a16:creationId xmlns:a16="http://schemas.microsoft.com/office/drawing/2014/main" id="{DED83A8A-DF9A-D4A3-A89C-52939CC49B39}"/>
              </a:ext>
            </a:extLst>
          </p:cNvPr>
          <p:cNvGrpSpPr/>
          <p:nvPr/>
        </p:nvGrpSpPr>
        <p:grpSpPr>
          <a:xfrm>
            <a:off x="6000749" y="12526021"/>
            <a:ext cx="9436598" cy="4903543"/>
            <a:chOff x="9344024" y="11887199"/>
            <a:chExt cx="9436598" cy="4903543"/>
          </a:xfrm>
        </p:grpSpPr>
        <p:sp>
          <p:nvSpPr>
            <p:cNvPr id="31" name="Arrow: Circular 30">
              <a:extLst>
                <a:ext uri="{FF2B5EF4-FFF2-40B4-BE49-F238E27FC236}">
                  <a16:creationId xmlns:a16="http://schemas.microsoft.com/office/drawing/2014/main" id="{3A20EDA5-F918-8B26-194A-7E0127F0A571}"/>
                </a:ext>
              </a:extLst>
            </p:cNvPr>
            <p:cNvSpPr/>
            <p:nvPr/>
          </p:nvSpPr>
          <p:spPr>
            <a:xfrm rot="3089527" flipH="1">
              <a:off x="9253490" y="12756858"/>
              <a:ext cx="4124418" cy="3943350"/>
            </a:xfrm>
            <a:prstGeom prst="circularArrow">
              <a:avLst>
                <a:gd name="adj1" fmla="val 13249"/>
                <a:gd name="adj2" fmla="val 1142319"/>
                <a:gd name="adj3" fmla="val 19570667"/>
                <a:gd name="adj4" fmla="val 14999400"/>
                <a:gd name="adj5" fmla="val 1288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DC94D8BB-8615-A18F-1C8D-9FCA1922693B}"/>
                    </a:ext>
                  </a:extLst>
                </p:cNvPr>
                <p:cNvSpPr/>
                <p:nvPr/>
              </p:nvSpPr>
              <p:spPr>
                <a:xfrm>
                  <a:off x="11728384" y="11887199"/>
                  <a:ext cx="1641321" cy="1363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4000" i="1" smtClean="0">
                                <a:solidFill>
                                  <a:schemeClr val="bg1"/>
                                </a:solidFill>
                                <a:latin typeface="Cambria Math" panose="02040503050406030204" pitchFamily="18" charset="0"/>
                                <a:cs typeface="NVIDIA Sans" panose="020B0503020203020204" pitchFamily="34" charset="0"/>
                              </a:rPr>
                            </m:ctrlPr>
                          </m:sSupPr>
                          <m:e>
                            <m:r>
                              <a:rPr lang="en-US" sz="4000" b="0" i="1" smtClean="0">
                                <a:solidFill>
                                  <a:schemeClr val="bg1"/>
                                </a:solidFill>
                                <a:latin typeface="Cambria Math" panose="02040503050406030204" pitchFamily="18" charset="0"/>
                                <a:cs typeface="NVIDIA Sans" panose="020B0503020203020204" pitchFamily="34" charset="0"/>
                              </a:rPr>
                              <m:t>45</m:t>
                            </m:r>
                          </m:e>
                          <m:sup>
                            <m:r>
                              <a:rPr lang="en-US" sz="400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32" name="Rectangle 31">
                  <a:extLst>
                    <a:ext uri="{FF2B5EF4-FFF2-40B4-BE49-F238E27FC236}">
                      <a16:creationId xmlns:a16="http://schemas.microsoft.com/office/drawing/2014/main" id="{DC94D8BB-8615-A18F-1C8D-9FCA1922693B}"/>
                    </a:ext>
                  </a:extLst>
                </p:cNvPr>
                <p:cNvSpPr>
                  <a:spLocks noRot="1" noChangeAspect="1" noMove="1" noResize="1" noEditPoints="1" noAdjustHandles="1" noChangeArrowheads="1" noChangeShapeType="1" noTextEdit="1"/>
                </p:cNvSpPr>
                <p:nvPr/>
              </p:nvSpPr>
              <p:spPr>
                <a:xfrm>
                  <a:off x="11728384" y="11887199"/>
                  <a:ext cx="1641321" cy="1363582"/>
                </a:xfrm>
                <a:prstGeom prst="rect">
                  <a:avLst/>
                </a:prstGeom>
                <a:blipFill>
                  <a:blip r:embed="rId6"/>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2A1C1958-DA7C-F294-B9E6-84BF854DC655}"/>
                    </a:ext>
                  </a:extLst>
                </p:cNvPr>
                <p:cNvSpPr/>
                <p:nvPr/>
              </p:nvSpPr>
              <p:spPr>
                <a:xfrm>
                  <a:off x="12656660" y="14344649"/>
                  <a:ext cx="6123962" cy="1363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bg1"/>
                            </a:solidFill>
                            <a:latin typeface="Cambria Math" panose="02040503050406030204" pitchFamily="18" charset="0"/>
                            <a:cs typeface="NVIDIA Sans" panose="020B0503020203020204" pitchFamily="34" charset="0"/>
                          </a:rPr>
                          <m:t>𝑐𝑜𝑠</m:t>
                        </m:r>
                        <m:d>
                          <m:dPr>
                            <m:ctrlPr>
                              <a:rPr lang="en-US" sz="4000" b="0" i="1" smtClean="0">
                                <a:solidFill>
                                  <a:schemeClr val="bg1"/>
                                </a:solidFill>
                                <a:latin typeface="Cambria Math" panose="02040503050406030204" pitchFamily="18" charset="0"/>
                                <a:cs typeface="NVIDIA Sans" panose="020B0503020203020204" pitchFamily="34" charset="0"/>
                              </a:rPr>
                            </m:ctrlPr>
                          </m:dPr>
                          <m:e>
                            <m:sSup>
                              <m:sSupPr>
                                <m:ctrlPr>
                                  <a:rPr lang="en-US" sz="4000" b="0" i="1" smtClean="0">
                                    <a:solidFill>
                                      <a:schemeClr val="bg1"/>
                                    </a:solidFill>
                                    <a:latin typeface="Cambria Math" panose="02040503050406030204" pitchFamily="18" charset="0"/>
                                    <a:cs typeface="NVIDIA Sans" panose="020B0503020203020204" pitchFamily="34" charset="0"/>
                                  </a:rPr>
                                </m:ctrlPr>
                              </m:sSupPr>
                              <m:e>
                                <m:r>
                                  <a:rPr lang="en-US" sz="4000" b="0" i="1" smtClean="0">
                                    <a:solidFill>
                                      <a:schemeClr val="bg1"/>
                                    </a:solidFill>
                                    <a:latin typeface="Cambria Math" panose="02040503050406030204" pitchFamily="18" charset="0"/>
                                    <a:cs typeface="NVIDIA Sans" panose="020B0503020203020204" pitchFamily="34" charset="0"/>
                                  </a:rPr>
                                  <m:t>45</m:t>
                                </m:r>
                              </m:e>
                              <m:sup>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e>
                        </m:d>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f>
                          <m:fPr>
                            <m:ctrlP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rad>
                              <m:radPr>
                                <m:degHide m:val="on"/>
                                <m:ctrlP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m:t>
                            </m:r>
                          </m:den>
                        </m:f>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33" name="Rectangle 32">
                  <a:extLst>
                    <a:ext uri="{FF2B5EF4-FFF2-40B4-BE49-F238E27FC236}">
                      <a16:creationId xmlns:a16="http://schemas.microsoft.com/office/drawing/2014/main" id="{2A1C1958-DA7C-F294-B9E6-84BF854DC655}"/>
                    </a:ext>
                  </a:extLst>
                </p:cNvPr>
                <p:cNvSpPr>
                  <a:spLocks noRot="1" noChangeAspect="1" noMove="1" noResize="1" noEditPoints="1" noAdjustHandles="1" noChangeArrowheads="1" noChangeShapeType="1" noTextEdit="1"/>
                </p:cNvSpPr>
                <p:nvPr/>
              </p:nvSpPr>
              <p:spPr>
                <a:xfrm>
                  <a:off x="12656660" y="14344649"/>
                  <a:ext cx="6123962" cy="1363582"/>
                </a:xfrm>
                <a:prstGeom prst="rect">
                  <a:avLst/>
                </a:prstGeom>
                <a:blipFill>
                  <a:blip r:embed="rId7"/>
                  <a:stretch>
                    <a:fillRect/>
                  </a:stretch>
                </a:blipFill>
                <a:ln>
                  <a:noFill/>
                </a:ln>
              </p:spPr>
              <p:txBody>
                <a:bodyPr/>
                <a:lstStyle/>
                <a:p>
                  <a:r>
                    <a:rPr lang="en-US">
                      <a:noFill/>
                    </a:rPr>
                    <a:t> </a:t>
                  </a:r>
                </a:p>
              </p:txBody>
            </p:sp>
          </mc:Fallback>
        </mc:AlternateContent>
      </p:grpSp>
      <p:grpSp>
        <p:nvGrpSpPr>
          <p:cNvPr id="50" name="Group 49">
            <a:extLst>
              <a:ext uri="{FF2B5EF4-FFF2-40B4-BE49-F238E27FC236}">
                <a16:creationId xmlns:a16="http://schemas.microsoft.com/office/drawing/2014/main" id="{05E59567-3252-F545-AEDF-59CBAA652C91}"/>
              </a:ext>
            </a:extLst>
          </p:cNvPr>
          <p:cNvGrpSpPr/>
          <p:nvPr/>
        </p:nvGrpSpPr>
        <p:grpSpPr>
          <a:xfrm>
            <a:off x="20581460" y="7677316"/>
            <a:ext cx="12247924" cy="9565087"/>
            <a:chOff x="20581460" y="7677316"/>
            <a:chExt cx="12247924" cy="9565087"/>
          </a:xfrm>
        </p:grpSpPr>
        <p:cxnSp>
          <p:nvCxnSpPr>
            <p:cNvPr id="35" name="Straight Arrow Connector 34">
              <a:extLst>
                <a:ext uri="{FF2B5EF4-FFF2-40B4-BE49-F238E27FC236}">
                  <a16:creationId xmlns:a16="http://schemas.microsoft.com/office/drawing/2014/main" id="{823436C2-1C59-6010-1B04-B2A35484E5E3}"/>
                </a:ext>
              </a:extLst>
            </p:cNvPr>
            <p:cNvCxnSpPr>
              <a:cxnSpLocks/>
            </p:cNvCxnSpPr>
            <p:nvPr/>
          </p:nvCxnSpPr>
          <p:spPr>
            <a:xfrm flipV="1">
              <a:off x="21269325" y="7677316"/>
              <a:ext cx="0" cy="4124159"/>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8384F63-3343-6FF0-B0C6-9C20E1B47DEC}"/>
                </a:ext>
              </a:extLst>
            </p:cNvPr>
            <p:cNvCxnSpPr>
              <a:cxnSpLocks/>
            </p:cNvCxnSpPr>
            <p:nvPr/>
          </p:nvCxnSpPr>
          <p:spPr>
            <a:xfrm>
              <a:off x="21269325" y="11801475"/>
              <a:ext cx="3505200" cy="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D060F7E9-17C7-33CD-D06A-7E5BA0C60261}"/>
                    </a:ext>
                  </a:extLst>
                </p:cNvPr>
                <p:cNvSpPr/>
                <p:nvPr/>
              </p:nvSpPr>
              <p:spPr>
                <a:xfrm>
                  <a:off x="20581460" y="9605209"/>
                  <a:ext cx="6123962" cy="1363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bg1"/>
                            </a:solidFill>
                            <a:latin typeface="Cambria Math" panose="02040503050406030204" pitchFamily="18" charset="0"/>
                            <a:cs typeface="NVIDIA Sans" panose="020B0503020203020204" pitchFamily="34" charset="0"/>
                          </a:rPr>
                          <m:t>𝑐𝑜𝑠</m:t>
                        </m:r>
                        <m:d>
                          <m:dPr>
                            <m:ctrlPr>
                              <a:rPr lang="en-US" sz="4000" b="0" i="1" smtClean="0">
                                <a:solidFill>
                                  <a:schemeClr val="bg1"/>
                                </a:solidFill>
                                <a:latin typeface="Cambria Math" panose="02040503050406030204" pitchFamily="18" charset="0"/>
                                <a:cs typeface="NVIDIA Sans" panose="020B0503020203020204" pitchFamily="34" charset="0"/>
                              </a:rPr>
                            </m:ctrlPr>
                          </m:dPr>
                          <m:e>
                            <m:sSup>
                              <m:sSupPr>
                                <m:ctrlPr>
                                  <a:rPr lang="en-US" sz="4000" b="0" i="1" smtClean="0">
                                    <a:solidFill>
                                      <a:schemeClr val="bg1"/>
                                    </a:solidFill>
                                    <a:latin typeface="Cambria Math" panose="02040503050406030204" pitchFamily="18" charset="0"/>
                                    <a:cs typeface="NVIDIA Sans" panose="020B0503020203020204" pitchFamily="34" charset="0"/>
                                  </a:rPr>
                                </m:ctrlPr>
                              </m:sSupPr>
                              <m:e>
                                <m:r>
                                  <a:rPr lang="en-US" sz="4000" b="0" i="1" smtClean="0">
                                    <a:solidFill>
                                      <a:schemeClr val="bg1"/>
                                    </a:solidFill>
                                    <a:latin typeface="Cambria Math" panose="02040503050406030204" pitchFamily="18" charset="0"/>
                                    <a:cs typeface="NVIDIA Sans" panose="020B0503020203020204" pitchFamily="34" charset="0"/>
                                  </a:rPr>
                                  <m:t>90</m:t>
                                </m:r>
                              </m:e>
                              <m:sup>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e>
                        </m:d>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=0</m:t>
                        </m:r>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40" name="Rectangle 39">
                  <a:extLst>
                    <a:ext uri="{FF2B5EF4-FFF2-40B4-BE49-F238E27FC236}">
                      <a16:creationId xmlns:a16="http://schemas.microsoft.com/office/drawing/2014/main" id="{D060F7E9-17C7-33CD-D06A-7E5BA0C60261}"/>
                    </a:ext>
                  </a:extLst>
                </p:cNvPr>
                <p:cNvSpPr>
                  <a:spLocks noRot="1" noChangeAspect="1" noMove="1" noResize="1" noEditPoints="1" noAdjustHandles="1" noChangeArrowheads="1" noChangeShapeType="1" noTextEdit="1"/>
                </p:cNvSpPr>
                <p:nvPr/>
              </p:nvSpPr>
              <p:spPr>
                <a:xfrm>
                  <a:off x="20581460" y="9605209"/>
                  <a:ext cx="6123962" cy="1363582"/>
                </a:xfrm>
                <a:prstGeom prst="rect">
                  <a:avLst/>
                </a:prstGeom>
                <a:blipFill>
                  <a:blip r:embed="rId8"/>
                  <a:stretch>
                    <a:fillRect/>
                  </a:stretch>
                </a:blipFill>
                <a:ln>
                  <a:noFill/>
                </a:ln>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62888FAB-9661-1BD4-E843-C963812978D8}"/>
                </a:ext>
              </a:extLst>
            </p:cNvPr>
            <p:cNvCxnSpPr>
              <a:cxnSpLocks/>
            </p:cNvCxnSpPr>
            <p:nvPr/>
          </p:nvCxnSpPr>
          <p:spPr>
            <a:xfrm flipV="1">
              <a:off x="32194500" y="7677316"/>
              <a:ext cx="0" cy="4124159"/>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1CE1A91-D62D-F750-6839-55E617872463}"/>
                </a:ext>
              </a:extLst>
            </p:cNvPr>
            <p:cNvCxnSpPr>
              <a:cxnSpLocks/>
            </p:cNvCxnSpPr>
            <p:nvPr/>
          </p:nvCxnSpPr>
          <p:spPr>
            <a:xfrm flipH="1">
              <a:off x="28689300" y="11801475"/>
              <a:ext cx="3505200" cy="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1077C868-56D4-BB61-98F5-7A2B2138D762}"/>
                    </a:ext>
                  </a:extLst>
                </p:cNvPr>
                <p:cNvSpPr/>
                <p:nvPr/>
              </p:nvSpPr>
              <p:spPr>
                <a:xfrm>
                  <a:off x="26705422" y="9605209"/>
                  <a:ext cx="6123962" cy="1363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bg1"/>
                            </a:solidFill>
                            <a:latin typeface="Cambria Math" panose="02040503050406030204" pitchFamily="18" charset="0"/>
                            <a:cs typeface="NVIDIA Sans" panose="020B0503020203020204" pitchFamily="34" charset="0"/>
                          </a:rPr>
                          <m:t>𝑐𝑜𝑠</m:t>
                        </m:r>
                        <m:d>
                          <m:dPr>
                            <m:ctrlPr>
                              <a:rPr lang="en-US" sz="4000" b="0" i="1" smtClean="0">
                                <a:solidFill>
                                  <a:schemeClr val="bg1"/>
                                </a:solidFill>
                                <a:latin typeface="Cambria Math" panose="02040503050406030204" pitchFamily="18" charset="0"/>
                                <a:cs typeface="NVIDIA Sans" panose="020B0503020203020204" pitchFamily="34" charset="0"/>
                              </a:rPr>
                            </m:ctrlPr>
                          </m:dPr>
                          <m:e>
                            <m:sSup>
                              <m:sSupPr>
                                <m:ctrlPr>
                                  <a:rPr lang="en-US" sz="4000" b="0" i="1" smtClean="0">
                                    <a:solidFill>
                                      <a:schemeClr val="bg1"/>
                                    </a:solidFill>
                                    <a:latin typeface="Cambria Math" panose="02040503050406030204" pitchFamily="18" charset="0"/>
                                    <a:cs typeface="NVIDIA Sans" panose="020B0503020203020204" pitchFamily="34" charset="0"/>
                                  </a:rPr>
                                </m:ctrlPr>
                              </m:sSupPr>
                              <m:e>
                                <m:r>
                                  <a:rPr lang="en-US" sz="4000" b="0" i="1" smtClean="0">
                                    <a:solidFill>
                                      <a:schemeClr val="bg1"/>
                                    </a:solidFill>
                                    <a:latin typeface="Cambria Math" panose="02040503050406030204" pitchFamily="18" charset="0"/>
                                    <a:cs typeface="NVIDIA Sans" panose="020B0503020203020204" pitchFamily="34" charset="0"/>
                                  </a:rPr>
                                  <m:t>270</m:t>
                                </m:r>
                              </m:e>
                              <m:sup>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e>
                        </m:d>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=0</m:t>
                        </m:r>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43" name="Rectangle 42">
                  <a:extLst>
                    <a:ext uri="{FF2B5EF4-FFF2-40B4-BE49-F238E27FC236}">
                      <a16:creationId xmlns:a16="http://schemas.microsoft.com/office/drawing/2014/main" id="{1077C868-56D4-BB61-98F5-7A2B2138D762}"/>
                    </a:ext>
                  </a:extLst>
                </p:cNvPr>
                <p:cNvSpPr>
                  <a:spLocks noRot="1" noChangeAspect="1" noMove="1" noResize="1" noEditPoints="1" noAdjustHandles="1" noChangeArrowheads="1" noChangeShapeType="1" noTextEdit="1"/>
                </p:cNvSpPr>
                <p:nvPr/>
              </p:nvSpPr>
              <p:spPr>
                <a:xfrm>
                  <a:off x="26705422" y="9605209"/>
                  <a:ext cx="6123962" cy="1363582"/>
                </a:xfrm>
                <a:prstGeom prst="rect">
                  <a:avLst/>
                </a:prstGeom>
                <a:blipFill>
                  <a:blip r:embed="rId9"/>
                  <a:stretch>
                    <a:fillRect/>
                  </a:stretch>
                </a:blipFill>
                <a:ln>
                  <a:noFill/>
                </a:ln>
              </p:spPr>
              <p:txBody>
                <a:bodyPr/>
                <a:lstStyle/>
                <a:p>
                  <a:r>
                    <a:rPr lang="en-US">
                      <a:noFill/>
                    </a:rPr>
                    <a:t> </a:t>
                  </a:r>
                </a:p>
              </p:txBody>
            </p:sp>
          </mc:Fallback>
        </mc:AlternateContent>
        <p:cxnSp>
          <p:nvCxnSpPr>
            <p:cNvPr id="44" name="Straight Arrow Connector 43">
              <a:extLst>
                <a:ext uri="{FF2B5EF4-FFF2-40B4-BE49-F238E27FC236}">
                  <a16:creationId xmlns:a16="http://schemas.microsoft.com/office/drawing/2014/main" id="{B9B07754-6F8E-FBA9-D556-398FF8CBDE3B}"/>
                </a:ext>
              </a:extLst>
            </p:cNvPr>
            <p:cNvCxnSpPr>
              <a:cxnSpLocks/>
            </p:cNvCxnSpPr>
            <p:nvPr/>
          </p:nvCxnSpPr>
          <p:spPr>
            <a:xfrm flipV="1">
              <a:off x="21269325" y="13118244"/>
              <a:ext cx="0" cy="4124159"/>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68C68BF-EF5C-2424-FCEF-81347E3C1CB4}"/>
                </a:ext>
              </a:extLst>
            </p:cNvPr>
            <p:cNvCxnSpPr>
              <a:cxnSpLocks/>
            </p:cNvCxnSpPr>
            <p:nvPr/>
          </p:nvCxnSpPr>
          <p:spPr>
            <a:xfrm flipV="1">
              <a:off x="21878925" y="13118243"/>
              <a:ext cx="0" cy="4124159"/>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5605FF7E-85B1-4D63-3573-A6887AA950F2}"/>
                    </a:ext>
                  </a:extLst>
                </p:cNvPr>
                <p:cNvSpPr/>
                <p:nvPr/>
              </p:nvSpPr>
              <p:spPr>
                <a:xfrm>
                  <a:off x="21269325" y="14301680"/>
                  <a:ext cx="6123962" cy="1363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bg1"/>
                            </a:solidFill>
                            <a:latin typeface="Cambria Math" panose="02040503050406030204" pitchFamily="18" charset="0"/>
                            <a:cs typeface="NVIDIA Sans" panose="020B0503020203020204" pitchFamily="34" charset="0"/>
                          </a:rPr>
                          <m:t>𝑐𝑜𝑠</m:t>
                        </m:r>
                        <m:d>
                          <m:dPr>
                            <m:ctrlPr>
                              <a:rPr lang="en-US" sz="4000" b="0" i="1" smtClean="0">
                                <a:solidFill>
                                  <a:schemeClr val="bg1"/>
                                </a:solidFill>
                                <a:latin typeface="Cambria Math" panose="02040503050406030204" pitchFamily="18" charset="0"/>
                                <a:cs typeface="NVIDIA Sans" panose="020B0503020203020204" pitchFamily="34" charset="0"/>
                              </a:rPr>
                            </m:ctrlPr>
                          </m:dPr>
                          <m:e>
                            <m:sSup>
                              <m:sSupPr>
                                <m:ctrlPr>
                                  <a:rPr lang="en-US" sz="4000" b="0" i="1" smtClean="0">
                                    <a:solidFill>
                                      <a:schemeClr val="bg1"/>
                                    </a:solidFill>
                                    <a:latin typeface="Cambria Math" panose="02040503050406030204" pitchFamily="18" charset="0"/>
                                    <a:cs typeface="NVIDIA Sans" panose="020B0503020203020204" pitchFamily="34" charset="0"/>
                                  </a:rPr>
                                </m:ctrlPr>
                              </m:sSupPr>
                              <m:e>
                                <m:r>
                                  <a:rPr lang="en-US" sz="4000" b="0" i="1" smtClean="0">
                                    <a:solidFill>
                                      <a:schemeClr val="bg1"/>
                                    </a:solidFill>
                                    <a:latin typeface="Cambria Math" panose="02040503050406030204" pitchFamily="18" charset="0"/>
                                    <a:cs typeface="NVIDIA Sans" panose="020B0503020203020204" pitchFamily="34" charset="0"/>
                                  </a:rPr>
                                  <m:t>0</m:t>
                                </m:r>
                              </m:e>
                              <m:sup>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e>
                        </m:d>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=1</m:t>
                        </m:r>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46" name="Rectangle 45">
                  <a:extLst>
                    <a:ext uri="{FF2B5EF4-FFF2-40B4-BE49-F238E27FC236}">
                      <a16:creationId xmlns:a16="http://schemas.microsoft.com/office/drawing/2014/main" id="{5605FF7E-85B1-4D63-3573-A6887AA950F2}"/>
                    </a:ext>
                  </a:extLst>
                </p:cNvPr>
                <p:cNvSpPr>
                  <a:spLocks noRot="1" noChangeAspect="1" noMove="1" noResize="1" noEditPoints="1" noAdjustHandles="1" noChangeArrowheads="1" noChangeShapeType="1" noTextEdit="1"/>
                </p:cNvSpPr>
                <p:nvPr/>
              </p:nvSpPr>
              <p:spPr>
                <a:xfrm>
                  <a:off x="21269325" y="14301680"/>
                  <a:ext cx="6123962" cy="1363582"/>
                </a:xfrm>
                <a:prstGeom prst="rect">
                  <a:avLst/>
                </a:prstGeom>
                <a:blipFill>
                  <a:blip r:embed="rId10"/>
                  <a:stretch>
                    <a:fillRect/>
                  </a:stretch>
                </a:blipFill>
                <a:ln>
                  <a:noFill/>
                </a:ln>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E4E2A489-AC03-168A-D16E-35BF55855D3A}"/>
                </a:ext>
              </a:extLst>
            </p:cNvPr>
            <p:cNvCxnSpPr>
              <a:cxnSpLocks/>
            </p:cNvCxnSpPr>
            <p:nvPr/>
          </p:nvCxnSpPr>
          <p:spPr>
            <a:xfrm>
              <a:off x="31584900" y="13118242"/>
              <a:ext cx="0" cy="4124159"/>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7E196DE-68EF-A3FC-479A-0A2BF9CB6663}"/>
                </a:ext>
              </a:extLst>
            </p:cNvPr>
            <p:cNvCxnSpPr>
              <a:cxnSpLocks/>
            </p:cNvCxnSpPr>
            <p:nvPr/>
          </p:nvCxnSpPr>
          <p:spPr>
            <a:xfrm flipV="1">
              <a:off x="32194500" y="12893173"/>
              <a:ext cx="0" cy="4124159"/>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EB2D197C-09E2-2DFC-1227-4C2144A7441A}"/>
                    </a:ext>
                  </a:extLst>
                </p:cNvPr>
                <p:cNvSpPr/>
                <p:nvPr/>
              </p:nvSpPr>
              <p:spPr>
                <a:xfrm>
                  <a:off x="27393287" y="14273461"/>
                  <a:ext cx="4342696" cy="1363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bg1"/>
                            </a:solidFill>
                            <a:latin typeface="Cambria Math" panose="02040503050406030204" pitchFamily="18" charset="0"/>
                            <a:cs typeface="NVIDIA Sans" panose="020B0503020203020204" pitchFamily="34" charset="0"/>
                          </a:rPr>
                          <m:t>𝑐𝑜𝑠</m:t>
                        </m:r>
                        <m:d>
                          <m:dPr>
                            <m:ctrlPr>
                              <a:rPr lang="en-US" sz="4000" b="0" i="1" smtClean="0">
                                <a:solidFill>
                                  <a:schemeClr val="bg1"/>
                                </a:solidFill>
                                <a:latin typeface="Cambria Math" panose="02040503050406030204" pitchFamily="18" charset="0"/>
                                <a:cs typeface="NVIDIA Sans" panose="020B0503020203020204" pitchFamily="34" charset="0"/>
                              </a:rPr>
                            </m:ctrlPr>
                          </m:dPr>
                          <m:e>
                            <m:sSup>
                              <m:sSupPr>
                                <m:ctrlPr>
                                  <a:rPr lang="en-US" sz="4000" b="0" i="1" smtClean="0">
                                    <a:solidFill>
                                      <a:schemeClr val="bg1"/>
                                    </a:solidFill>
                                    <a:latin typeface="Cambria Math" panose="02040503050406030204" pitchFamily="18" charset="0"/>
                                    <a:cs typeface="NVIDIA Sans" panose="020B0503020203020204" pitchFamily="34" charset="0"/>
                                  </a:rPr>
                                </m:ctrlPr>
                              </m:sSupPr>
                              <m:e>
                                <m:r>
                                  <a:rPr lang="en-US" sz="4000" b="0" i="1" smtClean="0">
                                    <a:solidFill>
                                      <a:schemeClr val="bg1"/>
                                    </a:solidFill>
                                    <a:latin typeface="Cambria Math" panose="02040503050406030204" pitchFamily="18" charset="0"/>
                                    <a:cs typeface="NVIDIA Sans" panose="020B0503020203020204" pitchFamily="34" charset="0"/>
                                  </a:rPr>
                                  <m:t>180</m:t>
                                </m:r>
                              </m:e>
                              <m:sup>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e>
                        </m:d>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=−1</m:t>
                        </m:r>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49" name="Rectangle 48">
                  <a:extLst>
                    <a:ext uri="{FF2B5EF4-FFF2-40B4-BE49-F238E27FC236}">
                      <a16:creationId xmlns:a16="http://schemas.microsoft.com/office/drawing/2014/main" id="{EB2D197C-09E2-2DFC-1227-4C2144A7441A}"/>
                    </a:ext>
                  </a:extLst>
                </p:cNvPr>
                <p:cNvSpPr>
                  <a:spLocks noRot="1" noChangeAspect="1" noMove="1" noResize="1" noEditPoints="1" noAdjustHandles="1" noChangeArrowheads="1" noChangeShapeType="1" noTextEdit="1"/>
                </p:cNvSpPr>
                <p:nvPr/>
              </p:nvSpPr>
              <p:spPr>
                <a:xfrm>
                  <a:off x="27393287" y="14273461"/>
                  <a:ext cx="4342696" cy="1363582"/>
                </a:xfrm>
                <a:prstGeom prst="rect">
                  <a:avLst/>
                </a:prstGeom>
                <a:blipFill>
                  <a:blip r:embed="rId11"/>
                  <a:stretch>
                    <a:fillRect/>
                  </a:stretch>
                </a:blipFill>
                <a:ln>
                  <a:noFill/>
                </a:ln>
              </p:spPr>
              <p:txBody>
                <a:bodyPr/>
                <a:lstStyle/>
                <a:p>
                  <a:r>
                    <a:rPr lang="en-US">
                      <a:noFill/>
                    </a:rPr>
                    <a:t> </a:t>
                  </a:r>
                </a:p>
              </p:txBody>
            </p:sp>
          </mc:Fallback>
        </mc:AlternateContent>
      </p:grpSp>
      <p:sp>
        <p:nvSpPr>
          <p:cNvPr id="3" name="Rectangle 2">
            <a:extLst>
              <a:ext uri="{FF2B5EF4-FFF2-40B4-BE49-F238E27FC236}">
                <a16:creationId xmlns:a16="http://schemas.microsoft.com/office/drawing/2014/main" id="{B333E001-10F0-29DD-2817-132391C993BC}"/>
              </a:ext>
            </a:extLst>
          </p:cNvPr>
          <p:cNvSpPr/>
          <p:nvPr/>
        </p:nvSpPr>
        <p:spPr>
          <a:xfrm>
            <a:off x="12264024" y="8923418"/>
            <a:ext cx="6553573" cy="1363582"/>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spTree>
    <p:extLst>
      <p:ext uri="{BB962C8B-B14F-4D97-AF65-F5344CB8AC3E}">
        <p14:creationId xmlns:p14="http://schemas.microsoft.com/office/powerpoint/2010/main" val="16108786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Dot Product</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dirty="0"/>
          </a:p>
        </p:txBody>
      </p:sp>
      <p:sp>
        <p:nvSpPr>
          <p:cNvPr id="3" name="Oval 2">
            <a:extLst>
              <a:ext uri="{FF2B5EF4-FFF2-40B4-BE49-F238E27FC236}">
                <a16:creationId xmlns:a16="http://schemas.microsoft.com/office/drawing/2014/main" id="{CBA7B88D-C67E-D109-725D-1B4C708C4FDB}"/>
              </a:ext>
            </a:extLst>
          </p:cNvPr>
          <p:cNvSpPr/>
          <p:nvPr/>
        </p:nvSpPr>
        <p:spPr>
          <a:xfrm>
            <a:off x="20471514" y="6339542"/>
            <a:ext cx="11901489" cy="11195867"/>
          </a:xfrm>
          <a:prstGeom prst="ellipse">
            <a:avLst/>
          </a:prstGeom>
          <a:noFill/>
          <a:ln w="762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4" name="Straight Arrow Connector 3">
            <a:extLst>
              <a:ext uri="{FF2B5EF4-FFF2-40B4-BE49-F238E27FC236}">
                <a16:creationId xmlns:a16="http://schemas.microsoft.com/office/drawing/2014/main" id="{4A74A6C6-612E-6D27-D2F4-5982E1EE7F91}"/>
              </a:ext>
            </a:extLst>
          </p:cNvPr>
          <p:cNvCxnSpPr>
            <a:cxnSpLocks/>
          </p:cNvCxnSpPr>
          <p:nvPr/>
        </p:nvCxnSpPr>
        <p:spPr>
          <a:xfrm flipV="1">
            <a:off x="26393591" y="6339542"/>
            <a:ext cx="0" cy="559793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FB28DF6-4D09-9A7C-FC8A-D02D24891BF7}"/>
              </a:ext>
            </a:extLst>
          </p:cNvPr>
          <p:cNvCxnSpPr>
            <a:cxnSpLocks/>
          </p:cNvCxnSpPr>
          <p:nvPr/>
        </p:nvCxnSpPr>
        <p:spPr>
          <a:xfrm flipV="1">
            <a:off x="26422258" y="6715125"/>
            <a:ext cx="5548741" cy="5230467"/>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C7DB360-6516-5572-6C5F-455A926232A4}"/>
              </a:ext>
            </a:extLst>
          </p:cNvPr>
          <p:cNvSpPr/>
          <p:nvPr/>
        </p:nvSpPr>
        <p:spPr>
          <a:xfrm>
            <a:off x="24774432" y="4530480"/>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11" name="Rectangle 10">
            <a:extLst>
              <a:ext uri="{FF2B5EF4-FFF2-40B4-BE49-F238E27FC236}">
                <a16:creationId xmlns:a16="http://schemas.microsoft.com/office/drawing/2014/main" id="{E3BCC4D0-7813-ADEB-54F8-AA00FBCDE427}"/>
              </a:ext>
            </a:extLst>
          </p:cNvPr>
          <p:cNvSpPr/>
          <p:nvPr/>
        </p:nvSpPr>
        <p:spPr>
          <a:xfrm>
            <a:off x="31020360" y="4530480"/>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cxnSp>
        <p:nvCxnSpPr>
          <p:cNvPr id="18" name="Straight Arrow Connector 17">
            <a:extLst>
              <a:ext uri="{FF2B5EF4-FFF2-40B4-BE49-F238E27FC236}">
                <a16:creationId xmlns:a16="http://schemas.microsoft.com/office/drawing/2014/main" id="{FECAD8AA-CBA5-70FB-CC82-485A06A6C49D}"/>
              </a:ext>
            </a:extLst>
          </p:cNvPr>
          <p:cNvCxnSpPr/>
          <p:nvPr/>
        </p:nvCxnSpPr>
        <p:spPr>
          <a:xfrm flipV="1">
            <a:off x="7229475" y="7611122"/>
            <a:ext cx="0" cy="982980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D2D6E4C-689B-03B4-D1A7-00F2BD17D8C6}"/>
              </a:ext>
            </a:extLst>
          </p:cNvPr>
          <p:cNvCxnSpPr>
            <a:cxnSpLocks/>
          </p:cNvCxnSpPr>
          <p:nvPr/>
        </p:nvCxnSpPr>
        <p:spPr>
          <a:xfrm flipV="1">
            <a:off x="7229475" y="7611121"/>
            <a:ext cx="9829801" cy="9829801"/>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5836090-609D-D578-DABE-D3E758F1B19D}"/>
              </a:ext>
            </a:extLst>
          </p:cNvPr>
          <p:cNvSpPr/>
          <p:nvPr/>
        </p:nvSpPr>
        <p:spPr>
          <a:xfrm>
            <a:off x="5876832"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22" name="Rectangle 21">
            <a:extLst>
              <a:ext uri="{FF2B5EF4-FFF2-40B4-BE49-F238E27FC236}">
                <a16:creationId xmlns:a16="http://schemas.microsoft.com/office/drawing/2014/main" id="{98F9B1B8-7523-C10F-3985-E741E722172B}"/>
              </a:ext>
            </a:extLst>
          </p:cNvPr>
          <p:cNvSpPr/>
          <p:nvPr/>
        </p:nvSpPr>
        <p:spPr>
          <a:xfrm>
            <a:off x="15706633"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pic>
        <p:nvPicPr>
          <p:cNvPr id="23" name="Picture 22">
            <a:extLst>
              <a:ext uri="{FF2B5EF4-FFF2-40B4-BE49-F238E27FC236}">
                <a16:creationId xmlns:a16="http://schemas.microsoft.com/office/drawing/2014/main" id="{40530777-192B-A97A-0A14-3F24BB2705E2}"/>
              </a:ext>
            </a:extLst>
          </p:cNvPr>
          <p:cNvPicPr>
            <a:picLocks noChangeAspect="1"/>
          </p:cNvPicPr>
          <p:nvPr/>
        </p:nvPicPr>
        <p:blipFill>
          <a:blip r:embed="rId3"/>
          <a:stretch>
            <a:fillRect/>
          </a:stretch>
        </p:blipFill>
        <p:spPr>
          <a:xfrm>
            <a:off x="2464138" y="5001769"/>
            <a:ext cx="2958424" cy="2675547"/>
          </a:xfrm>
          <a:prstGeom prst="rect">
            <a:avLst/>
          </a:prstGeom>
        </p:spPr>
      </p:pic>
      <p:sp>
        <p:nvSpPr>
          <p:cNvPr id="38" name="Rectangle 37">
            <a:extLst>
              <a:ext uri="{FF2B5EF4-FFF2-40B4-BE49-F238E27FC236}">
                <a16:creationId xmlns:a16="http://schemas.microsoft.com/office/drawing/2014/main" id="{C842FDAB-2A9C-ACB8-B171-42D397FA036C}"/>
              </a:ext>
            </a:extLst>
          </p:cNvPr>
          <p:cNvSpPr/>
          <p:nvPr/>
        </p:nvSpPr>
        <p:spPr>
          <a:xfrm>
            <a:off x="12264024" y="8923418"/>
            <a:ext cx="6553573" cy="1363582"/>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spTree>
    <p:extLst>
      <p:ext uri="{BB962C8B-B14F-4D97-AF65-F5344CB8AC3E}">
        <p14:creationId xmlns:p14="http://schemas.microsoft.com/office/powerpoint/2010/main" val="30127405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Dot Product</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dirty="0"/>
          </a:p>
        </p:txBody>
      </p:sp>
      <p:sp>
        <p:nvSpPr>
          <p:cNvPr id="3" name="Oval 2">
            <a:extLst>
              <a:ext uri="{FF2B5EF4-FFF2-40B4-BE49-F238E27FC236}">
                <a16:creationId xmlns:a16="http://schemas.microsoft.com/office/drawing/2014/main" id="{CBA7B88D-C67E-D109-725D-1B4C708C4FDB}"/>
              </a:ext>
            </a:extLst>
          </p:cNvPr>
          <p:cNvSpPr/>
          <p:nvPr/>
        </p:nvSpPr>
        <p:spPr>
          <a:xfrm>
            <a:off x="20471514" y="6339542"/>
            <a:ext cx="11901489" cy="11195867"/>
          </a:xfrm>
          <a:prstGeom prst="ellipse">
            <a:avLst/>
          </a:prstGeom>
          <a:noFill/>
          <a:ln w="762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4" name="Straight Arrow Connector 3">
            <a:extLst>
              <a:ext uri="{FF2B5EF4-FFF2-40B4-BE49-F238E27FC236}">
                <a16:creationId xmlns:a16="http://schemas.microsoft.com/office/drawing/2014/main" id="{4A74A6C6-612E-6D27-D2F4-5982E1EE7F91}"/>
              </a:ext>
            </a:extLst>
          </p:cNvPr>
          <p:cNvCxnSpPr>
            <a:cxnSpLocks/>
          </p:cNvCxnSpPr>
          <p:nvPr/>
        </p:nvCxnSpPr>
        <p:spPr>
          <a:xfrm flipV="1">
            <a:off x="26393591" y="6339542"/>
            <a:ext cx="0" cy="559793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FB28DF6-4D09-9A7C-FC8A-D02D24891BF7}"/>
              </a:ext>
            </a:extLst>
          </p:cNvPr>
          <p:cNvCxnSpPr>
            <a:cxnSpLocks/>
            <a:endCxn id="3" idx="7"/>
          </p:cNvCxnSpPr>
          <p:nvPr/>
        </p:nvCxnSpPr>
        <p:spPr>
          <a:xfrm flipV="1">
            <a:off x="26422258" y="7979139"/>
            <a:ext cx="4207812" cy="396645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C7DB360-6516-5572-6C5F-455A926232A4}"/>
              </a:ext>
            </a:extLst>
          </p:cNvPr>
          <p:cNvSpPr/>
          <p:nvPr/>
        </p:nvSpPr>
        <p:spPr>
          <a:xfrm>
            <a:off x="24774432" y="4530480"/>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3BCC4D0-7813-ADEB-54F8-AA00FBCDE427}"/>
                  </a:ext>
                </a:extLst>
              </p:cNvPr>
              <p:cNvSpPr/>
              <p:nvPr/>
            </p:nvSpPr>
            <p:spPr>
              <a:xfrm>
                <a:off x="31049026" y="5867403"/>
                <a:ext cx="2705286" cy="230786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r>
                        <a:rPr lang="en-US" sz="4000" b="0" i="1" smtClean="0">
                          <a:solidFill>
                            <a:schemeClr val="bg1"/>
                          </a:solidFill>
                          <a:latin typeface="Cambria Math" panose="02040503050406030204" pitchFamily="18" charset="0"/>
                          <a:cs typeface="NVIDIA Sans" panose="020B0503020203020204" pitchFamily="34" charset="0"/>
                        </a:rPr>
                        <m:t>,</m:t>
                      </m:r>
                      <m:f>
                        <m:fPr>
                          <m:ctrlPr>
                            <a:rPr lang="en-US" sz="4000" i="1">
                              <a:solidFill>
                                <a:schemeClr val="bg1"/>
                              </a:solidFill>
                              <a:latin typeface="Cambria Math" panose="02040503050406030204" pitchFamily="18" charset="0"/>
                              <a:cs typeface="NVIDIA Sans" panose="020B0503020203020204" pitchFamily="34" charset="0"/>
                            </a:rPr>
                          </m:ctrlPr>
                        </m:fPr>
                        <m:num>
                          <m:rad>
                            <m:radPr>
                              <m:degHide m:val="on"/>
                              <m:ctrlPr>
                                <a:rPr lang="en-US" sz="4000" i="1">
                                  <a:solidFill>
                                    <a:schemeClr val="bg1"/>
                                  </a:solidFill>
                                  <a:latin typeface="Cambria Math" panose="02040503050406030204" pitchFamily="18" charset="0"/>
                                  <a:cs typeface="NVIDIA Sans" panose="020B0503020203020204" pitchFamily="34" charset="0"/>
                                </a:rPr>
                              </m:ctrlPr>
                            </m:radPr>
                            <m:deg/>
                            <m:e>
                              <m:r>
                                <a:rPr lang="en-US" sz="4000" i="1">
                                  <a:solidFill>
                                    <a:schemeClr val="bg1"/>
                                  </a:solidFill>
                                  <a:latin typeface="Cambria Math" panose="02040503050406030204" pitchFamily="18" charset="0"/>
                                  <a:cs typeface="NVIDIA Sans" panose="020B0503020203020204" pitchFamily="34" charset="0"/>
                                </a:rPr>
                                <m:t>2</m:t>
                              </m:r>
                            </m:e>
                          </m:rad>
                        </m:num>
                        <m:den>
                          <m:r>
                            <a:rPr lang="en-US" sz="4000" i="1">
                              <a:solidFill>
                                <a:schemeClr val="bg1"/>
                              </a:solidFill>
                              <a:latin typeface="Cambria Math" panose="02040503050406030204" pitchFamily="18" charset="0"/>
                              <a:cs typeface="NVIDIA Sans" panose="020B0503020203020204" pitchFamily="34" charset="0"/>
                            </a:rPr>
                            <m:t>2</m:t>
                          </m:r>
                        </m:den>
                      </m:f>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11" name="Rectangle 10">
                <a:extLst>
                  <a:ext uri="{FF2B5EF4-FFF2-40B4-BE49-F238E27FC236}">
                    <a16:creationId xmlns:a16="http://schemas.microsoft.com/office/drawing/2014/main" id="{E3BCC4D0-7813-ADEB-54F8-AA00FBCDE427}"/>
                  </a:ext>
                </a:extLst>
              </p:cNvPr>
              <p:cNvSpPr>
                <a:spLocks noRot="1" noChangeAspect="1" noMove="1" noResize="1" noEditPoints="1" noAdjustHandles="1" noChangeArrowheads="1" noChangeShapeType="1" noTextEdit="1"/>
              </p:cNvSpPr>
              <p:nvPr/>
            </p:nvSpPr>
            <p:spPr>
              <a:xfrm>
                <a:off x="31049026" y="5867403"/>
                <a:ext cx="2705286" cy="2307861"/>
              </a:xfrm>
              <a:prstGeom prst="rect">
                <a:avLst/>
              </a:prstGeom>
              <a:blipFill>
                <a:blip r:embed="rId5"/>
                <a:stretch>
                  <a:fillRect/>
                </a:stretch>
              </a:blipFill>
              <a:ln>
                <a:solidFill>
                  <a:schemeClr val="tx2"/>
                </a:solidFill>
              </a:ln>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D1645C8A-F64D-A60A-00DE-C00582F56861}"/>
              </a:ext>
            </a:extLst>
          </p:cNvPr>
          <p:cNvCxnSpPr/>
          <p:nvPr/>
        </p:nvCxnSpPr>
        <p:spPr>
          <a:xfrm flipV="1">
            <a:off x="7229475" y="7611122"/>
            <a:ext cx="0" cy="982980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4B234F1-8288-8CA7-9430-26F8A62E2EB4}"/>
              </a:ext>
            </a:extLst>
          </p:cNvPr>
          <p:cNvCxnSpPr>
            <a:cxnSpLocks/>
          </p:cNvCxnSpPr>
          <p:nvPr/>
        </p:nvCxnSpPr>
        <p:spPr>
          <a:xfrm flipV="1">
            <a:off x="7229475" y="7611121"/>
            <a:ext cx="9829801" cy="9829801"/>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A7521DB-EF10-DF1C-B179-8A65D567C954}"/>
              </a:ext>
            </a:extLst>
          </p:cNvPr>
          <p:cNvSpPr/>
          <p:nvPr/>
        </p:nvSpPr>
        <p:spPr>
          <a:xfrm>
            <a:off x="5876832"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32" name="Rectangle 31">
            <a:extLst>
              <a:ext uri="{FF2B5EF4-FFF2-40B4-BE49-F238E27FC236}">
                <a16:creationId xmlns:a16="http://schemas.microsoft.com/office/drawing/2014/main" id="{92BBB38E-004B-4F32-9CD7-2C786F613FC3}"/>
              </a:ext>
            </a:extLst>
          </p:cNvPr>
          <p:cNvSpPr/>
          <p:nvPr/>
        </p:nvSpPr>
        <p:spPr>
          <a:xfrm>
            <a:off x="15706633"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pic>
        <p:nvPicPr>
          <p:cNvPr id="33" name="Picture 32">
            <a:extLst>
              <a:ext uri="{FF2B5EF4-FFF2-40B4-BE49-F238E27FC236}">
                <a16:creationId xmlns:a16="http://schemas.microsoft.com/office/drawing/2014/main" id="{EA0F5990-64D9-5F6D-68A5-0D40B06140B6}"/>
              </a:ext>
            </a:extLst>
          </p:cNvPr>
          <p:cNvPicPr>
            <a:picLocks noChangeAspect="1"/>
          </p:cNvPicPr>
          <p:nvPr/>
        </p:nvPicPr>
        <p:blipFill>
          <a:blip r:embed="rId6"/>
          <a:stretch>
            <a:fillRect/>
          </a:stretch>
        </p:blipFill>
        <p:spPr>
          <a:xfrm>
            <a:off x="2464138" y="5001769"/>
            <a:ext cx="2958424" cy="2675547"/>
          </a:xfrm>
          <a:prstGeom prst="rect">
            <a:avLst/>
          </a:prstGeom>
        </p:spPr>
      </p:pic>
      <p:sp>
        <p:nvSpPr>
          <p:cNvPr id="34" name="Rectangle 33">
            <a:extLst>
              <a:ext uri="{FF2B5EF4-FFF2-40B4-BE49-F238E27FC236}">
                <a16:creationId xmlns:a16="http://schemas.microsoft.com/office/drawing/2014/main" id="{B991CB17-3A19-1497-3973-F0049C4950CE}"/>
              </a:ext>
            </a:extLst>
          </p:cNvPr>
          <p:cNvSpPr/>
          <p:nvPr/>
        </p:nvSpPr>
        <p:spPr>
          <a:xfrm>
            <a:off x="12264024" y="8923418"/>
            <a:ext cx="6553573" cy="1363582"/>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spTree>
    <p:extLst>
      <p:ext uri="{BB962C8B-B14F-4D97-AF65-F5344CB8AC3E}">
        <p14:creationId xmlns:p14="http://schemas.microsoft.com/office/powerpoint/2010/main" val="16930994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Dot Product</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dirty="0"/>
          </a:p>
        </p:txBody>
      </p:sp>
      <p:sp>
        <p:nvSpPr>
          <p:cNvPr id="3" name="Oval 2">
            <a:extLst>
              <a:ext uri="{FF2B5EF4-FFF2-40B4-BE49-F238E27FC236}">
                <a16:creationId xmlns:a16="http://schemas.microsoft.com/office/drawing/2014/main" id="{CBA7B88D-C67E-D109-725D-1B4C708C4FDB}"/>
              </a:ext>
            </a:extLst>
          </p:cNvPr>
          <p:cNvSpPr/>
          <p:nvPr/>
        </p:nvSpPr>
        <p:spPr>
          <a:xfrm>
            <a:off x="20471514" y="6339542"/>
            <a:ext cx="11901489" cy="11195867"/>
          </a:xfrm>
          <a:prstGeom prst="ellipse">
            <a:avLst/>
          </a:prstGeom>
          <a:noFill/>
          <a:ln w="762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4" name="Straight Arrow Connector 3">
            <a:extLst>
              <a:ext uri="{FF2B5EF4-FFF2-40B4-BE49-F238E27FC236}">
                <a16:creationId xmlns:a16="http://schemas.microsoft.com/office/drawing/2014/main" id="{4A74A6C6-612E-6D27-D2F4-5982E1EE7F91}"/>
              </a:ext>
            </a:extLst>
          </p:cNvPr>
          <p:cNvCxnSpPr>
            <a:cxnSpLocks/>
          </p:cNvCxnSpPr>
          <p:nvPr/>
        </p:nvCxnSpPr>
        <p:spPr>
          <a:xfrm flipV="1">
            <a:off x="26393591" y="6339542"/>
            <a:ext cx="0" cy="559793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FB28DF6-4D09-9A7C-FC8A-D02D24891BF7}"/>
              </a:ext>
            </a:extLst>
          </p:cNvPr>
          <p:cNvCxnSpPr>
            <a:cxnSpLocks/>
            <a:endCxn id="3" idx="7"/>
          </p:cNvCxnSpPr>
          <p:nvPr/>
        </p:nvCxnSpPr>
        <p:spPr>
          <a:xfrm flipV="1">
            <a:off x="26422258" y="7979139"/>
            <a:ext cx="4207812" cy="396645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C7DB360-6516-5572-6C5F-455A926232A4}"/>
              </a:ext>
            </a:extLst>
          </p:cNvPr>
          <p:cNvSpPr/>
          <p:nvPr/>
        </p:nvSpPr>
        <p:spPr>
          <a:xfrm>
            <a:off x="24774432" y="4530480"/>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3BCC4D0-7813-ADEB-54F8-AA00FBCDE427}"/>
                  </a:ext>
                </a:extLst>
              </p:cNvPr>
              <p:cNvSpPr/>
              <p:nvPr/>
            </p:nvSpPr>
            <p:spPr>
              <a:xfrm>
                <a:off x="31049026" y="5867403"/>
                <a:ext cx="2705286" cy="230786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r>
                        <a:rPr lang="en-US" sz="4000" b="0" i="1" smtClean="0">
                          <a:solidFill>
                            <a:schemeClr val="bg1"/>
                          </a:solidFill>
                          <a:latin typeface="Cambria Math" panose="02040503050406030204" pitchFamily="18" charset="0"/>
                          <a:cs typeface="NVIDIA Sans" panose="020B0503020203020204" pitchFamily="34" charset="0"/>
                        </a:rPr>
                        <m:t>,</m:t>
                      </m:r>
                      <m:f>
                        <m:fPr>
                          <m:ctrlPr>
                            <a:rPr lang="en-US" sz="4000" i="1">
                              <a:solidFill>
                                <a:schemeClr val="bg1"/>
                              </a:solidFill>
                              <a:latin typeface="Cambria Math" panose="02040503050406030204" pitchFamily="18" charset="0"/>
                              <a:cs typeface="NVIDIA Sans" panose="020B0503020203020204" pitchFamily="34" charset="0"/>
                            </a:rPr>
                          </m:ctrlPr>
                        </m:fPr>
                        <m:num>
                          <m:rad>
                            <m:radPr>
                              <m:degHide m:val="on"/>
                              <m:ctrlPr>
                                <a:rPr lang="en-US" sz="4000" i="1">
                                  <a:solidFill>
                                    <a:schemeClr val="bg1"/>
                                  </a:solidFill>
                                  <a:latin typeface="Cambria Math" panose="02040503050406030204" pitchFamily="18" charset="0"/>
                                  <a:cs typeface="NVIDIA Sans" panose="020B0503020203020204" pitchFamily="34" charset="0"/>
                                </a:rPr>
                              </m:ctrlPr>
                            </m:radPr>
                            <m:deg/>
                            <m:e>
                              <m:r>
                                <a:rPr lang="en-US" sz="4000" i="1">
                                  <a:solidFill>
                                    <a:schemeClr val="bg1"/>
                                  </a:solidFill>
                                  <a:latin typeface="Cambria Math" panose="02040503050406030204" pitchFamily="18" charset="0"/>
                                  <a:cs typeface="NVIDIA Sans" panose="020B0503020203020204" pitchFamily="34" charset="0"/>
                                </a:rPr>
                                <m:t>2</m:t>
                              </m:r>
                            </m:e>
                          </m:rad>
                        </m:num>
                        <m:den>
                          <m:r>
                            <a:rPr lang="en-US" sz="4000" i="1">
                              <a:solidFill>
                                <a:schemeClr val="bg1"/>
                              </a:solidFill>
                              <a:latin typeface="Cambria Math" panose="02040503050406030204" pitchFamily="18" charset="0"/>
                              <a:cs typeface="NVIDIA Sans" panose="020B0503020203020204" pitchFamily="34" charset="0"/>
                            </a:rPr>
                            <m:t>2</m:t>
                          </m:r>
                        </m:den>
                      </m:f>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11" name="Rectangle 10">
                <a:extLst>
                  <a:ext uri="{FF2B5EF4-FFF2-40B4-BE49-F238E27FC236}">
                    <a16:creationId xmlns:a16="http://schemas.microsoft.com/office/drawing/2014/main" id="{E3BCC4D0-7813-ADEB-54F8-AA00FBCDE427}"/>
                  </a:ext>
                </a:extLst>
              </p:cNvPr>
              <p:cNvSpPr>
                <a:spLocks noRot="1" noChangeAspect="1" noMove="1" noResize="1" noEditPoints="1" noAdjustHandles="1" noChangeArrowheads="1" noChangeShapeType="1" noTextEdit="1"/>
              </p:cNvSpPr>
              <p:nvPr/>
            </p:nvSpPr>
            <p:spPr>
              <a:xfrm>
                <a:off x="31049026" y="5867403"/>
                <a:ext cx="2705286" cy="2307861"/>
              </a:xfrm>
              <a:prstGeom prst="rect">
                <a:avLst/>
              </a:prstGeom>
              <a:blipFill>
                <a:blip r:embed="rId5"/>
                <a:stretch>
                  <a:fillRect/>
                </a:stretch>
              </a:blipFill>
              <a:ln>
                <a:solidFill>
                  <a:schemeClr val="tx2"/>
                </a:solidFill>
              </a:ln>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3BD5DC44-7B40-5495-250B-9182E4100288}"/>
              </a:ext>
            </a:extLst>
          </p:cNvPr>
          <p:cNvGrpSpPr/>
          <p:nvPr/>
        </p:nvGrpSpPr>
        <p:grpSpPr>
          <a:xfrm>
            <a:off x="23729426" y="3498559"/>
            <a:ext cx="7813051" cy="3040046"/>
            <a:chOff x="23729426" y="3498559"/>
            <a:chExt cx="7813051" cy="3040046"/>
          </a:xfrm>
        </p:grpSpPr>
        <p:sp>
          <p:nvSpPr>
            <p:cNvPr id="21" name="Rectangle 20">
              <a:extLst>
                <a:ext uri="{FF2B5EF4-FFF2-40B4-BE49-F238E27FC236}">
                  <a16:creationId xmlns:a16="http://schemas.microsoft.com/office/drawing/2014/main" id="{3DC65FB6-64AF-CE12-ADD5-B6C7D7D824CA}"/>
                </a:ext>
              </a:extLst>
            </p:cNvPr>
            <p:cNvSpPr/>
            <p:nvPr/>
          </p:nvSpPr>
          <p:spPr>
            <a:xfrm>
              <a:off x="23729426" y="3498559"/>
              <a:ext cx="1374902" cy="136358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NVIDIA Sans" panose="020B0503020203020204" pitchFamily="34" charset="0"/>
                  <a:cs typeface="NVIDIA Sans" panose="020B0503020203020204" pitchFamily="34" charset="0"/>
                </a:rPr>
                <a:t>A</a:t>
              </a:r>
            </a:p>
          </p:txBody>
        </p:sp>
        <p:sp>
          <p:nvSpPr>
            <p:cNvPr id="22" name="Rectangle 21">
              <a:extLst>
                <a:ext uri="{FF2B5EF4-FFF2-40B4-BE49-F238E27FC236}">
                  <a16:creationId xmlns:a16="http://schemas.microsoft.com/office/drawing/2014/main" id="{7CF11DEB-4360-FC3E-2439-D8EAC5A6C8EB}"/>
                </a:ext>
              </a:extLst>
            </p:cNvPr>
            <p:cNvSpPr/>
            <p:nvPr/>
          </p:nvSpPr>
          <p:spPr>
            <a:xfrm>
              <a:off x="30167575" y="5175023"/>
              <a:ext cx="1374902" cy="136358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NVIDIA Sans" panose="020B0503020203020204" pitchFamily="34" charset="0"/>
                  <a:cs typeface="NVIDIA Sans" panose="020B0503020203020204" pitchFamily="34" charset="0"/>
                </a:rPr>
                <a:t>B</a:t>
              </a:r>
            </a:p>
          </p:txBody>
        </p:sp>
      </p:grpSp>
      <p:cxnSp>
        <p:nvCxnSpPr>
          <p:cNvPr id="25" name="Straight Arrow Connector 24">
            <a:extLst>
              <a:ext uri="{FF2B5EF4-FFF2-40B4-BE49-F238E27FC236}">
                <a16:creationId xmlns:a16="http://schemas.microsoft.com/office/drawing/2014/main" id="{D1645C8A-F64D-A60A-00DE-C00582F56861}"/>
              </a:ext>
            </a:extLst>
          </p:cNvPr>
          <p:cNvCxnSpPr/>
          <p:nvPr/>
        </p:nvCxnSpPr>
        <p:spPr>
          <a:xfrm flipV="1">
            <a:off x="7229475" y="7611122"/>
            <a:ext cx="0" cy="982980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4B234F1-8288-8CA7-9430-26F8A62E2EB4}"/>
              </a:ext>
            </a:extLst>
          </p:cNvPr>
          <p:cNvCxnSpPr>
            <a:cxnSpLocks/>
          </p:cNvCxnSpPr>
          <p:nvPr/>
        </p:nvCxnSpPr>
        <p:spPr>
          <a:xfrm flipV="1">
            <a:off x="7229475" y="7611121"/>
            <a:ext cx="9829801" cy="9829801"/>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A7521DB-EF10-DF1C-B179-8A65D567C954}"/>
              </a:ext>
            </a:extLst>
          </p:cNvPr>
          <p:cNvSpPr/>
          <p:nvPr/>
        </p:nvSpPr>
        <p:spPr>
          <a:xfrm>
            <a:off x="5876832"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32" name="Rectangle 31">
            <a:extLst>
              <a:ext uri="{FF2B5EF4-FFF2-40B4-BE49-F238E27FC236}">
                <a16:creationId xmlns:a16="http://schemas.microsoft.com/office/drawing/2014/main" id="{92BBB38E-004B-4F32-9CD7-2C786F613FC3}"/>
              </a:ext>
            </a:extLst>
          </p:cNvPr>
          <p:cNvSpPr/>
          <p:nvPr/>
        </p:nvSpPr>
        <p:spPr>
          <a:xfrm>
            <a:off x="15706633"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pic>
        <p:nvPicPr>
          <p:cNvPr id="33" name="Picture 32">
            <a:extLst>
              <a:ext uri="{FF2B5EF4-FFF2-40B4-BE49-F238E27FC236}">
                <a16:creationId xmlns:a16="http://schemas.microsoft.com/office/drawing/2014/main" id="{EA0F5990-64D9-5F6D-68A5-0D40B06140B6}"/>
              </a:ext>
            </a:extLst>
          </p:cNvPr>
          <p:cNvPicPr>
            <a:picLocks noChangeAspect="1"/>
          </p:cNvPicPr>
          <p:nvPr/>
        </p:nvPicPr>
        <p:blipFill>
          <a:blip r:embed="rId6"/>
          <a:stretch>
            <a:fillRect/>
          </a:stretch>
        </p:blipFill>
        <p:spPr>
          <a:xfrm>
            <a:off x="2464138" y="5001769"/>
            <a:ext cx="2958424" cy="2675547"/>
          </a:xfrm>
          <a:prstGeom prst="rect">
            <a:avLst/>
          </a:prstGeom>
        </p:spPr>
      </p:pic>
      <p:sp>
        <p:nvSpPr>
          <p:cNvPr id="34" name="Rectangle 33">
            <a:extLst>
              <a:ext uri="{FF2B5EF4-FFF2-40B4-BE49-F238E27FC236}">
                <a16:creationId xmlns:a16="http://schemas.microsoft.com/office/drawing/2014/main" id="{B991CB17-3A19-1497-3973-F0049C4950CE}"/>
              </a:ext>
            </a:extLst>
          </p:cNvPr>
          <p:cNvSpPr/>
          <p:nvPr/>
        </p:nvSpPr>
        <p:spPr>
          <a:xfrm>
            <a:off x="12264024" y="8923418"/>
            <a:ext cx="6553573" cy="1363582"/>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spTree>
    <p:extLst>
      <p:ext uri="{BB962C8B-B14F-4D97-AF65-F5344CB8AC3E}">
        <p14:creationId xmlns:p14="http://schemas.microsoft.com/office/powerpoint/2010/main" val="41769934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3" name="Table 13">
                <a:extLst>
                  <a:ext uri="{FF2B5EF4-FFF2-40B4-BE49-F238E27FC236}">
                    <a16:creationId xmlns:a16="http://schemas.microsoft.com/office/drawing/2014/main" id="{C08799E7-2463-7AAF-153E-42B259444D50}"/>
                  </a:ext>
                </a:extLst>
              </p:cNvPr>
              <p:cNvGraphicFramePr>
                <a:graphicFrameLocks noGrp="1"/>
              </p:cNvGraphicFramePr>
              <p:nvPr/>
            </p:nvGraphicFramePr>
            <p:xfrm>
              <a:off x="12394547" y="13020842"/>
              <a:ext cx="7419880" cy="4055497"/>
            </p:xfrm>
            <a:graphic>
              <a:graphicData uri="http://schemas.openxmlformats.org/drawingml/2006/table">
                <a:tbl>
                  <a:tblPr firstRow="1" bandRow="1">
                    <a:tableStyleId>{5C22544A-7EE6-4342-B048-85BDC9FD1C3A}</a:tableStyleId>
                  </a:tblPr>
                  <a:tblGrid>
                    <a:gridCol w="1854970">
                      <a:extLst>
                        <a:ext uri="{9D8B030D-6E8A-4147-A177-3AD203B41FA5}">
                          <a16:colId xmlns:a16="http://schemas.microsoft.com/office/drawing/2014/main" val="315781999"/>
                        </a:ext>
                      </a:extLst>
                    </a:gridCol>
                    <a:gridCol w="1854970">
                      <a:extLst>
                        <a:ext uri="{9D8B030D-6E8A-4147-A177-3AD203B41FA5}">
                          <a16:colId xmlns:a16="http://schemas.microsoft.com/office/drawing/2014/main" val="4125437195"/>
                        </a:ext>
                      </a:extLst>
                    </a:gridCol>
                    <a:gridCol w="1854970">
                      <a:extLst>
                        <a:ext uri="{9D8B030D-6E8A-4147-A177-3AD203B41FA5}">
                          <a16:colId xmlns:a16="http://schemas.microsoft.com/office/drawing/2014/main" val="1669418738"/>
                        </a:ext>
                      </a:extLst>
                    </a:gridCol>
                    <a:gridCol w="1854970">
                      <a:extLst>
                        <a:ext uri="{9D8B030D-6E8A-4147-A177-3AD203B41FA5}">
                          <a16:colId xmlns:a16="http://schemas.microsoft.com/office/drawing/2014/main" val="2462266595"/>
                        </a:ext>
                      </a:extLst>
                    </a:gridCol>
                  </a:tblGrid>
                  <a:tr h="825273">
                    <a:tc>
                      <a:txBody>
                        <a:bodyPr/>
                        <a:lstStyle/>
                        <a:p>
                          <a:pPr algn="ctr"/>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 x 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273962"/>
                      </a:ext>
                    </a:extLst>
                  </a:tr>
                  <a:tr h="1615112">
                    <a:tc>
                      <a:txBody>
                        <a:bodyPr/>
                        <a:lstStyle/>
                        <a:p>
                          <a:pPr algn="ctr"/>
                          <a:r>
                            <a:rPr lang="en-US" sz="4000" b="0" dirty="0">
                              <a:solidFill>
                                <a:sysClr val="windowText" lastClr="000000"/>
                              </a:solidFill>
                              <a:latin typeface="+mn-lt"/>
                            </a:rPr>
                            <a:t>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93222"/>
                      </a:ext>
                    </a:extLst>
                  </a:tr>
                  <a:tr h="1615112">
                    <a:tc>
                      <a:txBody>
                        <a:bodyPr/>
                        <a:lstStyle/>
                        <a:p>
                          <a:pPr algn="ctr"/>
                          <a:r>
                            <a:rPr lang="en-US" sz="4000" b="0" dirty="0">
                              <a:solidFill>
                                <a:sysClr val="windowText" lastClr="000000"/>
                              </a:solidFill>
                              <a:latin typeface="+mn-lt"/>
                            </a:rPr>
                            <a: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9823510"/>
                      </a:ext>
                    </a:extLst>
                  </a:tr>
                </a:tbl>
              </a:graphicData>
            </a:graphic>
          </p:graphicFrame>
        </mc:Choice>
        <mc:Fallback xmlns="">
          <p:graphicFrame>
            <p:nvGraphicFramePr>
              <p:cNvPr id="13" name="Table 13">
                <a:extLst>
                  <a:ext uri="{FF2B5EF4-FFF2-40B4-BE49-F238E27FC236}">
                    <a16:creationId xmlns:a16="http://schemas.microsoft.com/office/drawing/2014/main" id="{C08799E7-2463-7AAF-153E-42B259444D50}"/>
                  </a:ext>
                </a:extLst>
              </p:cNvPr>
              <p:cNvGraphicFramePr>
                <a:graphicFrameLocks noGrp="1"/>
              </p:cNvGraphicFramePr>
              <p:nvPr/>
            </p:nvGraphicFramePr>
            <p:xfrm>
              <a:off x="12394547" y="13020842"/>
              <a:ext cx="7419880" cy="4055497"/>
            </p:xfrm>
            <a:graphic>
              <a:graphicData uri="http://schemas.openxmlformats.org/drawingml/2006/table">
                <a:tbl>
                  <a:tblPr firstRow="1" bandRow="1">
                    <a:tableStyleId>{5C22544A-7EE6-4342-B048-85BDC9FD1C3A}</a:tableStyleId>
                  </a:tblPr>
                  <a:tblGrid>
                    <a:gridCol w="1854970">
                      <a:extLst>
                        <a:ext uri="{9D8B030D-6E8A-4147-A177-3AD203B41FA5}">
                          <a16:colId xmlns:a16="http://schemas.microsoft.com/office/drawing/2014/main" val="315781999"/>
                        </a:ext>
                      </a:extLst>
                    </a:gridCol>
                    <a:gridCol w="1854970">
                      <a:extLst>
                        <a:ext uri="{9D8B030D-6E8A-4147-A177-3AD203B41FA5}">
                          <a16:colId xmlns:a16="http://schemas.microsoft.com/office/drawing/2014/main" val="4125437195"/>
                        </a:ext>
                      </a:extLst>
                    </a:gridCol>
                    <a:gridCol w="1854970">
                      <a:extLst>
                        <a:ext uri="{9D8B030D-6E8A-4147-A177-3AD203B41FA5}">
                          <a16:colId xmlns:a16="http://schemas.microsoft.com/office/drawing/2014/main" val="1669418738"/>
                        </a:ext>
                      </a:extLst>
                    </a:gridCol>
                    <a:gridCol w="1854970">
                      <a:extLst>
                        <a:ext uri="{9D8B030D-6E8A-4147-A177-3AD203B41FA5}">
                          <a16:colId xmlns:a16="http://schemas.microsoft.com/office/drawing/2014/main" val="2462266595"/>
                        </a:ext>
                      </a:extLst>
                    </a:gridCol>
                  </a:tblGrid>
                  <a:tr h="825273">
                    <a:tc>
                      <a:txBody>
                        <a:bodyPr/>
                        <a:lstStyle/>
                        <a:p>
                          <a:pPr algn="ctr"/>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 x 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273962"/>
                      </a:ext>
                    </a:extLst>
                  </a:tr>
                  <a:tr h="1615112">
                    <a:tc>
                      <a:txBody>
                        <a:bodyPr/>
                        <a:lstStyle/>
                        <a:p>
                          <a:pPr algn="ctr"/>
                          <a:r>
                            <a:rPr lang="en-US" sz="4000" b="0" dirty="0">
                              <a:solidFill>
                                <a:sysClr val="windowText" lastClr="000000"/>
                              </a:solidFill>
                              <a:latin typeface="+mn-lt"/>
                            </a:rPr>
                            <a:t>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5"/>
                          <a:stretch>
                            <a:fillRect l="-200000" t="-53962" r="-100328" b="-101132"/>
                          </a:stretch>
                        </a:blip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93222"/>
                      </a:ext>
                    </a:extLst>
                  </a:tr>
                  <a:tr h="1615112">
                    <a:tc>
                      <a:txBody>
                        <a:bodyPr/>
                        <a:lstStyle/>
                        <a:p>
                          <a:pPr algn="ctr"/>
                          <a:r>
                            <a:rPr lang="en-US" sz="4000" b="0" dirty="0">
                              <a:solidFill>
                                <a:sysClr val="windowText" lastClr="000000"/>
                              </a:solidFill>
                              <a:latin typeface="+mn-lt"/>
                            </a:rPr>
                            <a: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5"/>
                          <a:stretch>
                            <a:fillRect l="-200000" t="-153383" r="-100328" b="-752"/>
                          </a:stretch>
                        </a:blip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5"/>
                          <a:stretch>
                            <a:fillRect l="-300987" t="-153383" r="-658" b="-752"/>
                          </a:stretch>
                        </a:blipFill>
                      </a:tcPr>
                    </a:tc>
                    <a:extLst>
                      <a:ext uri="{0D108BD9-81ED-4DB2-BD59-A6C34878D82A}">
                        <a16:rowId xmlns:a16="http://schemas.microsoft.com/office/drawing/2014/main" val="2079823510"/>
                      </a:ext>
                    </a:extLst>
                  </a:tr>
                </a:tbl>
              </a:graphicData>
            </a:graphic>
          </p:graphicFrame>
        </mc:Fallback>
      </mc:AlternateContent>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Dot Product</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dirty="0"/>
          </a:p>
        </p:txBody>
      </p:sp>
      <p:sp>
        <p:nvSpPr>
          <p:cNvPr id="3" name="Oval 2">
            <a:extLst>
              <a:ext uri="{FF2B5EF4-FFF2-40B4-BE49-F238E27FC236}">
                <a16:creationId xmlns:a16="http://schemas.microsoft.com/office/drawing/2014/main" id="{CBA7B88D-C67E-D109-725D-1B4C708C4FDB}"/>
              </a:ext>
            </a:extLst>
          </p:cNvPr>
          <p:cNvSpPr/>
          <p:nvPr/>
        </p:nvSpPr>
        <p:spPr>
          <a:xfrm>
            <a:off x="20471514" y="6339542"/>
            <a:ext cx="11901489" cy="11195867"/>
          </a:xfrm>
          <a:prstGeom prst="ellipse">
            <a:avLst/>
          </a:prstGeom>
          <a:noFill/>
          <a:ln w="762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4" name="Straight Arrow Connector 3">
            <a:extLst>
              <a:ext uri="{FF2B5EF4-FFF2-40B4-BE49-F238E27FC236}">
                <a16:creationId xmlns:a16="http://schemas.microsoft.com/office/drawing/2014/main" id="{4A74A6C6-612E-6D27-D2F4-5982E1EE7F91}"/>
              </a:ext>
            </a:extLst>
          </p:cNvPr>
          <p:cNvCxnSpPr>
            <a:cxnSpLocks/>
          </p:cNvCxnSpPr>
          <p:nvPr/>
        </p:nvCxnSpPr>
        <p:spPr>
          <a:xfrm flipV="1">
            <a:off x="26393591" y="6339542"/>
            <a:ext cx="0" cy="559793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FB28DF6-4D09-9A7C-FC8A-D02D24891BF7}"/>
              </a:ext>
            </a:extLst>
          </p:cNvPr>
          <p:cNvCxnSpPr>
            <a:cxnSpLocks/>
            <a:endCxn id="3" idx="7"/>
          </p:cNvCxnSpPr>
          <p:nvPr/>
        </p:nvCxnSpPr>
        <p:spPr>
          <a:xfrm flipV="1">
            <a:off x="26422258" y="7979139"/>
            <a:ext cx="4207812" cy="396645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C7DB360-6516-5572-6C5F-455A926232A4}"/>
              </a:ext>
            </a:extLst>
          </p:cNvPr>
          <p:cNvSpPr/>
          <p:nvPr/>
        </p:nvSpPr>
        <p:spPr>
          <a:xfrm>
            <a:off x="24774432" y="4530480"/>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3BCC4D0-7813-ADEB-54F8-AA00FBCDE427}"/>
                  </a:ext>
                </a:extLst>
              </p:cNvPr>
              <p:cNvSpPr/>
              <p:nvPr/>
            </p:nvSpPr>
            <p:spPr>
              <a:xfrm>
                <a:off x="31049026" y="5867403"/>
                <a:ext cx="2705286" cy="230786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r>
                        <a:rPr lang="en-US" sz="4000" b="0" i="1" smtClean="0">
                          <a:solidFill>
                            <a:schemeClr val="bg1"/>
                          </a:solidFill>
                          <a:latin typeface="Cambria Math" panose="02040503050406030204" pitchFamily="18" charset="0"/>
                          <a:cs typeface="NVIDIA Sans" panose="020B0503020203020204" pitchFamily="34" charset="0"/>
                        </a:rPr>
                        <m:t>,</m:t>
                      </m:r>
                      <m:f>
                        <m:fPr>
                          <m:ctrlPr>
                            <a:rPr lang="en-US" sz="4000" i="1">
                              <a:solidFill>
                                <a:schemeClr val="bg1"/>
                              </a:solidFill>
                              <a:latin typeface="Cambria Math" panose="02040503050406030204" pitchFamily="18" charset="0"/>
                              <a:cs typeface="NVIDIA Sans" panose="020B0503020203020204" pitchFamily="34" charset="0"/>
                            </a:rPr>
                          </m:ctrlPr>
                        </m:fPr>
                        <m:num>
                          <m:rad>
                            <m:radPr>
                              <m:degHide m:val="on"/>
                              <m:ctrlPr>
                                <a:rPr lang="en-US" sz="4000" i="1">
                                  <a:solidFill>
                                    <a:schemeClr val="bg1"/>
                                  </a:solidFill>
                                  <a:latin typeface="Cambria Math" panose="02040503050406030204" pitchFamily="18" charset="0"/>
                                  <a:cs typeface="NVIDIA Sans" panose="020B0503020203020204" pitchFamily="34" charset="0"/>
                                </a:rPr>
                              </m:ctrlPr>
                            </m:radPr>
                            <m:deg/>
                            <m:e>
                              <m:r>
                                <a:rPr lang="en-US" sz="4000" i="1">
                                  <a:solidFill>
                                    <a:schemeClr val="bg1"/>
                                  </a:solidFill>
                                  <a:latin typeface="Cambria Math" panose="02040503050406030204" pitchFamily="18" charset="0"/>
                                  <a:cs typeface="NVIDIA Sans" panose="020B0503020203020204" pitchFamily="34" charset="0"/>
                                </a:rPr>
                                <m:t>2</m:t>
                              </m:r>
                            </m:e>
                          </m:rad>
                        </m:num>
                        <m:den>
                          <m:r>
                            <a:rPr lang="en-US" sz="4000" i="1">
                              <a:solidFill>
                                <a:schemeClr val="bg1"/>
                              </a:solidFill>
                              <a:latin typeface="Cambria Math" panose="02040503050406030204" pitchFamily="18" charset="0"/>
                              <a:cs typeface="NVIDIA Sans" panose="020B0503020203020204" pitchFamily="34" charset="0"/>
                            </a:rPr>
                            <m:t>2</m:t>
                          </m:r>
                        </m:den>
                      </m:f>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11" name="Rectangle 10">
                <a:extLst>
                  <a:ext uri="{FF2B5EF4-FFF2-40B4-BE49-F238E27FC236}">
                    <a16:creationId xmlns:a16="http://schemas.microsoft.com/office/drawing/2014/main" id="{E3BCC4D0-7813-ADEB-54F8-AA00FBCDE427}"/>
                  </a:ext>
                </a:extLst>
              </p:cNvPr>
              <p:cNvSpPr>
                <a:spLocks noRot="1" noChangeAspect="1" noMove="1" noResize="1" noEditPoints="1" noAdjustHandles="1" noChangeArrowheads="1" noChangeShapeType="1" noTextEdit="1"/>
              </p:cNvSpPr>
              <p:nvPr/>
            </p:nvSpPr>
            <p:spPr>
              <a:xfrm>
                <a:off x="31049026" y="5867403"/>
                <a:ext cx="2705286" cy="2307861"/>
              </a:xfrm>
              <a:prstGeom prst="rect">
                <a:avLst/>
              </a:prstGeom>
              <a:blipFill>
                <a:blip r:embed="rId6"/>
                <a:stretch>
                  <a:fillRect/>
                </a:stretch>
              </a:blipFill>
              <a:ln>
                <a:solidFill>
                  <a:schemeClr val="tx2"/>
                </a:solidFill>
              </a:ln>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3BD5DC44-7B40-5495-250B-9182E4100288}"/>
              </a:ext>
            </a:extLst>
          </p:cNvPr>
          <p:cNvGrpSpPr/>
          <p:nvPr/>
        </p:nvGrpSpPr>
        <p:grpSpPr>
          <a:xfrm>
            <a:off x="23729426" y="3498559"/>
            <a:ext cx="7813051" cy="3040046"/>
            <a:chOff x="23729426" y="3498559"/>
            <a:chExt cx="7813051" cy="3040046"/>
          </a:xfrm>
        </p:grpSpPr>
        <p:sp>
          <p:nvSpPr>
            <p:cNvPr id="21" name="Rectangle 20">
              <a:extLst>
                <a:ext uri="{FF2B5EF4-FFF2-40B4-BE49-F238E27FC236}">
                  <a16:creationId xmlns:a16="http://schemas.microsoft.com/office/drawing/2014/main" id="{3DC65FB6-64AF-CE12-ADD5-B6C7D7D824CA}"/>
                </a:ext>
              </a:extLst>
            </p:cNvPr>
            <p:cNvSpPr/>
            <p:nvPr/>
          </p:nvSpPr>
          <p:spPr>
            <a:xfrm>
              <a:off x="23729426" y="3498559"/>
              <a:ext cx="1374902" cy="136358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NVIDIA Sans" panose="020B0503020203020204" pitchFamily="34" charset="0"/>
                  <a:cs typeface="NVIDIA Sans" panose="020B0503020203020204" pitchFamily="34" charset="0"/>
                </a:rPr>
                <a:t>A</a:t>
              </a:r>
            </a:p>
          </p:txBody>
        </p:sp>
        <p:sp>
          <p:nvSpPr>
            <p:cNvPr id="22" name="Rectangle 21">
              <a:extLst>
                <a:ext uri="{FF2B5EF4-FFF2-40B4-BE49-F238E27FC236}">
                  <a16:creationId xmlns:a16="http://schemas.microsoft.com/office/drawing/2014/main" id="{7CF11DEB-4360-FC3E-2439-D8EAC5A6C8EB}"/>
                </a:ext>
              </a:extLst>
            </p:cNvPr>
            <p:cNvSpPr/>
            <p:nvPr/>
          </p:nvSpPr>
          <p:spPr>
            <a:xfrm>
              <a:off x="30167575" y="5175023"/>
              <a:ext cx="1374902" cy="136358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NVIDIA Sans" panose="020B0503020203020204" pitchFamily="34" charset="0"/>
                  <a:cs typeface="NVIDIA Sans" panose="020B0503020203020204" pitchFamily="34" charset="0"/>
                </a:rPr>
                <a:t>B</a:t>
              </a:r>
            </a:p>
          </p:txBody>
        </p:sp>
      </p:grpSp>
      <p:cxnSp>
        <p:nvCxnSpPr>
          <p:cNvPr id="25" name="Straight Arrow Connector 24">
            <a:extLst>
              <a:ext uri="{FF2B5EF4-FFF2-40B4-BE49-F238E27FC236}">
                <a16:creationId xmlns:a16="http://schemas.microsoft.com/office/drawing/2014/main" id="{D1645C8A-F64D-A60A-00DE-C00582F56861}"/>
              </a:ext>
            </a:extLst>
          </p:cNvPr>
          <p:cNvCxnSpPr/>
          <p:nvPr/>
        </p:nvCxnSpPr>
        <p:spPr>
          <a:xfrm flipV="1">
            <a:off x="7229475" y="7611122"/>
            <a:ext cx="0" cy="982980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4B234F1-8288-8CA7-9430-26F8A62E2EB4}"/>
              </a:ext>
            </a:extLst>
          </p:cNvPr>
          <p:cNvCxnSpPr>
            <a:cxnSpLocks/>
          </p:cNvCxnSpPr>
          <p:nvPr/>
        </p:nvCxnSpPr>
        <p:spPr>
          <a:xfrm flipV="1">
            <a:off x="7229475" y="7611121"/>
            <a:ext cx="9829801" cy="9829801"/>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A7521DB-EF10-DF1C-B179-8A65D567C954}"/>
              </a:ext>
            </a:extLst>
          </p:cNvPr>
          <p:cNvSpPr/>
          <p:nvPr/>
        </p:nvSpPr>
        <p:spPr>
          <a:xfrm>
            <a:off x="5876832"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32" name="Rectangle 31">
            <a:extLst>
              <a:ext uri="{FF2B5EF4-FFF2-40B4-BE49-F238E27FC236}">
                <a16:creationId xmlns:a16="http://schemas.microsoft.com/office/drawing/2014/main" id="{92BBB38E-004B-4F32-9CD7-2C786F613FC3}"/>
              </a:ext>
            </a:extLst>
          </p:cNvPr>
          <p:cNvSpPr/>
          <p:nvPr/>
        </p:nvSpPr>
        <p:spPr>
          <a:xfrm>
            <a:off x="15706633"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pic>
        <p:nvPicPr>
          <p:cNvPr id="33" name="Picture 32">
            <a:extLst>
              <a:ext uri="{FF2B5EF4-FFF2-40B4-BE49-F238E27FC236}">
                <a16:creationId xmlns:a16="http://schemas.microsoft.com/office/drawing/2014/main" id="{EA0F5990-64D9-5F6D-68A5-0D40B06140B6}"/>
              </a:ext>
            </a:extLst>
          </p:cNvPr>
          <p:cNvPicPr>
            <a:picLocks noChangeAspect="1"/>
          </p:cNvPicPr>
          <p:nvPr/>
        </p:nvPicPr>
        <p:blipFill>
          <a:blip r:embed="rId7"/>
          <a:stretch>
            <a:fillRect/>
          </a:stretch>
        </p:blipFill>
        <p:spPr>
          <a:xfrm>
            <a:off x="2464138" y="5001769"/>
            <a:ext cx="2958424" cy="2675547"/>
          </a:xfrm>
          <a:prstGeom prst="rect">
            <a:avLst/>
          </a:prstGeom>
        </p:spPr>
      </p:pic>
      <p:sp>
        <p:nvSpPr>
          <p:cNvPr id="34" name="Rectangle 33">
            <a:extLst>
              <a:ext uri="{FF2B5EF4-FFF2-40B4-BE49-F238E27FC236}">
                <a16:creationId xmlns:a16="http://schemas.microsoft.com/office/drawing/2014/main" id="{B991CB17-3A19-1497-3973-F0049C4950CE}"/>
              </a:ext>
            </a:extLst>
          </p:cNvPr>
          <p:cNvSpPr/>
          <p:nvPr/>
        </p:nvSpPr>
        <p:spPr>
          <a:xfrm>
            <a:off x="12264024" y="8923418"/>
            <a:ext cx="6553573" cy="1363582"/>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spTree>
    <p:extLst>
      <p:ext uri="{BB962C8B-B14F-4D97-AF65-F5344CB8AC3E}">
        <p14:creationId xmlns:p14="http://schemas.microsoft.com/office/powerpoint/2010/main" val="3377936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4762A18-61EC-40FA-57AF-B1A3170F7533}"/>
              </a:ext>
            </a:extLst>
          </p:cNvPr>
          <p:cNvSpPr/>
          <p:nvPr/>
        </p:nvSpPr>
        <p:spPr>
          <a:xfrm>
            <a:off x="17974061" y="13020842"/>
            <a:ext cx="1840366" cy="4055497"/>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Dot Product</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dirty="0"/>
          </a:p>
        </p:txBody>
      </p:sp>
      <p:sp>
        <p:nvSpPr>
          <p:cNvPr id="3" name="Oval 2">
            <a:extLst>
              <a:ext uri="{FF2B5EF4-FFF2-40B4-BE49-F238E27FC236}">
                <a16:creationId xmlns:a16="http://schemas.microsoft.com/office/drawing/2014/main" id="{CBA7B88D-C67E-D109-725D-1B4C708C4FDB}"/>
              </a:ext>
            </a:extLst>
          </p:cNvPr>
          <p:cNvSpPr/>
          <p:nvPr/>
        </p:nvSpPr>
        <p:spPr>
          <a:xfrm>
            <a:off x="20471514" y="6339542"/>
            <a:ext cx="11901489" cy="11195867"/>
          </a:xfrm>
          <a:prstGeom prst="ellipse">
            <a:avLst/>
          </a:prstGeom>
          <a:noFill/>
          <a:ln w="762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4" name="Straight Arrow Connector 3">
            <a:extLst>
              <a:ext uri="{FF2B5EF4-FFF2-40B4-BE49-F238E27FC236}">
                <a16:creationId xmlns:a16="http://schemas.microsoft.com/office/drawing/2014/main" id="{4A74A6C6-612E-6D27-D2F4-5982E1EE7F91}"/>
              </a:ext>
            </a:extLst>
          </p:cNvPr>
          <p:cNvCxnSpPr>
            <a:cxnSpLocks/>
          </p:cNvCxnSpPr>
          <p:nvPr/>
        </p:nvCxnSpPr>
        <p:spPr>
          <a:xfrm flipV="1">
            <a:off x="26393591" y="6339542"/>
            <a:ext cx="0" cy="559793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FB28DF6-4D09-9A7C-FC8A-D02D24891BF7}"/>
              </a:ext>
            </a:extLst>
          </p:cNvPr>
          <p:cNvCxnSpPr>
            <a:cxnSpLocks/>
            <a:endCxn id="3" idx="7"/>
          </p:cNvCxnSpPr>
          <p:nvPr/>
        </p:nvCxnSpPr>
        <p:spPr>
          <a:xfrm flipV="1">
            <a:off x="26422258" y="7979139"/>
            <a:ext cx="4207812" cy="396645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C7DB360-6516-5572-6C5F-455A926232A4}"/>
              </a:ext>
            </a:extLst>
          </p:cNvPr>
          <p:cNvSpPr/>
          <p:nvPr/>
        </p:nvSpPr>
        <p:spPr>
          <a:xfrm>
            <a:off x="24774432" y="4530480"/>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3BCC4D0-7813-ADEB-54F8-AA00FBCDE427}"/>
                  </a:ext>
                </a:extLst>
              </p:cNvPr>
              <p:cNvSpPr/>
              <p:nvPr/>
            </p:nvSpPr>
            <p:spPr>
              <a:xfrm>
                <a:off x="31049026" y="5867403"/>
                <a:ext cx="2705286" cy="230786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r>
                        <a:rPr lang="en-US" sz="4000" b="0" i="1" smtClean="0">
                          <a:solidFill>
                            <a:schemeClr val="bg1"/>
                          </a:solidFill>
                          <a:latin typeface="Cambria Math" panose="02040503050406030204" pitchFamily="18" charset="0"/>
                          <a:cs typeface="NVIDIA Sans" panose="020B0503020203020204" pitchFamily="34" charset="0"/>
                        </a:rPr>
                        <m:t>,</m:t>
                      </m:r>
                      <m:f>
                        <m:fPr>
                          <m:ctrlPr>
                            <a:rPr lang="en-US" sz="4000" i="1">
                              <a:solidFill>
                                <a:schemeClr val="bg1"/>
                              </a:solidFill>
                              <a:latin typeface="Cambria Math" panose="02040503050406030204" pitchFamily="18" charset="0"/>
                              <a:cs typeface="NVIDIA Sans" panose="020B0503020203020204" pitchFamily="34" charset="0"/>
                            </a:rPr>
                          </m:ctrlPr>
                        </m:fPr>
                        <m:num>
                          <m:rad>
                            <m:radPr>
                              <m:degHide m:val="on"/>
                              <m:ctrlPr>
                                <a:rPr lang="en-US" sz="4000" i="1">
                                  <a:solidFill>
                                    <a:schemeClr val="bg1"/>
                                  </a:solidFill>
                                  <a:latin typeface="Cambria Math" panose="02040503050406030204" pitchFamily="18" charset="0"/>
                                  <a:cs typeface="NVIDIA Sans" panose="020B0503020203020204" pitchFamily="34" charset="0"/>
                                </a:rPr>
                              </m:ctrlPr>
                            </m:radPr>
                            <m:deg/>
                            <m:e>
                              <m:r>
                                <a:rPr lang="en-US" sz="4000" i="1">
                                  <a:solidFill>
                                    <a:schemeClr val="bg1"/>
                                  </a:solidFill>
                                  <a:latin typeface="Cambria Math" panose="02040503050406030204" pitchFamily="18" charset="0"/>
                                  <a:cs typeface="NVIDIA Sans" panose="020B0503020203020204" pitchFamily="34" charset="0"/>
                                </a:rPr>
                                <m:t>2</m:t>
                              </m:r>
                            </m:e>
                          </m:rad>
                        </m:num>
                        <m:den>
                          <m:r>
                            <a:rPr lang="en-US" sz="4000" i="1">
                              <a:solidFill>
                                <a:schemeClr val="bg1"/>
                              </a:solidFill>
                              <a:latin typeface="Cambria Math" panose="02040503050406030204" pitchFamily="18" charset="0"/>
                              <a:cs typeface="NVIDIA Sans" panose="020B0503020203020204" pitchFamily="34" charset="0"/>
                            </a:rPr>
                            <m:t>2</m:t>
                          </m:r>
                        </m:den>
                      </m:f>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11" name="Rectangle 10">
                <a:extLst>
                  <a:ext uri="{FF2B5EF4-FFF2-40B4-BE49-F238E27FC236}">
                    <a16:creationId xmlns:a16="http://schemas.microsoft.com/office/drawing/2014/main" id="{E3BCC4D0-7813-ADEB-54F8-AA00FBCDE427}"/>
                  </a:ext>
                </a:extLst>
              </p:cNvPr>
              <p:cNvSpPr>
                <a:spLocks noRot="1" noChangeAspect="1" noMove="1" noResize="1" noEditPoints="1" noAdjustHandles="1" noChangeArrowheads="1" noChangeShapeType="1" noTextEdit="1"/>
              </p:cNvSpPr>
              <p:nvPr/>
            </p:nvSpPr>
            <p:spPr>
              <a:xfrm>
                <a:off x="31049026" y="5867403"/>
                <a:ext cx="2705286" cy="2307861"/>
              </a:xfrm>
              <a:prstGeom prst="rect">
                <a:avLst/>
              </a:prstGeom>
              <a:blipFill>
                <a:blip r:embed="rId5"/>
                <a:stretch>
                  <a:fillRect/>
                </a:stretch>
              </a:blipFill>
              <a:ln>
                <a:solidFill>
                  <a:schemeClr val="tx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3" name="Table 13">
                <a:extLst>
                  <a:ext uri="{FF2B5EF4-FFF2-40B4-BE49-F238E27FC236}">
                    <a16:creationId xmlns:a16="http://schemas.microsoft.com/office/drawing/2014/main" id="{C08799E7-2463-7AAF-153E-42B259444D50}"/>
                  </a:ext>
                </a:extLst>
              </p:cNvPr>
              <p:cNvGraphicFramePr>
                <a:graphicFrameLocks noGrp="1"/>
              </p:cNvGraphicFramePr>
              <p:nvPr/>
            </p:nvGraphicFramePr>
            <p:xfrm>
              <a:off x="12394547" y="13020842"/>
              <a:ext cx="7419880" cy="4055497"/>
            </p:xfrm>
            <a:graphic>
              <a:graphicData uri="http://schemas.openxmlformats.org/drawingml/2006/table">
                <a:tbl>
                  <a:tblPr firstRow="1" bandRow="1">
                    <a:tableStyleId>{5C22544A-7EE6-4342-B048-85BDC9FD1C3A}</a:tableStyleId>
                  </a:tblPr>
                  <a:tblGrid>
                    <a:gridCol w="1854970">
                      <a:extLst>
                        <a:ext uri="{9D8B030D-6E8A-4147-A177-3AD203B41FA5}">
                          <a16:colId xmlns:a16="http://schemas.microsoft.com/office/drawing/2014/main" val="315781999"/>
                        </a:ext>
                      </a:extLst>
                    </a:gridCol>
                    <a:gridCol w="1854970">
                      <a:extLst>
                        <a:ext uri="{9D8B030D-6E8A-4147-A177-3AD203B41FA5}">
                          <a16:colId xmlns:a16="http://schemas.microsoft.com/office/drawing/2014/main" val="4125437195"/>
                        </a:ext>
                      </a:extLst>
                    </a:gridCol>
                    <a:gridCol w="1854970">
                      <a:extLst>
                        <a:ext uri="{9D8B030D-6E8A-4147-A177-3AD203B41FA5}">
                          <a16:colId xmlns:a16="http://schemas.microsoft.com/office/drawing/2014/main" val="1669418738"/>
                        </a:ext>
                      </a:extLst>
                    </a:gridCol>
                    <a:gridCol w="1854970">
                      <a:extLst>
                        <a:ext uri="{9D8B030D-6E8A-4147-A177-3AD203B41FA5}">
                          <a16:colId xmlns:a16="http://schemas.microsoft.com/office/drawing/2014/main" val="2462266595"/>
                        </a:ext>
                      </a:extLst>
                    </a:gridCol>
                  </a:tblGrid>
                  <a:tr h="825273">
                    <a:tc>
                      <a:txBody>
                        <a:bodyPr/>
                        <a:lstStyle/>
                        <a:p>
                          <a:pPr algn="ctr"/>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 x 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273962"/>
                      </a:ext>
                    </a:extLst>
                  </a:tr>
                  <a:tr h="1615112">
                    <a:tc>
                      <a:txBody>
                        <a:bodyPr/>
                        <a:lstStyle/>
                        <a:p>
                          <a:pPr algn="ctr"/>
                          <a:r>
                            <a:rPr lang="en-US" sz="4000" b="0" dirty="0">
                              <a:solidFill>
                                <a:sysClr val="windowText" lastClr="000000"/>
                              </a:solidFill>
                              <a:latin typeface="+mn-lt"/>
                            </a:rPr>
                            <a:t>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93222"/>
                      </a:ext>
                    </a:extLst>
                  </a:tr>
                  <a:tr h="1615112">
                    <a:tc>
                      <a:txBody>
                        <a:bodyPr/>
                        <a:lstStyle/>
                        <a:p>
                          <a:pPr algn="ctr"/>
                          <a:r>
                            <a:rPr lang="en-US" sz="4000" b="0" dirty="0">
                              <a:solidFill>
                                <a:sysClr val="windowText" lastClr="000000"/>
                              </a:solidFill>
                              <a:latin typeface="+mn-lt"/>
                            </a:rPr>
                            <a: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9823510"/>
                      </a:ext>
                    </a:extLst>
                  </a:tr>
                </a:tbl>
              </a:graphicData>
            </a:graphic>
          </p:graphicFrame>
        </mc:Choice>
        <mc:Fallback xmlns="">
          <p:graphicFrame>
            <p:nvGraphicFramePr>
              <p:cNvPr id="13" name="Table 13">
                <a:extLst>
                  <a:ext uri="{FF2B5EF4-FFF2-40B4-BE49-F238E27FC236}">
                    <a16:creationId xmlns:a16="http://schemas.microsoft.com/office/drawing/2014/main" id="{C08799E7-2463-7AAF-153E-42B259444D50}"/>
                  </a:ext>
                </a:extLst>
              </p:cNvPr>
              <p:cNvGraphicFramePr>
                <a:graphicFrameLocks noGrp="1"/>
              </p:cNvGraphicFramePr>
              <p:nvPr/>
            </p:nvGraphicFramePr>
            <p:xfrm>
              <a:off x="12394547" y="13020842"/>
              <a:ext cx="7419880" cy="4055497"/>
            </p:xfrm>
            <a:graphic>
              <a:graphicData uri="http://schemas.openxmlformats.org/drawingml/2006/table">
                <a:tbl>
                  <a:tblPr firstRow="1" bandRow="1">
                    <a:tableStyleId>{5C22544A-7EE6-4342-B048-85BDC9FD1C3A}</a:tableStyleId>
                  </a:tblPr>
                  <a:tblGrid>
                    <a:gridCol w="1854970">
                      <a:extLst>
                        <a:ext uri="{9D8B030D-6E8A-4147-A177-3AD203B41FA5}">
                          <a16:colId xmlns:a16="http://schemas.microsoft.com/office/drawing/2014/main" val="315781999"/>
                        </a:ext>
                      </a:extLst>
                    </a:gridCol>
                    <a:gridCol w="1854970">
                      <a:extLst>
                        <a:ext uri="{9D8B030D-6E8A-4147-A177-3AD203B41FA5}">
                          <a16:colId xmlns:a16="http://schemas.microsoft.com/office/drawing/2014/main" val="4125437195"/>
                        </a:ext>
                      </a:extLst>
                    </a:gridCol>
                    <a:gridCol w="1854970">
                      <a:extLst>
                        <a:ext uri="{9D8B030D-6E8A-4147-A177-3AD203B41FA5}">
                          <a16:colId xmlns:a16="http://schemas.microsoft.com/office/drawing/2014/main" val="1669418738"/>
                        </a:ext>
                      </a:extLst>
                    </a:gridCol>
                    <a:gridCol w="1854970">
                      <a:extLst>
                        <a:ext uri="{9D8B030D-6E8A-4147-A177-3AD203B41FA5}">
                          <a16:colId xmlns:a16="http://schemas.microsoft.com/office/drawing/2014/main" val="2462266595"/>
                        </a:ext>
                      </a:extLst>
                    </a:gridCol>
                  </a:tblGrid>
                  <a:tr h="825273">
                    <a:tc>
                      <a:txBody>
                        <a:bodyPr/>
                        <a:lstStyle/>
                        <a:p>
                          <a:pPr algn="ctr"/>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 x 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273962"/>
                      </a:ext>
                    </a:extLst>
                  </a:tr>
                  <a:tr h="1615112">
                    <a:tc>
                      <a:txBody>
                        <a:bodyPr/>
                        <a:lstStyle/>
                        <a:p>
                          <a:pPr algn="ctr"/>
                          <a:r>
                            <a:rPr lang="en-US" sz="4000" b="0" dirty="0">
                              <a:solidFill>
                                <a:sysClr val="windowText" lastClr="000000"/>
                              </a:solidFill>
                              <a:latin typeface="+mn-lt"/>
                            </a:rPr>
                            <a:t>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200000" t="-53962" r="-100328" b="-101132"/>
                          </a:stretch>
                        </a:blip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93222"/>
                      </a:ext>
                    </a:extLst>
                  </a:tr>
                  <a:tr h="1615112">
                    <a:tc>
                      <a:txBody>
                        <a:bodyPr/>
                        <a:lstStyle/>
                        <a:p>
                          <a:pPr algn="ctr"/>
                          <a:r>
                            <a:rPr lang="en-US" sz="4000" b="0" dirty="0">
                              <a:solidFill>
                                <a:sysClr val="windowText" lastClr="000000"/>
                              </a:solidFill>
                              <a:latin typeface="+mn-lt"/>
                            </a:rPr>
                            <a: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200000" t="-153383" r="-100328" b="-752"/>
                          </a:stretch>
                        </a:blip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300987" t="-153383" r="-658" b="-752"/>
                          </a:stretch>
                        </a:blipFill>
                      </a:tcPr>
                    </a:tc>
                    <a:extLst>
                      <a:ext uri="{0D108BD9-81ED-4DB2-BD59-A6C34878D82A}">
                        <a16:rowId xmlns:a16="http://schemas.microsoft.com/office/drawing/2014/main" val="2079823510"/>
                      </a:ext>
                    </a:extLst>
                  </a:tr>
                </a:tbl>
              </a:graphicData>
            </a:graphic>
          </p:graphicFrame>
        </mc:Fallback>
      </mc:AlternateContent>
      <p:grpSp>
        <p:nvGrpSpPr>
          <p:cNvPr id="23" name="Group 22">
            <a:extLst>
              <a:ext uri="{FF2B5EF4-FFF2-40B4-BE49-F238E27FC236}">
                <a16:creationId xmlns:a16="http://schemas.microsoft.com/office/drawing/2014/main" id="{3BD5DC44-7B40-5495-250B-9182E4100288}"/>
              </a:ext>
            </a:extLst>
          </p:cNvPr>
          <p:cNvGrpSpPr/>
          <p:nvPr/>
        </p:nvGrpSpPr>
        <p:grpSpPr>
          <a:xfrm>
            <a:off x="23729426" y="3498559"/>
            <a:ext cx="7813051" cy="3040046"/>
            <a:chOff x="23729426" y="3498559"/>
            <a:chExt cx="7813051" cy="3040046"/>
          </a:xfrm>
        </p:grpSpPr>
        <p:sp>
          <p:nvSpPr>
            <p:cNvPr id="21" name="Rectangle 20">
              <a:extLst>
                <a:ext uri="{FF2B5EF4-FFF2-40B4-BE49-F238E27FC236}">
                  <a16:creationId xmlns:a16="http://schemas.microsoft.com/office/drawing/2014/main" id="{3DC65FB6-64AF-CE12-ADD5-B6C7D7D824CA}"/>
                </a:ext>
              </a:extLst>
            </p:cNvPr>
            <p:cNvSpPr/>
            <p:nvPr/>
          </p:nvSpPr>
          <p:spPr>
            <a:xfrm>
              <a:off x="23729426" y="3498559"/>
              <a:ext cx="1374902" cy="136358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NVIDIA Sans" panose="020B0503020203020204" pitchFamily="34" charset="0"/>
                  <a:cs typeface="NVIDIA Sans" panose="020B0503020203020204" pitchFamily="34" charset="0"/>
                </a:rPr>
                <a:t>A</a:t>
              </a:r>
            </a:p>
          </p:txBody>
        </p:sp>
        <p:sp>
          <p:nvSpPr>
            <p:cNvPr id="22" name="Rectangle 21">
              <a:extLst>
                <a:ext uri="{FF2B5EF4-FFF2-40B4-BE49-F238E27FC236}">
                  <a16:creationId xmlns:a16="http://schemas.microsoft.com/office/drawing/2014/main" id="{7CF11DEB-4360-FC3E-2439-D8EAC5A6C8EB}"/>
                </a:ext>
              </a:extLst>
            </p:cNvPr>
            <p:cNvSpPr/>
            <p:nvPr/>
          </p:nvSpPr>
          <p:spPr>
            <a:xfrm>
              <a:off x="30167575" y="5175023"/>
              <a:ext cx="1374902" cy="136358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NVIDIA Sans" panose="020B0503020203020204" pitchFamily="34" charset="0"/>
                  <a:cs typeface="NVIDIA Sans" panose="020B0503020203020204" pitchFamily="34" charset="0"/>
                </a:rPr>
                <a:t>B</a:t>
              </a:r>
            </a:p>
          </p:txBody>
        </p:sp>
      </p:grpSp>
      <p:cxnSp>
        <p:nvCxnSpPr>
          <p:cNvPr id="25" name="Straight Arrow Connector 24">
            <a:extLst>
              <a:ext uri="{FF2B5EF4-FFF2-40B4-BE49-F238E27FC236}">
                <a16:creationId xmlns:a16="http://schemas.microsoft.com/office/drawing/2014/main" id="{D1645C8A-F64D-A60A-00DE-C00582F56861}"/>
              </a:ext>
            </a:extLst>
          </p:cNvPr>
          <p:cNvCxnSpPr/>
          <p:nvPr/>
        </p:nvCxnSpPr>
        <p:spPr>
          <a:xfrm flipV="1">
            <a:off x="7229475" y="7611122"/>
            <a:ext cx="0" cy="982980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4B234F1-8288-8CA7-9430-26F8A62E2EB4}"/>
              </a:ext>
            </a:extLst>
          </p:cNvPr>
          <p:cNvCxnSpPr>
            <a:cxnSpLocks/>
          </p:cNvCxnSpPr>
          <p:nvPr/>
        </p:nvCxnSpPr>
        <p:spPr>
          <a:xfrm flipV="1">
            <a:off x="7229475" y="7611121"/>
            <a:ext cx="9829801" cy="9829801"/>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A7521DB-EF10-DF1C-B179-8A65D567C954}"/>
              </a:ext>
            </a:extLst>
          </p:cNvPr>
          <p:cNvSpPr/>
          <p:nvPr/>
        </p:nvSpPr>
        <p:spPr>
          <a:xfrm>
            <a:off x="5876832"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32" name="Rectangle 31">
            <a:extLst>
              <a:ext uri="{FF2B5EF4-FFF2-40B4-BE49-F238E27FC236}">
                <a16:creationId xmlns:a16="http://schemas.microsoft.com/office/drawing/2014/main" id="{92BBB38E-004B-4F32-9CD7-2C786F613FC3}"/>
              </a:ext>
            </a:extLst>
          </p:cNvPr>
          <p:cNvSpPr/>
          <p:nvPr/>
        </p:nvSpPr>
        <p:spPr>
          <a:xfrm>
            <a:off x="15706633"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pic>
        <p:nvPicPr>
          <p:cNvPr id="33" name="Picture 32">
            <a:extLst>
              <a:ext uri="{FF2B5EF4-FFF2-40B4-BE49-F238E27FC236}">
                <a16:creationId xmlns:a16="http://schemas.microsoft.com/office/drawing/2014/main" id="{EA0F5990-64D9-5F6D-68A5-0D40B06140B6}"/>
              </a:ext>
            </a:extLst>
          </p:cNvPr>
          <p:cNvPicPr>
            <a:picLocks noChangeAspect="1"/>
          </p:cNvPicPr>
          <p:nvPr/>
        </p:nvPicPr>
        <p:blipFill>
          <a:blip r:embed="rId7"/>
          <a:stretch>
            <a:fillRect/>
          </a:stretch>
        </p:blipFill>
        <p:spPr>
          <a:xfrm>
            <a:off x="2464138" y="5001769"/>
            <a:ext cx="2958424" cy="2675547"/>
          </a:xfrm>
          <a:prstGeom prst="rect">
            <a:avLst/>
          </a:prstGeom>
        </p:spPr>
      </p:pic>
      <p:sp>
        <p:nvSpPr>
          <p:cNvPr id="34" name="Rectangle 33">
            <a:extLst>
              <a:ext uri="{FF2B5EF4-FFF2-40B4-BE49-F238E27FC236}">
                <a16:creationId xmlns:a16="http://schemas.microsoft.com/office/drawing/2014/main" id="{B991CB17-3A19-1497-3973-F0049C4950CE}"/>
              </a:ext>
            </a:extLst>
          </p:cNvPr>
          <p:cNvSpPr/>
          <p:nvPr/>
        </p:nvSpPr>
        <p:spPr>
          <a:xfrm>
            <a:off x="12264024" y="8923418"/>
            <a:ext cx="6553573" cy="1363582"/>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spTree>
    <p:extLst>
      <p:ext uri="{BB962C8B-B14F-4D97-AF65-F5344CB8AC3E}">
        <p14:creationId xmlns:p14="http://schemas.microsoft.com/office/powerpoint/2010/main" val="27618337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4762A18-61EC-40FA-57AF-B1A3170F7533}"/>
              </a:ext>
            </a:extLst>
          </p:cNvPr>
          <p:cNvSpPr/>
          <p:nvPr/>
        </p:nvSpPr>
        <p:spPr>
          <a:xfrm>
            <a:off x="17974061" y="13020842"/>
            <a:ext cx="1840366" cy="4055497"/>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Dot Product</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dirty="0"/>
          </a:p>
        </p:txBody>
      </p:sp>
      <p:sp>
        <p:nvSpPr>
          <p:cNvPr id="3" name="Oval 2">
            <a:extLst>
              <a:ext uri="{FF2B5EF4-FFF2-40B4-BE49-F238E27FC236}">
                <a16:creationId xmlns:a16="http://schemas.microsoft.com/office/drawing/2014/main" id="{CBA7B88D-C67E-D109-725D-1B4C708C4FDB}"/>
              </a:ext>
            </a:extLst>
          </p:cNvPr>
          <p:cNvSpPr/>
          <p:nvPr/>
        </p:nvSpPr>
        <p:spPr>
          <a:xfrm>
            <a:off x="20471514" y="6339542"/>
            <a:ext cx="11901489" cy="11195867"/>
          </a:xfrm>
          <a:prstGeom prst="ellipse">
            <a:avLst/>
          </a:prstGeom>
          <a:noFill/>
          <a:ln w="762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4" name="Straight Arrow Connector 3">
            <a:extLst>
              <a:ext uri="{FF2B5EF4-FFF2-40B4-BE49-F238E27FC236}">
                <a16:creationId xmlns:a16="http://schemas.microsoft.com/office/drawing/2014/main" id="{4A74A6C6-612E-6D27-D2F4-5982E1EE7F91}"/>
              </a:ext>
            </a:extLst>
          </p:cNvPr>
          <p:cNvCxnSpPr>
            <a:cxnSpLocks/>
          </p:cNvCxnSpPr>
          <p:nvPr/>
        </p:nvCxnSpPr>
        <p:spPr>
          <a:xfrm flipV="1">
            <a:off x="26393591" y="6339542"/>
            <a:ext cx="0" cy="559793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FB28DF6-4D09-9A7C-FC8A-D02D24891BF7}"/>
              </a:ext>
            </a:extLst>
          </p:cNvPr>
          <p:cNvCxnSpPr>
            <a:cxnSpLocks/>
            <a:endCxn id="3" idx="7"/>
          </p:cNvCxnSpPr>
          <p:nvPr/>
        </p:nvCxnSpPr>
        <p:spPr>
          <a:xfrm flipV="1">
            <a:off x="26422258" y="7979139"/>
            <a:ext cx="4207812" cy="396645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C7DB360-6516-5572-6C5F-455A926232A4}"/>
              </a:ext>
            </a:extLst>
          </p:cNvPr>
          <p:cNvSpPr/>
          <p:nvPr/>
        </p:nvSpPr>
        <p:spPr>
          <a:xfrm>
            <a:off x="24774432" y="4530480"/>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3BCC4D0-7813-ADEB-54F8-AA00FBCDE427}"/>
                  </a:ext>
                </a:extLst>
              </p:cNvPr>
              <p:cNvSpPr/>
              <p:nvPr/>
            </p:nvSpPr>
            <p:spPr>
              <a:xfrm>
                <a:off x="31049026" y="5867403"/>
                <a:ext cx="2705286" cy="230786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r>
                        <a:rPr lang="en-US" sz="4000" b="0" i="1" smtClean="0">
                          <a:solidFill>
                            <a:schemeClr val="bg1"/>
                          </a:solidFill>
                          <a:latin typeface="Cambria Math" panose="02040503050406030204" pitchFamily="18" charset="0"/>
                          <a:cs typeface="NVIDIA Sans" panose="020B0503020203020204" pitchFamily="34" charset="0"/>
                        </a:rPr>
                        <m:t>,</m:t>
                      </m:r>
                      <m:f>
                        <m:fPr>
                          <m:ctrlPr>
                            <a:rPr lang="en-US" sz="4000" i="1">
                              <a:solidFill>
                                <a:schemeClr val="bg1"/>
                              </a:solidFill>
                              <a:latin typeface="Cambria Math" panose="02040503050406030204" pitchFamily="18" charset="0"/>
                              <a:cs typeface="NVIDIA Sans" panose="020B0503020203020204" pitchFamily="34" charset="0"/>
                            </a:rPr>
                          </m:ctrlPr>
                        </m:fPr>
                        <m:num>
                          <m:rad>
                            <m:radPr>
                              <m:degHide m:val="on"/>
                              <m:ctrlPr>
                                <a:rPr lang="en-US" sz="4000" i="1">
                                  <a:solidFill>
                                    <a:schemeClr val="bg1"/>
                                  </a:solidFill>
                                  <a:latin typeface="Cambria Math" panose="02040503050406030204" pitchFamily="18" charset="0"/>
                                  <a:cs typeface="NVIDIA Sans" panose="020B0503020203020204" pitchFamily="34" charset="0"/>
                                </a:rPr>
                              </m:ctrlPr>
                            </m:radPr>
                            <m:deg/>
                            <m:e>
                              <m:r>
                                <a:rPr lang="en-US" sz="4000" i="1">
                                  <a:solidFill>
                                    <a:schemeClr val="bg1"/>
                                  </a:solidFill>
                                  <a:latin typeface="Cambria Math" panose="02040503050406030204" pitchFamily="18" charset="0"/>
                                  <a:cs typeface="NVIDIA Sans" panose="020B0503020203020204" pitchFamily="34" charset="0"/>
                                </a:rPr>
                                <m:t>2</m:t>
                              </m:r>
                            </m:e>
                          </m:rad>
                        </m:num>
                        <m:den>
                          <m:r>
                            <a:rPr lang="en-US" sz="4000" i="1">
                              <a:solidFill>
                                <a:schemeClr val="bg1"/>
                              </a:solidFill>
                              <a:latin typeface="Cambria Math" panose="02040503050406030204" pitchFamily="18" charset="0"/>
                              <a:cs typeface="NVIDIA Sans" panose="020B0503020203020204" pitchFamily="34" charset="0"/>
                            </a:rPr>
                            <m:t>2</m:t>
                          </m:r>
                        </m:den>
                      </m:f>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11" name="Rectangle 10">
                <a:extLst>
                  <a:ext uri="{FF2B5EF4-FFF2-40B4-BE49-F238E27FC236}">
                    <a16:creationId xmlns:a16="http://schemas.microsoft.com/office/drawing/2014/main" id="{E3BCC4D0-7813-ADEB-54F8-AA00FBCDE427}"/>
                  </a:ext>
                </a:extLst>
              </p:cNvPr>
              <p:cNvSpPr>
                <a:spLocks noRot="1" noChangeAspect="1" noMove="1" noResize="1" noEditPoints="1" noAdjustHandles="1" noChangeArrowheads="1" noChangeShapeType="1" noTextEdit="1"/>
              </p:cNvSpPr>
              <p:nvPr/>
            </p:nvSpPr>
            <p:spPr>
              <a:xfrm>
                <a:off x="31049026" y="5867403"/>
                <a:ext cx="2705286" cy="2307861"/>
              </a:xfrm>
              <a:prstGeom prst="rect">
                <a:avLst/>
              </a:prstGeom>
              <a:blipFill>
                <a:blip r:embed="rId5"/>
                <a:stretch>
                  <a:fillRect/>
                </a:stretch>
              </a:blipFill>
              <a:ln>
                <a:solidFill>
                  <a:schemeClr val="tx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3" name="Table 13">
                <a:extLst>
                  <a:ext uri="{FF2B5EF4-FFF2-40B4-BE49-F238E27FC236}">
                    <a16:creationId xmlns:a16="http://schemas.microsoft.com/office/drawing/2014/main" id="{C08799E7-2463-7AAF-153E-42B259444D50}"/>
                  </a:ext>
                </a:extLst>
              </p:cNvPr>
              <p:cNvGraphicFramePr>
                <a:graphicFrameLocks noGrp="1"/>
              </p:cNvGraphicFramePr>
              <p:nvPr/>
            </p:nvGraphicFramePr>
            <p:xfrm>
              <a:off x="12394547" y="13020842"/>
              <a:ext cx="7419880" cy="4055497"/>
            </p:xfrm>
            <a:graphic>
              <a:graphicData uri="http://schemas.openxmlformats.org/drawingml/2006/table">
                <a:tbl>
                  <a:tblPr firstRow="1" bandRow="1">
                    <a:tableStyleId>{5C22544A-7EE6-4342-B048-85BDC9FD1C3A}</a:tableStyleId>
                  </a:tblPr>
                  <a:tblGrid>
                    <a:gridCol w="1854970">
                      <a:extLst>
                        <a:ext uri="{9D8B030D-6E8A-4147-A177-3AD203B41FA5}">
                          <a16:colId xmlns:a16="http://schemas.microsoft.com/office/drawing/2014/main" val="315781999"/>
                        </a:ext>
                      </a:extLst>
                    </a:gridCol>
                    <a:gridCol w="1854970">
                      <a:extLst>
                        <a:ext uri="{9D8B030D-6E8A-4147-A177-3AD203B41FA5}">
                          <a16:colId xmlns:a16="http://schemas.microsoft.com/office/drawing/2014/main" val="4125437195"/>
                        </a:ext>
                      </a:extLst>
                    </a:gridCol>
                    <a:gridCol w="1854970">
                      <a:extLst>
                        <a:ext uri="{9D8B030D-6E8A-4147-A177-3AD203B41FA5}">
                          <a16:colId xmlns:a16="http://schemas.microsoft.com/office/drawing/2014/main" val="1669418738"/>
                        </a:ext>
                      </a:extLst>
                    </a:gridCol>
                    <a:gridCol w="1854970">
                      <a:extLst>
                        <a:ext uri="{9D8B030D-6E8A-4147-A177-3AD203B41FA5}">
                          <a16:colId xmlns:a16="http://schemas.microsoft.com/office/drawing/2014/main" val="2462266595"/>
                        </a:ext>
                      </a:extLst>
                    </a:gridCol>
                  </a:tblGrid>
                  <a:tr h="825273">
                    <a:tc>
                      <a:txBody>
                        <a:bodyPr/>
                        <a:lstStyle/>
                        <a:p>
                          <a:pPr algn="ctr"/>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 x 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273962"/>
                      </a:ext>
                    </a:extLst>
                  </a:tr>
                  <a:tr h="1615112">
                    <a:tc>
                      <a:txBody>
                        <a:bodyPr/>
                        <a:lstStyle/>
                        <a:p>
                          <a:pPr algn="ctr"/>
                          <a:r>
                            <a:rPr lang="en-US" sz="4000" b="0" dirty="0">
                              <a:solidFill>
                                <a:sysClr val="windowText" lastClr="000000"/>
                              </a:solidFill>
                              <a:latin typeface="+mn-lt"/>
                            </a:rPr>
                            <a:t>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93222"/>
                      </a:ext>
                    </a:extLst>
                  </a:tr>
                  <a:tr h="1615112">
                    <a:tc>
                      <a:txBody>
                        <a:bodyPr/>
                        <a:lstStyle/>
                        <a:p>
                          <a:pPr algn="ctr"/>
                          <a:r>
                            <a:rPr lang="en-US" sz="4000" b="0" dirty="0">
                              <a:solidFill>
                                <a:sysClr val="windowText" lastClr="000000"/>
                              </a:solidFill>
                              <a:latin typeface="+mn-lt"/>
                            </a:rPr>
                            <a: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9823510"/>
                      </a:ext>
                    </a:extLst>
                  </a:tr>
                </a:tbl>
              </a:graphicData>
            </a:graphic>
          </p:graphicFrame>
        </mc:Choice>
        <mc:Fallback xmlns="">
          <p:graphicFrame>
            <p:nvGraphicFramePr>
              <p:cNvPr id="13" name="Table 13">
                <a:extLst>
                  <a:ext uri="{FF2B5EF4-FFF2-40B4-BE49-F238E27FC236}">
                    <a16:creationId xmlns:a16="http://schemas.microsoft.com/office/drawing/2014/main" id="{C08799E7-2463-7AAF-153E-42B259444D50}"/>
                  </a:ext>
                </a:extLst>
              </p:cNvPr>
              <p:cNvGraphicFramePr>
                <a:graphicFrameLocks noGrp="1"/>
              </p:cNvGraphicFramePr>
              <p:nvPr/>
            </p:nvGraphicFramePr>
            <p:xfrm>
              <a:off x="12394547" y="13020842"/>
              <a:ext cx="7419880" cy="4055497"/>
            </p:xfrm>
            <a:graphic>
              <a:graphicData uri="http://schemas.openxmlformats.org/drawingml/2006/table">
                <a:tbl>
                  <a:tblPr firstRow="1" bandRow="1">
                    <a:tableStyleId>{5C22544A-7EE6-4342-B048-85BDC9FD1C3A}</a:tableStyleId>
                  </a:tblPr>
                  <a:tblGrid>
                    <a:gridCol w="1854970">
                      <a:extLst>
                        <a:ext uri="{9D8B030D-6E8A-4147-A177-3AD203B41FA5}">
                          <a16:colId xmlns:a16="http://schemas.microsoft.com/office/drawing/2014/main" val="315781999"/>
                        </a:ext>
                      </a:extLst>
                    </a:gridCol>
                    <a:gridCol w="1854970">
                      <a:extLst>
                        <a:ext uri="{9D8B030D-6E8A-4147-A177-3AD203B41FA5}">
                          <a16:colId xmlns:a16="http://schemas.microsoft.com/office/drawing/2014/main" val="4125437195"/>
                        </a:ext>
                      </a:extLst>
                    </a:gridCol>
                    <a:gridCol w="1854970">
                      <a:extLst>
                        <a:ext uri="{9D8B030D-6E8A-4147-A177-3AD203B41FA5}">
                          <a16:colId xmlns:a16="http://schemas.microsoft.com/office/drawing/2014/main" val="1669418738"/>
                        </a:ext>
                      </a:extLst>
                    </a:gridCol>
                    <a:gridCol w="1854970">
                      <a:extLst>
                        <a:ext uri="{9D8B030D-6E8A-4147-A177-3AD203B41FA5}">
                          <a16:colId xmlns:a16="http://schemas.microsoft.com/office/drawing/2014/main" val="2462266595"/>
                        </a:ext>
                      </a:extLst>
                    </a:gridCol>
                  </a:tblGrid>
                  <a:tr h="825273">
                    <a:tc>
                      <a:txBody>
                        <a:bodyPr/>
                        <a:lstStyle/>
                        <a:p>
                          <a:pPr algn="ctr"/>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 x 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273962"/>
                      </a:ext>
                    </a:extLst>
                  </a:tr>
                  <a:tr h="1615112">
                    <a:tc>
                      <a:txBody>
                        <a:bodyPr/>
                        <a:lstStyle/>
                        <a:p>
                          <a:pPr algn="ctr"/>
                          <a:r>
                            <a:rPr lang="en-US" sz="4000" b="0" dirty="0">
                              <a:solidFill>
                                <a:sysClr val="windowText" lastClr="000000"/>
                              </a:solidFill>
                              <a:latin typeface="+mn-lt"/>
                            </a:rPr>
                            <a:t>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200000" t="-53962" r="-100328" b="-101132"/>
                          </a:stretch>
                        </a:blip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93222"/>
                      </a:ext>
                    </a:extLst>
                  </a:tr>
                  <a:tr h="1615112">
                    <a:tc>
                      <a:txBody>
                        <a:bodyPr/>
                        <a:lstStyle/>
                        <a:p>
                          <a:pPr algn="ctr"/>
                          <a:r>
                            <a:rPr lang="en-US" sz="4000" b="0" dirty="0">
                              <a:solidFill>
                                <a:sysClr val="windowText" lastClr="000000"/>
                              </a:solidFill>
                              <a:latin typeface="+mn-lt"/>
                            </a:rPr>
                            <a: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200000" t="-153383" r="-100328" b="-752"/>
                          </a:stretch>
                        </a:blip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300987" t="-153383" r="-658" b="-752"/>
                          </a:stretch>
                        </a:blipFill>
                      </a:tcPr>
                    </a:tc>
                    <a:extLst>
                      <a:ext uri="{0D108BD9-81ED-4DB2-BD59-A6C34878D82A}">
                        <a16:rowId xmlns:a16="http://schemas.microsoft.com/office/drawing/2014/main" val="2079823510"/>
                      </a:ext>
                    </a:extLst>
                  </a:tr>
                </a:tbl>
              </a:graphicData>
            </a:graphic>
          </p:graphicFrame>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D7010FF4-08F2-1B35-6C70-ED61A30C4758}"/>
                  </a:ext>
                </a:extLst>
              </p:cNvPr>
              <p:cNvSpPr/>
              <p:nvPr/>
            </p:nvSpPr>
            <p:spPr>
              <a:xfrm>
                <a:off x="17974061" y="17389637"/>
                <a:ext cx="1671423" cy="1363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rad>
                            <m:radPr>
                              <m:degHide m:val="on"/>
                              <m:ctrlP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m:t>
                          </m:r>
                        </m:den>
                      </m:f>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19" name="Rectangle 18">
                <a:extLst>
                  <a:ext uri="{FF2B5EF4-FFF2-40B4-BE49-F238E27FC236}">
                    <a16:creationId xmlns:a16="http://schemas.microsoft.com/office/drawing/2014/main" id="{D7010FF4-08F2-1B35-6C70-ED61A30C4758}"/>
                  </a:ext>
                </a:extLst>
              </p:cNvPr>
              <p:cNvSpPr>
                <a:spLocks noRot="1" noChangeAspect="1" noMove="1" noResize="1" noEditPoints="1" noAdjustHandles="1" noChangeArrowheads="1" noChangeShapeType="1" noTextEdit="1"/>
              </p:cNvSpPr>
              <p:nvPr/>
            </p:nvSpPr>
            <p:spPr>
              <a:xfrm>
                <a:off x="17974061" y="17389637"/>
                <a:ext cx="1671423" cy="1363582"/>
              </a:xfrm>
              <a:prstGeom prst="rect">
                <a:avLst/>
              </a:prstGeom>
              <a:blipFill>
                <a:blip r:embed="rId7"/>
                <a:stretch>
                  <a:fillRect/>
                </a:stretch>
              </a:blipFill>
              <a:ln>
                <a:noFill/>
              </a:ln>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3BD5DC44-7B40-5495-250B-9182E4100288}"/>
              </a:ext>
            </a:extLst>
          </p:cNvPr>
          <p:cNvGrpSpPr/>
          <p:nvPr/>
        </p:nvGrpSpPr>
        <p:grpSpPr>
          <a:xfrm>
            <a:off x="23729426" y="3498559"/>
            <a:ext cx="7813051" cy="3040046"/>
            <a:chOff x="23729426" y="3498559"/>
            <a:chExt cx="7813051" cy="3040046"/>
          </a:xfrm>
        </p:grpSpPr>
        <p:sp>
          <p:nvSpPr>
            <p:cNvPr id="21" name="Rectangle 20">
              <a:extLst>
                <a:ext uri="{FF2B5EF4-FFF2-40B4-BE49-F238E27FC236}">
                  <a16:creationId xmlns:a16="http://schemas.microsoft.com/office/drawing/2014/main" id="{3DC65FB6-64AF-CE12-ADD5-B6C7D7D824CA}"/>
                </a:ext>
              </a:extLst>
            </p:cNvPr>
            <p:cNvSpPr/>
            <p:nvPr/>
          </p:nvSpPr>
          <p:spPr>
            <a:xfrm>
              <a:off x="23729426" y="3498559"/>
              <a:ext cx="1374902" cy="136358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NVIDIA Sans" panose="020B0503020203020204" pitchFamily="34" charset="0"/>
                  <a:cs typeface="NVIDIA Sans" panose="020B0503020203020204" pitchFamily="34" charset="0"/>
                </a:rPr>
                <a:t>A</a:t>
              </a:r>
            </a:p>
          </p:txBody>
        </p:sp>
        <p:sp>
          <p:nvSpPr>
            <p:cNvPr id="22" name="Rectangle 21">
              <a:extLst>
                <a:ext uri="{FF2B5EF4-FFF2-40B4-BE49-F238E27FC236}">
                  <a16:creationId xmlns:a16="http://schemas.microsoft.com/office/drawing/2014/main" id="{7CF11DEB-4360-FC3E-2439-D8EAC5A6C8EB}"/>
                </a:ext>
              </a:extLst>
            </p:cNvPr>
            <p:cNvSpPr/>
            <p:nvPr/>
          </p:nvSpPr>
          <p:spPr>
            <a:xfrm>
              <a:off x="30167575" y="5175023"/>
              <a:ext cx="1374902" cy="136358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NVIDIA Sans" panose="020B0503020203020204" pitchFamily="34" charset="0"/>
                  <a:cs typeface="NVIDIA Sans" panose="020B0503020203020204" pitchFamily="34" charset="0"/>
                </a:rPr>
                <a:t>B</a:t>
              </a:r>
            </a:p>
          </p:txBody>
        </p:sp>
      </p:grpSp>
      <p:cxnSp>
        <p:nvCxnSpPr>
          <p:cNvPr id="25" name="Straight Arrow Connector 24">
            <a:extLst>
              <a:ext uri="{FF2B5EF4-FFF2-40B4-BE49-F238E27FC236}">
                <a16:creationId xmlns:a16="http://schemas.microsoft.com/office/drawing/2014/main" id="{D1645C8A-F64D-A60A-00DE-C00582F56861}"/>
              </a:ext>
            </a:extLst>
          </p:cNvPr>
          <p:cNvCxnSpPr/>
          <p:nvPr/>
        </p:nvCxnSpPr>
        <p:spPr>
          <a:xfrm flipV="1">
            <a:off x="7229475" y="7611122"/>
            <a:ext cx="0" cy="982980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4B234F1-8288-8CA7-9430-26F8A62E2EB4}"/>
              </a:ext>
            </a:extLst>
          </p:cNvPr>
          <p:cNvCxnSpPr>
            <a:cxnSpLocks/>
          </p:cNvCxnSpPr>
          <p:nvPr/>
        </p:nvCxnSpPr>
        <p:spPr>
          <a:xfrm flipV="1">
            <a:off x="7229475" y="7611121"/>
            <a:ext cx="9829801" cy="9829801"/>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A7521DB-EF10-DF1C-B179-8A65D567C954}"/>
              </a:ext>
            </a:extLst>
          </p:cNvPr>
          <p:cNvSpPr/>
          <p:nvPr/>
        </p:nvSpPr>
        <p:spPr>
          <a:xfrm>
            <a:off x="5876832"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32" name="Rectangle 31">
            <a:extLst>
              <a:ext uri="{FF2B5EF4-FFF2-40B4-BE49-F238E27FC236}">
                <a16:creationId xmlns:a16="http://schemas.microsoft.com/office/drawing/2014/main" id="{92BBB38E-004B-4F32-9CD7-2C786F613FC3}"/>
              </a:ext>
            </a:extLst>
          </p:cNvPr>
          <p:cNvSpPr/>
          <p:nvPr/>
        </p:nvSpPr>
        <p:spPr>
          <a:xfrm>
            <a:off x="15706633"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pic>
        <p:nvPicPr>
          <p:cNvPr id="33" name="Picture 32">
            <a:extLst>
              <a:ext uri="{FF2B5EF4-FFF2-40B4-BE49-F238E27FC236}">
                <a16:creationId xmlns:a16="http://schemas.microsoft.com/office/drawing/2014/main" id="{EA0F5990-64D9-5F6D-68A5-0D40B06140B6}"/>
              </a:ext>
            </a:extLst>
          </p:cNvPr>
          <p:cNvPicPr>
            <a:picLocks noChangeAspect="1"/>
          </p:cNvPicPr>
          <p:nvPr/>
        </p:nvPicPr>
        <p:blipFill>
          <a:blip r:embed="rId8"/>
          <a:stretch>
            <a:fillRect/>
          </a:stretch>
        </p:blipFill>
        <p:spPr>
          <a:xfrm>
            <a:off x="2464138" y="5001769"/>
            <a:ext cx="2958424" cy="2675547"/>
          </a:xfrm>
          <a:prstGeom prst="rect">
            <a:avLst/>
          </a:prstGeom>
        </p:spPr>
      </p:pic>
      <p:sp>
        <p:nvSpPr>
          <p:cNvPr id="34" name="Rectangle 33">
            <a:extLst>
              <a:ext uri="{FF2B5EF4-FFF2-40B4-BE49-F238E27FC236}">
                <a16:creationId xmlns:a16="http://schemas.microsoft.com/office/drawing/2014/main" id="{B991CB17-3A19-1497-3973-F0049C4950CE}"/>
              </a:ext>
            </a:extLst>
          </p:cNvPr>
          <p:cNvSpPr/>
          <p:nvPr/>
        </p:nvSpPr>
        <p:spPr>
          <a:xfrm>
            <a:off x="12264024" y="8923418"/>
            <a:ext cx="6553573" cy="1363582"/>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spTree>
    <p:extLst>
      <p:ext uri="{BB962C8B-B14F-4D97-AF65-F5344CB8AC3E}">
        <p14:creationId xmlns:p14="http://schemas.microsoft.com/office/powerpoint/2010/main" val="28822111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4762A18-61EC-40FA-57AF-B1A3170F7533}"/>
              </a:ext>
            </a:extLst>
          </p:cNvPr>
          <p:cNvSpPr/>
          <p:nvPr/>
        </p:nvSpPr>
        <p:spPr>
          <a:xfrm>
            <a:off x="17974061" y="13020842"/>
            <a:ext cx="1840366" cy="4055497"/>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Dot Product</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dirty="0"/>
          </a:p>
        </p:txBody>
      </p:sp>
      <p:sp>
        <p:nvSpPr>
          <p:cNvPr id="3" name="Oval 2">
            <a:extLst>
              <a:ext uri="{FF2B5EF4-FFF2-40B4-BE49-F238E27FC236}">
                <a16:creationId xmlns:a16="http://schemas.microsoft.com/office/drawing/2014/main" id="{CBA7B88D-C67E-D109-725D-1B4C708C4FDB}"/>
              </a:ext>
            </a:extLst>
          </p:cNvPr>
          <p:cNvSpPr/>
          <p:nvPr/>
        </p:nvSpPr>
        <p:spPr>
          <a:xfrm>
            <a:off x="20471514" y="6339542"/>
            <a:ext cx="11901489" cy="11195867"/>
          </a:xfrm>
          <a:prstGeom prst="ellipse">
            <a:avLst/>
          </a:prstGeom>
          <a:noFill/>
          <a:ln w="762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4" name="Straight Arrow Connector 3">
            <a:extLst>
              <a:ext uri="{FF2B5EF4-FFF2-40B4-BE49-F238E27FC236}">
                <a16:creationId xmlns:a16="http://schemas.microsoft.com/office/drawing/2014/main" id="{4A74A6C6-612E-6D27-D2F4-5982E1EE7F91}"/>
              </a:ext>
            </a:extLst>
          </p:cNvPr>
          <p:cNvCxnSpPr>
            <a:cxnSpLocks/>
          </p:cNvCxnSpPr>
          <p:nvPr/>
        </p:nvCxnSpPr>
        <p:spPr>
          <a:xfrm flipV="1">
            <a:off x="26393591" y="6339542"/>
            <a:ext cx="0" cy="559793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FB28DF6-4D09-9A7C-FC8A-D02D24891BF7}"/>
              </a:ext>
            </a:extLst>
          </p:cNvPr>
          <p:cNvCxnSpPr>
            <a:cxnSpLocks/>
            <a:endCxn id="3" idx="7"/>
          </p:cNvCxnSpPr>
          <p:nvPr/>
        </p:nvCxnSpPr>
        <p:spPr>
          <a:xfrm flipV="1">
            <a:off x="26422258" y="7979139"/>
            <a:ext cx="4207812" cy="3966453"/>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C7DB360-6516-5572-6C5F-455A926232A4}"/>
              </a:ext>
            </a:extLst>
          </p:cNvPr>
          <p:cNvSpPr/>
          <p:nvPr/>
        </p:nvSpPr>
        <p:spPr>
          <a:xfrm>
            <a:off x="24774432" y="4530480"/>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3BCC4D0-7813-ADEB-54F8-AA00FBCDE427}"/>
                  </a:ext>
                </a:extLst>
              </p:cNvPr>
              <p:cNvSpPr/>
              <p:nvPr/>
            </p:nvSpPr>
            <p:spPr>
              <a:xfrm>
                <a:off x="31049026" y="5867403"/>
                <a:ext cx="2705286" cy="230786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r>
                        <a:rPr lang="en-US" sz="4000" b="0" i="1" smtClean="0">
                          <a:solidFill>
                            <a:schemeClr val="bg1"/>
                          </a:solidFill>
                          <a:latin typeface="Cambria Math" panose="02040503050406030204" pitchFamily="18" charset="0"/>
                          <a:cs typeface="NVIDIA Sans" panose="020B0503020203020204" pitchFamily="34" charset="0"/>
                        </a:rPr>
                        <m:t>,</m:t>
                      </m:r>
                      <m:f>
                        <m:fPr>
                          <m:ctrlPr>
                            <a:rPr lang="en-US" sz="4000" i="1">
                              <a:solidFill>
                                <a:schemeClr val="bg1"/>
                              </a:solidFill>
                              <a:latin typeface="Cambria Math" panose="02040503050406030204" pitchFamily="18" charset="0"/>
                              <a:cs typeface="NVIDIA Sans" panose="020B0503020203020204" pitchFamily="34" charset="0"/>
                            </a:rPr>
                          </m:ctrlPr>
                        </m:fPr>
                        <m:num>
                          <m:rad>
                            <m:radPr>
                              <m:degHide m:val="on"/>
                              <m:ctrlPr>
                                <a:rPr lang="en-US" sz="4000" i="1">
                                  <a:solidFill>
                                    <a:schemeClr val="bg1"/>
                                  </a:solidFill>
                                  <a:latin typeface="Cambria Math" panose="02040503050406030204" pitchFamily="18" charset="0"/>
                                  <a:cs typeface="NVIDIA Sans" panose="020B0503020203020204" pitchFamily="34" charset="0"/>
                                </a:rPr>
                              </m:ctrlPr>
                            </m:radPr>
                            <m:deg/>
                            <m:e>
                              <m:r>
                                <a:rPr lang="en-US" sz="4000" i="1">
                                  <a:solidFill>
                                    <a:schemeClr val="bg1"/>
                                  </a:solidFill>
                                  <a:latin typeface="Cambria Math" panose="02040503050406030204" pitchFamily="18" charset="0"/>
                                  <a:cs typeface="NVIDIA Sans" panose="020B0503020203020204" pitchFamily="34" charset="0"/>
                                </a:rPr>
                                <m:t>2</m:t>
                              </m:r>
                            </m:e>
                          </m:rad>
                        </m:num>
                        <m:den>
                          <m:r>
                            <a:rPr lang="en-US" sz="4000" i="1">
                              <a:solidFill>
                                <a:schemeClr val="bg1"/>
                              </a:solidFill>
                              <a:latin typeface="Cambria Math" panose="02040503050406030204" pitchFamily="18" charset="0"/>
                              <a:cs typeface="NVIDIA Sans" panose="020B0503020203020204" pitchFamily="34" charset="0"/>
                            </a:rPr>
                            <m:t>2</m:t>
                          </m:r>
                        </m:den>
                      </m:f>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11" name="Rectangle 10">
                <a:extLst>
                  <a:ext uri="{FF2B5EF4-FFF2-40B4-BE49-F238E27FC236}">
                    <a16:creationId xmlns:a16="http://schemas.microsoft.com/office/drawing/2014/main" id="{E3BCC4D0-7813-ADEB-54F8-AA00FBCDE427}"/>
                  </a:ext>
                </a:extLst>
              </p:cNvPr>
              <p:cNvSpPr>
                <a:spLocks noRot="1" noChangeAspect="1" noMove="1" noResize="1" noEditPoints="1" noAdjustHandles="1" noChangeArrowheads="1" noChangeShapeType="1" noTextEdit="1"/>
              </p:cNvSpPr>
              <p:nvPr/>
            </p:nvSpPr>
            <p:spPr>
              <a:xfrm>
                <a:off x="31049026" y="5867403"/>
                <a:ext cx="2705286" cy="2307861"/>
              </a:xfrm>
              <a:prstGeom prst="rect">
                <a:avLst/>
              </a:prstGeom>
              <a:blipFill>
                <a:blip r:embed="rId5"/>
                <a:stretch>
                  <a:fillRect/>
                </a:stretch>
              </a:blipFill>
              <a:ln>
                <a:solidFill>
                  <a:schemeClr val="tx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3" name="Table 13">
                <a:extLst>
                  <a:ext uri="{FF2B5EF4-FFF2-40B4-BE49-F238E27FC236}">
                    <a16:creationId xmlns:a16="http://schemas.microsoft.com/office/drawing/2014/main" id="{C08799E7-2463-7AAF-153E-42B259444D50}"/>
                  </a:ext>
                </a:extLst>
              </p:cNvPr>
              <p:cNvGraphicFramePr>
                <a:graphicFrameLocks noGrp="1"/>
              </p:cNvGraphicFramePr>
              <p:nvPr/>
            </p:nvGraphicFramePr>
            <p:xfrm>
              <a:off x="12394547" y="13020842"/>
              <a:ext cx="7419880" cy="4055497"/>
            </p:xfrm>
            <a:graphic>
              <a:graphicData uri="http://schemas.openxmlformats.org/drawingml/2006/table">
                <a:tbl>
                  <a:tblPr firstRow="1" bandRow="1">
                    <a:tableStyleId>{5C22544A-7EE6-4342-B048-85BDC9FD1C3A}</a:tableStyleId>
                  </a:tblPr>
                  <a:tblGrid>
                    <a:gridCol w="1854970">
                      <a:extLst>
                        <a:ext uri="{9D8B030D-6E8A-4147-A177-3AD203B41FA5}">
                          <a16:colId xmlns:a16="http://schemas.microsoft.com/office/drawing/2014/main" val="315781999"/>
                        </a:ext>
                      </a:extLst>
                    </a:gridCol>
                    <a:gridCol w="1854970">
                      <a:extLst>
                        <a:ext uri="{9D8B030D-6E8A-4147-A177-3AD203B41FA5}">
                          <a16:colId xmlns:a16="http://schemas.microsoft.com/office/drawing/2014/main" val="4125437195"/>
                        </a:ext>
                      </a:extLst>
                    </a:gridCol>
                    <a:gridCol w="1854970">
                      <a:extLst>
                        <a:ext uri="{9D8B030D-6E8A-4147-A177-3AD203B41FA5}">
                          <a16:colId xmlns:a16="http://schemas.microsoft.com/office/drawing/2014/main" val="1669418738"/>
                        </a:ext>
                      </a:extLst>
                    </a:gridCol>
                    <a:gridCol w="1854970">
                      <a:extLst>
                        <a:ext uri="{9D8B030D-6E8A-4147-A177-3AD203B41FA5}">
                          <a16:colId xmlns:a16="http://schemas.microsoft.com/office/drawing/2014/main" val="2462266595"/>
                        </a:ext>
                      </a:extLst>
                    </a:gridCol>
                  </a:tblGrid>
                  <a:tr h="825273">
                    <a:tc>
                      <a:txBody>
                        <a:bodyPr/>
                        <a:lstStyle/>
                        <a:p>
                          <a:pPr algn="ctr"/>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 x 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273962"/>
                      </a:ext>
                    </a:extLst>
                  </a:tr>
                  <a:tr h="1615112">
                    <a:tc>
                      <a:txBody>
                        <a:bodyPr/>
                        <a:lstStyle/>
                        <a:p>
                          <a:pPr algn="ctr"/>
                          <a:r>
                            <a:rPr lang="en-US" sz="4000" b="0" dirty="0">
                              <a:solidFill>
                                <a:sysClr val="windowText" lastClr="000000"/>
                              </a:solidFill>
                              <a:latin typeface="+mn-lt"/>
                            </a:rPr>
                            <a:t>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93222"/>
                      </a:ext>
                    </a:extLst>
                  </a:tr>
                  <a:tr h="1615112">
                    <a:tc>
                      <a:txBody>
                        <a:bodyPr/>
                        <a:lstStyle/>
                        <a:p>
                          <a:pPr algn="ctr"/>
                          <a:r>
                            <a:rPr lang="en-US" sz="4000" b="0" dirty="0">
                              <a:solidFill>
                                <a:sysClr val="windowText" lastClr="000000"/>
                              </a:solidFill>
                              <a:latin typeface="+mn-lt"/>
                            </a:rPr>
                            <a: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bg1"/>
                                        </a:solidFill>
                                        <a:latin typeface="Cambria Math" panose="02040503050406030204" pitchFamily="18" charset="0"/>
                                        <a:cs typeface="NVIDIA Sans" panose="020B0503020203020204" pitchFamily="34" charset="0"/>
                                      </a:rPr>
                                    </m:ctrlPr>
                                  </m:fPr>
                                  <m:num>
                                    <m:rad>
                                      <m:radPr>
                                        <m:degHide m:val="on"/>
                                        <m:ctrlPr>
                                          <a:rPr lang="en-US" sz="4000" i="1" smtClean="0">
                                            <a:solidFill>
                                              <a:schemeClr val="bg1"/>
                                            </a:solidFill>
                                            <a:latin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cs typeface="NVIDIA Sans" panose="020B0503020203020204" pitchFamily="34" charset="0"/>
                                      </a:rPr>
                                      <m:t>2</m:t>
                                    </m:r>
                                  </m:den>
                                </m:f>
                              </m:oMath>
                            </m:oMathPara>
                          </a14:m>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9823510"/>
                      </a:ext>
                    </a:extLst>
                  </a:tr>
                </a:tbl>
              </a:graphicData>
            </a:graphic>
          </p:graphicFrame>
        </mc:Choice>
        <mc:Fallback xmlns="">
          <p:graphicFrame>
            <p:nvGraphicFramePr>
              <p:cNvPr id="13" name="Table 13">
                <a:extLst>
                  <a:ext uri="{FF2B5EF4-FFF2-40B4-BE49-F238E27FC236}">
                    <a16:creationId xmlns:a16="http://schemas.microsoft.com/office/drawing/2014/main" id="{C08799E7-2463-7AAF-153E-42B259444D50}"/>
                  </a:ext>
                </a:extLst>
              </p:cNvPr>
              <p:cNvGraphicFramePr>
                <a:graphicFrameLocks noGrp="1"/>
              </p:cNvGraphicFramePr>
              <p:nvPr/>
            </p:nvGraphicFramePr>
            <p:xfrm>
              <a:off x="12394547" y="13020842"/>
              <a:ext cx="7419880" cy="4055497"/>
            </p:xfrm>
            <a:graphic>
              <a:graphicData uri="http://schemas.openxmlformats.org/drawingml/2006/table">
                <a:tbl>
                  <a:tblPr firstRow="1" bandRow="1">
                    <a:tableStyleId>{5C22544A-7EE6-4342-B048-85BDC9FD1C3A}</a:tableStyleId>
                  </a:tblPr>
                  <a:tblGrid>
                    <a:gridCol w="1854970">
                      <a:extLst>
                        <a:ext uri="{9D8B030D-6E8A-4147-A177-3AD203B41FA5}">
                          <a16:colId xmlns:a16="http://schemas.microsoft.com/office/drawing/2014/main" val="315781999"/>
                        </a:ext>
                      </a:extLst>
                    </a:gridCol>
                    <a:gridCol w="1854970">
                      <a:extLst>
                        <a:ext uri="{9D8B030D-6E8A-4147-A177-3AD203B41FA5}">
                          <a16:colId xmlns:a16="http://schemas.microsoft.com/office/drawing/2014/main" val="4125437195"/>
                        </a:ext>
                      </a:extLst>
                    </a:gridCol>
                    <a:gridCol w="1854970">
                      <a:extLst>
                        <a:ext uri="{9D8B030D-6E8A-4147-A177-3AD203B41FA5}">
                          <a16:colId xmlns:a16="http://schemas.microsoft.com/office/drawing/2014/main" val="1669418738"/>
                        </a:ext>
                      </a:extLst>
                    </a:gridCol>
                    <a:gridCol w="1854970">
                      <a:extLst>
                        <a:ext uri="{9D8B030D-6E8A-4147-A177-3AD203B41FA5}">
                          <a16:colId xmlns:a16="http://schemas.microsoft.com/office/drawing/2014/main" val="2462266595"/>
                        </a:ext>
                      </a:extLst>
                    </a:gridCol>
                  </a:tblGrid>
                  <a:tr h="825273">
                    <a:tc>
                      <a:txBody>
                        <a:bodyPr/>
                        <a:lstStyle/>
                        <a:p>
                          <a:pPr algn="ctr"/>
                          <a:endParaRPr lang="en-US" sz="4000" b="0" dirty="0">
                            <a:solidFill>
                              <a:sysClr val="windowText" lastClr="000000"/>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A x 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273962"/>
                      </a:ext>
                    </a:extLst>
                  </a:tr>
                  <a:tr h="1615112">
                    <a:tc>
                      <a:txBody>
                        <a:bodyPr/>
                        <a:lstStyle/>
                        <a:p>
                          <a:pPr algn="ctr"/>
                          <a:r>
                            <a:rPr lang="en-US" sz="4000" b="0" dirty="0">
                              <a:solidFill>
                                <a:sysClr val="windowText" lastClr="000000"/>
                              </a:solidFill>
                              <a:latin typeface="+mn-lt"/>
                            </a:rPr>
                            <a:t>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200000" t="-53962" r="-100328" b="-101132"/>
                          </a:stretch>
                        </a:blipFill>
                      </a:tcPr>
                    </a:tc>
                    <a:tc>
                      <a:txBody>
                        <a:bodyPr/>
                        <a:lstStyle/>
                        <a:p>
                          <a:pPr algn="ctr"/>
                          <a:r>
                            <a:rPr lang="en-US" sz="4000" b="0" dirty="0">
                              <a:solidFill>
                                <a:sysClr val="windowText" lastClr="000000"/>
                              </a:solidFill>
                              <a:latin typeface="+mn-lt"/>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93222"/>
                      </a:ext>
                    </a:extLst>
                  </a:tr>
                  <a:tr h="1615112">
                    <a:tc>
                      <a:txBody>
                        <a:bodyPr/>
                        <a:lstStyle/>
                        <a:p>
                          <a:pPr algn="ctr"/>
                          <a:r>
                            <a:rPr lang="en-US" sz="4000" b="0" dirty="0">
                              <a:solidFill>
                                <a:sysClr val="windowText" lastClr="000000"/>
                              </a:solidFill>
                              <a:latin typeface="+mn-lt"/>
                            </a:rPr>
                            <a: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000" b="0" dirty="0">
                              <a:solidFill>
                                <a:sysClr val="windowText" lastClr="000000"/>
                              </a:solidFill>
                              <a:latin typeface="+mn-lt"/>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200000" t="-153383" r="-100328" b="-752"/>
                          </a:stretch>
                        </a:blipFill>
                      </a:tcPr>
                    </a:tc>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300987" t="-153383" r="-658" b="-752"/>
                          </a:stretch>
                        </a:blipFill>
                      </a:tcPr>
                    </a:tc>
                    <a:extLst>
                      <a:ext uri="{0D108BD9-81ED-4DB2-BD59-A6C34878D82A}">
                        <a16:rowId xmlns:a16="http://schemas.microsoft.com/office/drawing/2014/main" val="2079823510"/>
                      </a:ext>
                    </a:extLst>
                  </a:tr>
                </a:tbl>
              </a:graphicData>
            </a:graphic>
          </p:graphicFrame>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13E1A71-847B-7D28-AD68-8EE36C3A81EF}"/>
                  </a:ext>
                </a:extLst>
              </p:cNvPr>
              <p:cNvSpPr/>
              <p:nvPr/>
            </p:nvSpPr>
            <p:spPr>
              <a:xfrm>
                <a:off x="15052839" y="17389637"/>
                <a:ext cx="3547755" cy="1363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bg1"/>
                          </a:solidFill>
                          <a:latin typeface="Cambria Math" panose="02040503050406030204" pitchFamily="18" charset="0"/>
                          <a:cs typeface="NVIDIA Sans" panose="020B0503020203020204" pitchFamily="34" charset="0"/>
                        </a:rPr>
                        <m:t>𝑐𝑜𝑠</m:t>
                      </m:r>
                      <m:d>
                        <m:dPr>
                          <m:ctrlPr>
                            <a:rPr lang="en-US" sz="4000" b="0" i="1" smtClean="0">
                              <a:solidFill>
                                <a:schemeClr val="bg1"/>
                              </a:solidFill>
                              <a:latin typeface="Cambria Math" panose="02040503050406030204" pitchFamily="18" charset="0"/>
                              <a:cs typeface="NVIDIA Sans" panose="020B0503020203020204" pitchFamily="34" charset="0"/>
                            </a:rPr>
                          </m:ctrlPr>
                        </m:dPr>
                        <m:e>
                          <m:sSup>
                            <m:sSupPr>
                              <m:ctrlPr>
                                <a:rPr lang="en-US" sz="4000" b="0" i="1" smtClean="0">
                                  <a:solidFill>
                                    <a:schemeClr val="bg1"/>
                                  </a:solidFill>
                                  <a:latin typeface="Cambria Math" panose="02040503050406030204" pitchFamily="18" charset="0"/>
                                  <a:cs typeface="NVIDIA Sans" panose="020B0503020203020204" pitchFamily="34" charset="0"/>
                                </a:rPr>
                              </m:ctrlPr>
                            </m:sSupPr>
                            <m:e>
                              <m:r>
                                <a:rPr lang="en-US" sz="4000" b="0" i="1" smtClean="0">
                                  <a:solidFill>
                                    <a:schemeClr val="bg1"/>
                                  </a:solidFill>
                                  <a:latin typeface="Cambria Math" panose="02040503050406030204" pitchFamily="18" charset="0"/>
                                  <a:cs typeface="NVIDIA Sans" panose="020B0503020203020204" pitchFamily="34" charset="0"/>
                                </a:rPr>
                                <m:t>45</m:t>
                              </m:r>
                            </m:e>
                            <m:sup>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e>
                      </m:d>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14" name="Rectangle 13">
                <a:extLst>
                  <a:ext uri="{FF2B5EF4-FFF2-40B4-BE49-F238E27FC236}">
                    <a16:creationId xmlns:a16="http://schemas.microsoft.com/office/drawing/2014/main" id="{D13E1A71-847B-7D28-AD68-8EE36C3A81EF}"/>
                  </a:ext>
                </a:extLst>
              </p:cNvPr>
              <p:cNvSpPr>
                <a:spLocks noRot="1" noChangeAspect="1" noMove="1" noResize="1" noEditPoints="1" noAdjustHandles="1" noChangeArrowheads="1" noChangeShapeType="1" noTextEdit="1"/>
              </p:cNvSpPr>
              <p:nvPr/>
            </p:nvSpPr>
            <p:spPr>
              <a:xfrm>
                <a:off x="15052839" y="17389637"/>
                <a:ext cx="3547755" cy="1363582"/>
              </a:xfrm>
              <a:prstGeom prst="rect">
                <a:avLst/>
              </a:prstGeom>
              <a:blipFill>
                <a:blip r:embed="rId7"/>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D7010FF4-08F2-1B35-6C70-ED61A30C4758}"/>
                  </a:ext>
                </a:extLst>
              </p:cNvPr>
              <p:cNvSpPr/>
              <p:nvPr/>
            </p:nvSpPr>
            <p:spPr>
              <a:xfrm>
                <a:off x="17974061" y="17389637"/>
                <a:ext cx="1671423" cy="1363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rad>
                            <m:radPr>
                              <m:degHide m:val="on"/>
                              <m:ctrlP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radPr>
                            <m:deg/>
                            <m:e>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m:t>
                              </m:r>
                            </m:e>
                          </m:rad>
                        </m:num>
                        <m:den>
                          <m:r>
                            <a:rPr lang="en-US" sz="4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m:t>
                          </m:r>
                        </m:den>
                      </m:f>
                    </m:oMath>
                  </m:oMathPara>
                </a14:m>
                <a:endParaRPr lang="en-US" sz="4000" dirty="0">
                  <a:solidFill>
                    <a:schemeClr val="bg1"/>
                  </a:solidFill>
                  <a:latin typeface="NVIDIA Sans" panose="020B0503020203020204" pitchFamily="34" charset="0"/>
                  <a:cs typeface="NVIDIA Sans" panose="020B0503020203020204" pitchFamily="34" charset="0"/>
                </a:endParaRPr>
              </a:p>
            </p:txBody>
          </p:sp>
        </mc:Choice>
        <mc:Fallback xmlns="">
          <p:sp>
            <p:nvSpPr>
              <p:cNvPr id="19" name="Rectangle 18">
                <a:extLst>
                  <a:ext uri="{FF2B5EF4-FFF2-40B4-BE49-F238E27FC236}">
                    <a16:creationId xmlns:a16="http://schemas.microsoft.com/office/drawing/2014/main" id="{D7010FF4-08F2-1B35-6C70-ED61A30C4758}"/>
                  </a:ext>
                </a:extLst>
              </p:cNvPr>
              <p:cNvSpPr>
                <a:spLocks noRot="1" noChangeAspect="1" noMove="1" noResize="1" noEditPoints="1" noAdjustHandles="1" noChangeArrowheads="1" noChangeShapeType="1" noTextEdit="1"/>
              </p:cNvSpPr>
              <p:nvPr/>
            </p:nvSpPr>
            <p:spPr>
              <a:xfrm>
                <a:off x="17974061" y="17389637"/>
                <a:ext cx="1671423" cy="1363582"/>
              </a:xfrm>
              <a:prstGeom prst="rect">
                <a:avLst/>
              </a:prstGeom>
              <a:blipFill>
                <a:blip r:embed="rId8"/>
                <a:stretch>
                  <a:fillRect/>
                </a:stretch>
              </a:blipFill>
              <a:ln>
                <a:noFill/>
              </a:ln>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3BD5DC44-7B40-5495-250B-9182E4100288}"/>
              </a:ext>
            </a:extLst>
          </p:cNvPr>
          <p:cNvGrpSpPr/>
          <p:nvPr/>
        </p:nvGrpSpPr>
        <p:grpSpPr>
          <a:xfrm>
            <a:off x="23729426" y="3498559"/>
            <a:ext cx="7813051" cy="3040046"/>
            <a:chOff x="23729426" y="3498559"/>
            <a:chExt cx="7813051" cy="3040046"/>
          </a:xfrm>
        </p:grpSpPr>
        <p:sp>
          <p:nvSpPr>
            <p:cNvPr id="21" name="Rectangle 20">
              <a:extLst>
                <a:ext uri="{FF2B5EF4-FFF2-40B4-BE49-F238E27FC236}">
                  <a16:creationId xmlns:a16="http://schemas.microsoft.com/office/drawing/2014/main" id="{3DC65FB6-64AF-CE12-ADD5-B6C7D7D824CA}"/>
                </a:ext>
              </a:extLst>
            </p:cNvPr>
            <p:cNvSpPr/>
            <p:nvPr/>
          </p:nvSpPr>
          <p:spPr>
            <a:xfrm>
              <a:off x="23729426" y="3498559"/>
              <a:ext cx="1374902" cy="136358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NVIDIA Sans" panose="020B0503020203020204" pitchFamily="34" charset="0"/>
                  <a:cs typeface="NVIDIA Sans" panose="020B0503020203020204" pitchFamily="34" charset="0"/>
                </a:rPr>
                <a:t>A</a:t>
              </a:r>
            </a:p>
          </p:txBody>
        </p:sp>
        <p:sp>
          <p:nvSpPr>
            <p:cNvPr id="22" name="Rectangle 21">
              <a:extLst>
                <a:ext uri="{FF2B5EF4-FFF2-40B4-BE49-F238E27FC236}">
                  <a16:creationId xmlns:a16="http://schemas.microsoft.com/office/drawing/2014/main" id="{7CF11DEB-4360-FC3E-2439-D8EAC5A6C8EB}"/>
                </a:ext>
              </a:extLst>
            </p:cNvPr>
            <p:cNvSpPr/>
            <p:nvPr/>
          </p:nvSpPr>
          <p:spPr>
            <a:xfrm>
              <a:off x="30167575" y="5175023"/>
              <a:ext cx="1374902" cy="136358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NVIDIA Sans" panose="020B0503020203020204" pitchFamily="34" charset="0"/>
                  <a:cs typeface="NVIDIA Sans" panose="020B0503020203020204" pitchFamily="34" charset="0"/>
                </a:rPr>
                <a:t>B</a:t>
              </a:r>
            </a:p>
          </p:txBody>
        </p:sp>
      </p:grpSp>
      <p:cxnSp>
        <p:nvCxnSpPr>
          <p:cNvPr id="25" name="Straight Arrow Connector 24">
            <a:extLst>
              <a:ext uri="{FF2B5EF4-FFF2-40B4-BE49-F238E27FC236}">
                <a16:creationId xmlns:a16="http://schemas.microsoft.com/office/drawing/2014/main" id="{D1645C8A-F64D-A60A-00DE-C00582F56861}"/>
              </a:ext>
            </a:extLst>
          </p:cNvPr>
          <p:cNvCxnSpPr/>
          <p:nvPr/>
        </p:nvCxnSpPr>
        <p:spPr>
          <a:xfrm flipV="1">
            <a:off x="7229475" y="7611122"/>
            <a:ext cx="0" cy="9829800"/>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4B234F1-8288-8CA7-9430-26F8A62E2EB4}"/>
              </a:ext>
            </a:extLst>
          </p:cNvPr>
          <p:cNvCxnSpPr>
            <a:cxnSpLocks/>
          </p:cNvCxnSpPr>
          <p:nvPr/>
        </p:nvCxnSpPr>
        <p:spPr>
          <a:xfrm flipV="1">
            <a:off x="7229475" y="7611121"/>
            <a:ext cx="9829801" cy="9829801"/>
          </a:xfrm>
          <a:prstGeom prst="straightConnector1">
            <a:avLst/>
          </a:prstGeom>
          <a:ln w="152400">
            <a:solidFill>
              <a:schemeClr val="bg1">
                <a:lumMod val="95000"/>
                <a:lumOff val="5000"/>
              </a:schemeClr>
            </a:solidFill>
            <a:headEnd type="oval" w="sm" len="sm"/>
            <a:tailEnd type="triangl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A7521DB-EF10-DF1C-B179-8A65D567C954}"/>
              </a:ext>
            </a:extLst>
          </p:cNvPr>
          <p:cNvSpPr/>
          <p:nvPr/>
        </p:nvSpPr>
        <p:spPr>
          <a:xfrm>
            <a:off x="5876832"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 1.0]</a:t>
            </a:r>
          </a:p>
        </p:txBody>
      </p:sp>
      <p:sp>
        <p:nvSpPr>
          <p:cNvPr id="32" name="Rectangle 31">
            <a:extLst>
              <a:ext uri="{FF2B5EF4-FFF2-40B4-BE49-F238E27FC236}">
                <a16:creationId xmlns:a16="http://schemas.microsoft.com/office/drawing/2014/main" id="{92BBB38E-004B-4F32-9CD7-2C786F613FC3}"/>
              </a:ext>
            </a:extLst>
          </p:cNvPr>
          <p:cNvSpPr/>
          <p:nvPr/>
        </p:nvSpPr>
        <p:spPr>
          <a:xfrm>
            <a:off x="15706633" y="5657752"/>
            <a:ext cx="2705286"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[1.0, 1.0]</a:t>
            </a:r>
          </a:p>
        </p:txBody>
      </p:sp>
      <p:pic>
        <p:nvPicPr>
          <p:cNvPr id="33" name="Picture 32">
            <a:extLst>
              <a:ext uri="{FF2B5EF4-FFF2-40B4-BE49-F238E27FC236}">
                <a16:creationId xmlns:a16="http://schemas.microsoft.com/office/drawing/2014/main" id="{EA0F5990-64D9-5F6D-68A5-0D40B06140B6}"/>
              </a:ext>
            </a:extLst>
          </p:cNvPr>
          <p:cNvPicPr>
            <a:picLocks noChangeAspect="1"/>
          </p:cNvPicPr>
          <p:nvPr/>
        </p:nvPicPr>
        <p:blipFill>
          <a:blip r:embed="rId9"/>
          <a:stretch>
            <a:fillRect/>
          </a:stretch>
        </p:blipFill>
        <p:spPr>
          <a:xfrm>
            <a:off x="2464138" y="5001769"/>
            <a:ext cx="2958424" cy="2675547"/>
          </a:xfrm>
          <a:prstGeom prst="rect">
            <a:avLst/>
          </a:prstGeom>
        </p:spPr>
      </p:pic>
      <p:sp>
        <p:nvSpPr>
          <p:cNvPr id="34" name="Rectangle 33">
            <a:extLst>
              <a:ext uri="{FF2B5EF4-FFF2-40B4-BE49-F238E27FC236}">
                <a16:creationId xmlns:a16="http://schemas.microsoft.com/office/drawing/2014/main" id="{B991CB17-3A19-1497-3973-F0049C4950CE}"/>
              </a:ext>
            </a:extLst>
          </p:cNvPr>
          <p:cNvSpPr/>
          <p:nvPr/>
        </p:nvSpPr>
        <p:spPr>
          <a:xfrm>
            <a:off x="12264024" y="8923418"/>
            <a:ext cx="6553573" cy="1363582"/>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spTree>
    <p:extLst>
      <p:ext uri="{BB962C8B-B14F-4D97-AF65-F5344CB8AC3E}">
        <p14:creationId xmlns:p14="http://schemas.microsoft.com/office/powerpoint/2010/main" val="27108693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CLIP Training</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a:p>
        </p:txBody>
      </p:sp>
      <p:pic>
        <p:nvPicPr>
          <p:cNvPr id="8" name="Picture 2">
            <a:extLst>
              <a:ext uri="{FF2B5EF4-FFF2-40B4-BE49-F238E27FC236}">
                <a16:creationId xmlns:a16="http://schemas.microsoft.com/office/drawing/2014/main" id="{07A13F98-CF02-BE69-B528-A6B507E7ED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472" t="9415" r="2405" b="16267"/>
          <a:stretch/>
        </p:blipFill>
        <p:spPr bwMode="auto">
          <a:xfrm>
            <a:off x="13458825" y="5070334"/>
            <a:ext cx="10315576" cy="1301649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1EDCC67-4460-A8AA-0C17-FCD84F882A33}"/>
              </a:ext>
            </a:extLst>
          </p:cNvPr>
          <p:cNvSpPr txBox="1"/>
          <p:nvPr/>
        </p:nvSpPr>
        <p:spPr>
          <a:xfrm>
            <a:off x="8251031" y="8835745"/>
            <a:ext cx="4772025" cy="707886"/>
          </a:xfrm>
          <a:prstGeom prst="rect">
            <a:avLst/>
          </a:prstGeom>
          <a:noFill/>
        </p:spPr>
        <p:txBody>
          <a:bodyPr wrap="square" rtlCol="0">
            <a:spAutoFit/>
          </a:bodyPr>
          <a:lstStyle/>
          <a:p>
            <a:pPr algn="r"/>
            <a:r>
              <a:rPr lang="en-US" sz="4000" dirty="0">
                <a:solidFill>
                  <a:schemeClr val="bg1"/>
                </a:solidFill>
                <a:latin typeface="NVIDIA Sans" panose="020B0503020203020204" pitchFamily="34" charset="0"/>
                <a:cs typeface="NVIDIA Sans" panose="020B0503020203020204" pitchFamily="34" charset="0"/>
              </a:rPr>
              <a:t>A happy corgi</a:t>
            </a:r>
          </a:p>
        </p:txBody>
      </p:sp>
      <p:sp>
        <p:nvSpPr>
          <p:cNvPr id="10" name="TextBox 9">
            <a:extLst>
              <a:ext uri="{FF2B5EF4-FFF2-40B4-BE49-F238E27FC236}">
                <a16:creationId xmlns:a16="http://schemas.microsoft.com/office/drawing/2014/main" id="{EEF6F7F4-E720-2B70-5914-6A66BF418FD8}"/>
              </a:ext>
            </a:extLst>
          </p:cNvPr>
          <p:cNvSpPr txBox="1"/>
          <p:nvPr/>
        </p:nvSpPr>
        <p:spPr>
          <a:xfrm>
            <a:off x="8251031" y="11317342"/>
            <a:ext cx="4772025" cy="707886"/>
          </a:xfrm>
          <a:prstGeom prst="rect">
            <a:avLst/>
          </a:prstGeom>
          <a:noFill/>
        </p:spPr>
        <p:txBody>
          <a:bodyPr wrap="square" rtlCol="0">
            <a:spAutoFit/>
          </a:bodyPr>
          <a:lstStyle/>
          <a:p>
            <a:pPr algn="r"/>
            <a:r>
              <a:rPr lang="en-US" sz="4000" dirty="0">
                <a:solidFill>
                  <a:schemeClr val="bg1"/>
                </a:solidFill>
                <a:latin typeface="NVIDIA Sans" panose="020B0503020203020204" pitchFamily="34" charset="0"/>
                <a:cs typeface="NVIDIA Sans" panose="020B0503020203020204" pitchFamily="34" charset="0"/>
              </a:rPr>
              <a:t>A leather jacket</a:t>
            </a:r>
          </a:p>
        </p:txBody>
      </p:sp>
      <p:sp>
        <p:nvSpPr>
          <p:cNvPr id="11" name="TextBox 10">
            <a:extLst>
              <a:ext uri="{FF2B5EF4-FFF2-40B4-BE49-F238E27FC236}">
                <a16:creationId xmlns:a16="http://schemas.microsoft.com/office/drawing/2014/main" id="{8C1A348E-50A0-C1E1-EC19-808D956A431B}"/>
              </a:ext>
            </a:extLst>
          </p:cNvPr>
          <p:cNvSpPr txBox="1"/>
          <p:nvPr/>
        </p:nvSpPr>
        <p:spPr>
          <a:xfrm>
            <a:off x="8251031" y="13798939"/>
            <a:ext cx="4772025" cy="707886"/>
          </a:xfrm>
          <a:prstGeom prst="rect">
            <a:avLst/>
          </a:prstGeom>
          <a:noFill/>
        </p:spPr>
        <p:txBody>
          <a:bodyPr wrap="square" rtlCol="0">
            <a:spAutoFit/>
          </a:bodyPr>
          <a:lstStyle/>
          <a:p>
            <a:pPr algn="r"/>
            <a:r>
              <a:rPr lang="en-US" sz="4000" dirty="0">
                <a:solidFill>
                  <a:schemeClr val="bg1"/>
                </a:solidFill>
                <a:latin typeface="NVIDIA Sans" panose="020B0503020203020204" pitchFamily="34" charset="0"/>
                <a:cs typeface="NVIDIA Sans" panose="020B0503020203020204" pitchFamily="34" charset="0"/>
              </a:rPr>
              <a:t>A green spiral</a:t>
            </a:r>
          </a:p>
        </p:txBody>
      </p:sp>
      <p:sp>
        <p:nvSpPr>
          <p:cNvPr id="17" name="TextBox 16">
            <a:extLst>
              <a:ext uri="{FF2B5EF4-FFF2-40B4-BE49-F238E27FC236}">
                <a16:creationId xmlns:a16="http://schemas.microsoft.com/office/drawing/2014/main" id="{01294DBC-B321-E242-61CF-6B68FE4DA849}"/>
              </a:ext>
            </a:extLst>
          </p:cNvPr>
          <p:cNvSpPr txBox="1"/>
          <p:nvPr/>
        </p:nvSpPr>
        <p:spPr>
          <a:xfrm>
            <a:off x="8251031" y="16280535"/>
            <a:ext cx="4772025" cy="1323439"/>
          </a:xfrm>
          <a:prstGeom prst="rect">
            <a:avLst/>
          </a:prstGeom>
          <a:noFill/>
        </p:spPr>
        <p:txBody>
          <a:bodyPr wrap="square" rtlCol="0">
            <a:spAutoFit/>
          </a:bodyPr>
          <a:lstStyle/>
          <a:p>
            <a:pPr algn="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sp>
        <p:nvSpPr>
          <p:cNvPr id="28" name="Rectangle 27">
            <a:extLst>
              <a:ext uri="{FF2B5EF4-FFF2-40B4-BE49-F238E27FC236}">
                <a16:creationId xmlns:a16="http://schemas.microsoft.com/office/drawing/2014/main" id="{A9A0D248-776E-3678-F3F4-C6835B2EE4A5}"/>
              </a:ext>
            </a:extLst>
          </p:cNvPr>
          <p:cNvSpPr/>
          <p:nvPr/>
        </p:nvSpPr>
        <p:spPr>
          <a:xfrm>
            <a:off x="25953242" y="7748314"/>
            <a:ext cx="8298843" cy="272676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Cosine similarity between encoding for “A happy corgi” and encoding for each image</a:t>
            </a:r>
          </a:p>
        </p:txBody>
      </p:sp>
      <p:sp>
        <p:nvSpPr>
          <p:cNvPr id="29" name="Arrow: Left 28">
            <a:extLst>
              <a:ext uri="{FF2B5EF4-FFF2-40B4-BE49-F238E27FC236}">
                <a16:creationId xmlns:a16="http://schemas.microsoft.com/office/drawing/2014/main" id="{95D73B54-B41B-ABBF-C1E9-534174D93483}"/>
              </a:ext>
            </a:extLst>
          </p:cNvPr>
          <p:cNvSpPr/>
          <p:nvPr/>
        </p:nvSpPr>
        <p:spPr>
          <a:xfrm>
            <a:off x="24210169" y="8407609"/>
            <a:ext cx="1307305" cy="1408176"/>
          </a:xfrm>
          <a:prstGeom prst="lef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0" name="Rectangle 29">
            <a:extLst>
              <a:ext uri="{FF2B5EF4-FFF2-40B4-BE49-F238E27FC236}">
                <a16:creationId xmlns:a16="http://schemas.microsoft.com/office/drawing/2014/main" id="{7ED33B30-42B4-48B4-3B1E-C97D7382D3D2}"/>
              </a:ext>
            </a:extLst>
          </p:cNvPr>
          <p:cNvSpPr/>
          <p:nvPr/>
        </p:nvSpPr>
        <p:spPr>
          <a:xfrm>
            <a:off x="1659730" y="13426471"/>
            <a:ext cx="6155532" cy="3515783"/>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Cosine similarity between encoding for the NVIDIA logo and encoding for each text</a:t>
            </a:r>
          </a:p>
        </p:txBody>
      </p:sp>
      <p:sp>
        <p:nvSpPr>
          <p:cNvPr id="31" name="Arrow: U-Turn 30">
            <a:extLst>
              <a:ext uri="{FF2B5EF4-FFF2-40B4-BE49-F238E27FC236}">
                <a16:creationId xmlns:a16="http://schemas.microsoft.com/office/drawing/2014/main" id="{D3144844-F7DF-D214-5489-3846FBA3A453}"/>
              </a:ext>
            </a:extLst>
          </p:cNvPr>
          <p:cNvSpPr/>
          <p:nvPr/>
        </p:nvSpPr>
        <p:spPr>
          <a:xfrm flipV="1">
            <a:off x="4457701" y="17259300"/>
            <a:ext cx="16116300" cy="2601242"/>
          </a:xfrm>
          <a:prstGeom prst="uturnArrow">
            <a:avLst>
              <a:gd name="adj1" fmla="val 25000"/>
              <a:gd name="adj2" fmla="val 25000"/>
              <a:gd name="adj3" fmla="val 25000"/>
              <a:gd name="adj4" fmla="val 43750"/>
              <a:gd name="adj5" fmla="val 6291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23967921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BDD1ADF-6604-0235-8B92-7B20987989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472" t="9415" r="2405" b="16267"/>
          <a:stretch/>
        </p:blipFill>
        <p:spPr bwMode="auto">
          <a:xfrm>
            <a:off x="13458825" y="5070334"/>
            <a:ext cx="10315576" cy="1301649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9C3EE75-CE2A-9325-738D-1BDAF98C72B0}"/>
              </a:ext>
            </a:extLst>
          </p:cNvPr>
          <p:cNvSpPr>
            <a:spLocks noGrp="1"/>
          </p:cNvSpPr>
          <p:nvPr>
            <p:ph type="title"/>
          </p:nvPr>
        </p:nvSpPr>
        <p:spPr>
          <a:xfrm>
            <a:off x="2514600" y="0"/>
            <a:ext cx="31546800" cy="2514601"/>
          </a:xfrm>
        </p:spPr>
        <p:txBody>
          <a:bodyPr anchor="b">
            <a:normAutofit/>
          </a:bodyPr>
          <a:lstStyle/>
          <a:p>
            <a:r>
              <a:rPr lang="en-US" dirty="0"/>
              <a:t>CLIP Training</a:t>
            </a:r>
          </a:p>
        </p:txBody>
      </p:sp>
      <p:sp>
        <p:nvSpPr>
          <p:cNvPr id="5" name="Text Placeholder 4">
            <a:extLst>
              <a:ext uri="{FF2B5EF4-FFF2-40B4-BE49-F238E27FC236}">
                <a16:creationId xmlns:a16="http://schemas.microsoft.com/office/drawing/2014/main" id="{9EDE7DF4-5B8F-A811-57CB-8C41C3BD7066}"/>
              </a:ext>
            </a:extLst>
          </p:cNvPr>
          <p:cNvSpPr>
            <a:spLocks noGrp="1"/>
          </p:cNvSpPr>
          <p:nvPr>
            <p:ph type="body" sz="quarter" idx="10"/>
          </p:nvPr>
        </p:nvSpPr>
        <p:spPr/>
        <p:txBody>
          <a:bodyPr/>
          <a:lstStyle/>
          <a:p>
            <a:endParaRPr lang="en-US"/>
          </a:p>
        </p:txBody>
      </p:sp>
      <p:sp>
        <p:nvSpPr>
          <p:cNvPr id="3" name="TextBox 2">
            <a:extLst>
              <a:ext uri="{FF2B5EF4-FFF2-40B4-BE49-F238E27FC236}">
                <a16:creationId xmlns:a16="http://schemas.microsoft.com/office/drawing/2014/main" id="{4DFFE2FA-8F15-14AB-9A0F-AA0B408E4DC2}"/>
              </a:ext>
            </a:extLst>
          </p:cNvPr>
          <p:cNvSpPr txBox="1"/>
          <p:nvPr/>
        </p:nvSpPr>
        <p:spPr>
          <a:xfrm>
            <a:off x="8251031" y="8835745"/>
            <a:ext cx="4772025" cy="707886"/>
          </a:xfrm>
          <a:prstGeom prst="rect">
            <a:avLst/>
          </a:prstGeom>
          <a:noFill/>
        </p:spPr>
        <p:txBody>
          <a:bodyPr wrap="square" rtlCol="0">
            <a:spAutoFit/>
          </a:bodyPr>
          <a:lstStyle/>
          <a:p>
            <a:pPr algn="r"/>
            <a:r>
              <a:rPr lang="en-US" sz="4000" dirty="0">
                <a:solidFill>
                  <a:schemeClr val="bg1"/>
                </a:solidFill>
                <a:latin typeface="NVIDIA Sans" panose="020B0503020203020204" pitchFamily="34" charset="0"/>
                <a:cs typeface="NVIDIA Sans" panose="020B0503020203020204" pitchFamily="34" charset="0"/>
              </a:rPr>
              <a:t>A happy corgi</a:t>
            </a:r>
          </a:p>
        </p:txBody>
      </p:sp>
      <p:sp>
        <p:nvSpPr>
          <p:cNvPr id="4" name="TextBox 3">
            <a:extLst>
              <a:ext uri="{FF2B5EF4-FFF2-40B4-BE49-F238E27FC236}">
                <a16:creationId xmlns:a16="http://schemas.microsoft.com/office/drawing/2014/main" id="{260836FD-F8B2-54A9-0C90-42CBD33B3624}"/>
              </a:ext>
            </a:extLst>
          </p:cNvPr>
          <p:cNvSpPr txBox="1"/>
          <p:nvPr/>
        </p:nvSpPr>
        <p:spPr>
          <a:xfrm>
            <a:off x="8251031" y="11317342"/>
            <a:ext cx="4772025" cy="707886"/>
          </a:xfrm>
          <a:prstGeom prst="rect">
            <a:avLst/>
          </a:prstGeom>
          <a:noFill/>
        </p:spPr>
        <p:txBody>
          <a:bodyPr wrap="square" rtlCol="0">
            <a:spAutoFit/>
          </a:bodyPr>
          <a:lstStyle/>
          <a:p>
            <a:pPr algn="r"/>
            <a:r>
              <a:rPr lang="en-US" sz="4000" dirty="0">
                <a:solidFill>
                  <a:schemeClr val="bg1"/>
                </a:solidFill>
                <a:latin typeface="NVIDIA Sans" panose="020B0503020203020204" pitchFamily="34" charset="0"/>
                <a:cs typeface="NVIDIA Sans" panose="020B0503020203020204" pitchFamily="34" charset="0"/>
              </a:rPr>
              <a:t>A leather jacket</a:t>
            </a:r>
          </a:p>
        </p:txBody>
      </p:sp>
      <p:sp>
        <p:nvSpPr>
          <p:cNvPr id="6" name="TextBox 5">
            <a:extLst>
              <a:ext uri="{FF2B5EF4-FFF2-40B4-BE49-F238E27FC236}">
                <a16:creationId xmlns:a16="http://schemas.microsoft.com/office/drawing/2014/main" id="{B9D4F413-B6F4-A831-F962-CAF6344BE47D}"/>
              </a:ext>
            </a:extLst>
          </p:cNvPr>
          <p:cNvSpPr txBox="1"/>
          <p:nvPr/>
        </p:nvSpPr>
        <p:spPr>
          <a:xfrm>
            <a:off x="8251031" y="13798939"/>
            <a:ext cx="4772025" cy="707886"/>
          </a:xfrm>
          <a:prstGeom prst="rect">
            <a:avLst/>
          </a:prstGeom>
          <a:noFill/>
        </p:spPr>
        <p:txBody>
          <a:bodyPr wrap="square" rtlCol="0">
            <a:spAutoFit/>
          </a:bodyPr>
          <a:lstStyle/>
          <a:p>
            <a:pPr algn="r"/>
            <a:r>
              <a:rPr lang="en-US" sz="4000" dirty="0">
                <a:solidFill>
                  <a:schemeClr val="bg1"/>
                </a:solidFill>
                <a:latin typeface="NVIDIA Sans" panose="020B0503020203020204" pitchFamily="34" charset="0"/>
                <a:cs typeface="NVIDIA Sans" panose="020B0503020203020204" pitchFamily="34" charset="0"/>
              </a:rPr>
              <a:t>A green spiral</a:t>
            </a:r>
          </a:p>
        </p:txBody>
      </p:sp>
      <p:sp>
        <p:nvSpPr>
          <p:cNvPr id="7" name="TextBox 6">
            <a:extLst>
              <a:ext uri="{FF2B5EF4-FFF2-40B4-BE49-F238E27FC236}">
                <a16:creationId xmlns:a16="http://schemas.microsoft.com/office/drawing/2014/main" id="{896613D2-D3B6-93A0-A0D5-6A94B2C6D7AA}"/>
              </a:ext>
            </a:extLst>
          </p:cNvPr>
          <p:cNvSpPr txBox="1"/>
          <p:nvPr/>
        </p:nvSpPr>
        <p:spPr>
          <a:xfrm>
            <a:off x="8251031" y="16280535"/>
            <a:ext cx="4772025" cy="1323439"/>
          </a:xfrm>
          <a:prstGeom prst="rect">
            <a:avLst/>
          </a:prstGeom>
          <a:noFill/>
        </p:spPr>
        <p:txBody>
          <a:bodyPr wrap="square" rtlCol="0">
            <a:spAutoFit/>
          </a:bodyPr>
          <a:lstStyle/>
          <a:p>
            <a:pPr algn="r"/>
            <a:r>
              <a:rPr lang="en-US" sz="4000" dirty="0">
                <a:solidFill>
                  <a:schemeClr val="bg1"/>
                </a:solidFill>
                <a:latin typeface="NVIDIA Sans" panose="020B0503020203020204" pitchFamily="34" charset="0"/>
                <a:cs typeface="NVIDIA Sans" panose="020B0503020203020204" pitchFamily="34" charset="0"/>
              </a:rPr>
              <a:t>A bunch of different marbles</a:t>
            </a:r>
          </a:p>
        </p:txBody>
      </p:sp>
      <p:grpSp>
        <p:nvGrpSpPr>
          <p:cNvPr id="21" name="Group 20">
            <a:extLst>
              <a:ext uri="{FF2B5EF4-FFF2-40B4-BE49-F238E27FC236}">
                <a16:creationId xmlns:a16="http://schemas.microsoft.com/office/drawing/2014/main" id="{0F333C23-EFA6-AF98-3D2B-CEABA15241DC}"/>
              </a:ext>
            </a:extLst>
          </p:cNvPr>
          <p:cNvGrpSpPr/>
          <p:nvPr/>
        </p:nvGrpSpPr>
        <p:grpSpPr>
          <a:xfrm>
            <a:off x="10823530" y="7887837"/>
            <a:ext cx="18199829" cy="10198994"/>
            <a:chOff x="5765755" y="7973562"/>
            <a:chExt cx="18199829" cy="10198994"/>
          </a:xfrm>
        </p:grpSpPr>
        <p:grpSp>
          <p:nvGrpSpPr>
            <p:cNvPr id="14" name="Group 13">
              <a:extLst>
                <a:ext uri="{FF2B5EF4-FFF2-40B4-BE49-F238E27FC236}">
                  <a16:creationId xmlns:a16="http://schemas.microsoft.com/office/drawing/2014/main" id="{19D4EE79-9202-B3F6-7E26-030998734B13}"/>
                </a:ext>
              </a:extLst>
            </p:cNvPr>
            <p:cNvGrpSpPr/>
            <p:nvPr/>
          </p:nvGrpSpPr>
          <p:grpSpPr>
            <a:xfrm>
              <a:off x="5765755" y="7973562"/>
              <a:ext cx="15071392" cy="10198994"/>
              <a:chOff x="5765755" y="7973562"/>
              <a:chExt cx="15071392" cy="10198994"/>
            </a:xfrm>
          </p:grpSpPr>
          <p:grpSp>
            <p:nvGrpSpPr>
              <p:cNvPr id="11" name="Group 10">
                <a:extLst>
                  <a:ext uri="{FF2B5EF4-FFF2-40B4-BE49-F238E27FC236}">
                    <a16:creationId xmlns:a16="http://schemas.microsoft.com/office/drawing/2014/main" id="{36B28E4F-8A65-50ED-5474-7F86F92637B7}"/>
                  </a:ext>
                </a:extLst>
              </p:cNvPr>
              <p:cNvGrpSpPr/>
              <p:nvPr/>
            </p:nvGrpSpPr>
            <p:grpSpPr>
              <a:xfrm>
                <a:off x="5765755" y="7973562"/>
                <a:ext cx="15071392" cy="10198994"/>
                <a:chOff x="5765755" y="7973562"/>
                <a:chExt cx="15071392" cy="10198994"/>
              </a:xfrm>
            </p:grpSpPr>
            <p:sp>
              <p:nvSpPr>
                <p:cNvPr id="9" name="Right Triangle 8">
                  <a:extLst>
                    <a:ext uri="{FF2B5EF4-FFF2-40B4-BE49-F238E27FC236}">
                      <a16:creationId xmlns:a16="http://schemas.microsoft.com/office/drawing/2014/main" id="{34292302-B0A5-1DD4-4F85-0F44D50F546C}"/>
                    </a:ext>
                  </a:extLst>
                </p:cNvPr>
                <p:cNvSpPr/>
                <p:nvPr/>
              </p:nvSpPr>
              <p:spPr>
                <a:xfrm>
                  <a:off x="8401050" y="10286999"/>
                  <a:ext cx="8115300" cy="7885557"/>
                </a:xfrm>
                <a:prstGeom prst="rtTriangle">
                  <a:avLst/>
                </a:prstGeom>
                <a:solidFill>
                  <a:srgbClr val="00000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8" name="Flowchart: Terminator 7">
                  <a:extLst>
                    <a:ext uri="{FF2B5EF4-FFF2-40B4-BE49-F238E27FC236}">
                      <a16:creationId xmlns:a16="http://schemas.microsoft.com/office/drawing/2014/main" id="{B1B34F1B-6491-1114-E769-4297DC0AE3BB}"/>
                    </a:ext>
                  </a:extLst>
                </p:cNvPr>
                <p:cNvSpPr/>
                <p:nvPr/>
              </p:nvSpPr>
              <p:spPr>
                <a:xfrm rot="2642588">
                  <a:off x="5765755" y="11464169"/>
                  <a:ext cx="15071392" cy="3000795"/>
                </a:xfrm>
                <a:prstGeom prst="flowChartTerminator">
                  <a:avLst/>
                </a:prstGeom>
                <a:noFill/>
                <a:ln w="762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0" name="Right Triangle 9">
                  <a:extLst>
                    <a:ext uri="{FF2B5EF4-FFF2-40B4-BE49-F238E27FC236}">
                      <a16:creationId xmlns:a16="http://schemas.microsoft.com/office/drawing/2014/main" id="{F386BED1-FCEB-F8E3-5EBA-1770533EBEA7}"/>
                    </a:ext>
                  </a:extLst>
                </p:cNvPr>
                <p:cNvSpPr/>
                <p:nvPr/>
              </p:nvSpPr>
              <p:spPr>
                <a:xfrm flipH="1" flipV="1">
                  <a:off x="10286998" y="7973562"/>
                  <a:ext cx="8429627" cy="8171312"/>
                </a:xfrm>
                <a:prstGeom prst="rtTriangle">
                  <a:avLst/>
                </a:prstGeom>
                <a:solidFill>
                  <a:srgbClr val="00000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sp>
            <p:nvSpPr>
              <p:cNvPr id="12" name="TextBox 11">
                <a:extLst>
                  <a:ext uri="{FF2B5EF4-FFF2-40B4-BE49-F238E27FC236}">
                    <a16:creationId xmlns:a16="http://schemas.microsoft.com/office/drawing/2014/main" id="{8B097BE2-0A83-FA02-E76C-6BC2114D86E8}"/>
                  </a:ext>
                </a:extLst>
              </p:cNvPr>
              <p:cNvSpPr txBox="1"/>
              <p:nvPr/>
            </p:nvSpPr>
            <p:spPr>
              <a:xfrm>
                <a:off x="14025729" y="10201271"/>
                <a:ext cx="4171950" cy="707886"/>
              </a:xfrm>
              <a:prstGeom prst="rect">
                <a:avLst/>
              </a:prstGeom>
              <a:noFill/>
            </p:spPr>
            <p:txBody>
              <a:bodyPr wrap="square" rtlCol="0">
                <a:spAutoFit/>
              </a:bodyPr>
              <a:lstStyle/>
              <a:p>
                <a:pPr algn="ctr"/>
                <a:r>
                  <a:rPr lang="en-US" sz="4000" dirty="0">
                    <a:latin typeface="NVIDIA Sans" panose="020B0503020203020204" pitchFamily="34" charset="0"/>
                    <a:cs typeface="NVIDIA Sans" panose="020B0503020203020204" pitchFamily="34" charset="0"/>
                  </a:rPr>
                  <a:t>Minimize</a:t>
                </a:r>
              </a:p>
            </p:txBody>
          </p:sp>
          <p:sp>
            <p:nvSpPr>
              <p:cNvPr id="13" name="TextBox 12">
                <a:extLst>
                  <a:ext uri="{FF2B5EF4-FFF2-40B4-BE49-F238E27FC236}">
                    <a16:creationId xmlns:a16="http://schemas.microsoft.com/office/drawing/2014/main" id="{5F30594F-227F-0EE3-0B89-D5575BACCD45}"/>
                  </a:ext>
                </a:extLst>
              </p:cNvPr>
              <p:cNvSpPr txBox="1"/>
              <p:nvPr/>
            </p:nvSpPr>
            <p:spPr>
              <a:xfrm>
                <a:off x="9022346" y="15487929"/>
                <a:ext cx="4171950" cy="707886"/>
              </a:xfrm>
              <a:prstGeom prst="rect">
                <a:avLst/>
              </a:prstGeom>
              <a:noFill/>
            </p:spPr>
            <p:txBody>
              <a:bodyPr wrap="square" rtlCol="0">
                <a:spAutoFit/>
              </a:bodyPr>
              <a:lstStyle/>
              <a:p>
                <a:pPr algn="ctr"/>
                <a:r>
                  <a:rPr lang="en-US" sz="4000" dirty="0">
                    <a:latin typeface="NVIDIA Sans" panose="020B0503020203020204" pitchFamily="34" charset="0"/>
                    <a:cs typeface="NVIDIA Sans" panose="020B0503020203020204" pitchFamily="34" charset="0"/>
                  </a:rPr>
                  <a:t>Minimize</a:t>
                </a:r>
              </a:p>
            </p:txBody>
          </p:sp>
        </p:grpSp>
        <p:sp>
          <p:nvSpPr>
            <p:cNvPr id="15" name="TextBox 14">
              <a:extLst>
                <a:ext uri="{FF2B5EF4-FFF2-40B4-BE49-F238E27FC236}">
                  <a16:creationId xmlns:a16="http://schemas.microsoft.com/office/drawing/2014/main" id="{035443FA-8FA4-0D0D-9234-5EA6F4CABC80}"/>
                </a:ext>
              </a:extLst>
            </p:cNvPr>
            <p:cNvSpPr txBox="1"/>
            <p:nvPr/>
          </p:nvSpPr>
          <p:spPr>
            <a:xfrm>
              <a:off x="19761311" y="17027979"/>
              <a:ext cx="4204273" cy="707886"/>
            </a:xfrm>
            <a:prstGeom prst="rect">
              <a:avLst/>
            </a:prstGeom>
            <a:noFill/>
            <a:ln>
              <a:solidFill>
                <a:schemeClr val="bg1">
                  <a:lumMod val="95000"/>
                  <a:lumOff val="5000"/>
                </a:schemeClr>
              </a:solidFill>
            </a:ln>
          </p:spPr>
          <p:txBody>
            <a:bodyPr wrap="square" rtlCol="0">
              <a:spAutoFit/>
            </a:bodyPr>
            <a:lstStyle/>
            <a:p>
              <a:pPr algn="ctr"/>
              <a:r>
                <a:rPr lang="en-US" sz="4000" dirty="0">
                  <a:solidFill>
                    <a:schemeClr val="bg1"/>
                  </a:solidFill>
                  <a:latin typeface="NVIDIA Sans" panose="020B0503020203020204" pitchFamily="34" charset="0"/>
                  <a:cs typeface="NVIDIA Sans" panose="020B0503020203020204" pitchFamily="34" charset="0"/>
                </a:rPr>
                <a:t>Maximize</a:t>
              </a:r>
            </a:p>
          </p:txBody>
        </p:sp>
        <p:cxnSp>
          <p:nvCxnSpPr>
            <p:cNvPr id="17" name="Straight Connector 16">
              <a:extLst>
                <a:ext uri="{FF2B5EF4-FFF2-40B4-BE49-F238E27FC236}">
                  <a16:creationId xmlns:a16="http://schemas.microsoft.com/office/drawing/2014/main" id="{5B505601-EEC0-6C71-67A8-FD59F517F675}"/>
                </a:ext>
              </a:extLst>
            </p:cNvPr>
            <p:cNvCxnSpPr>
              <a:cxnSpLocks/>
              <a:stCxn id="15" idx="1"/>
            </p:cNvCxnSpPr>
            <p:nvPr/>
          </p:nvCxnSpPr>
          <p:spPr>
            <a:xfrm flipH="1">
              <a:off x="18973800" y="17381922"/>
              <a:ext cx="787511" cy="0"/>
            </a:xfrm>
            <a:prstGeom prst="line">
              <a:avLst/>
            </a:prstGeom>
            <a:ln w="76200">
              <a:solidFill>
                <a:schemeClr val="bg1">
                  <a:lumMod val="95000"/>
                  <a:lumOff val="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31657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US" dirty="0"/>
              <a:t>RAG and Vector Databases</a:t>
            </a:r>
          </a:p>
        </p:txBody>
      </p:sp>
    </p:spTree>
    <p:extLst>
      <p:ext uri="{BB962C8B-B14F-4D97-AF65-F5344CB8AC3E}">
        <p14:creationId xmlns:p14="http://schemas.microsoft.com/office/powerpoint/2010/main" val="22235358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BC9D5-E237-AB2A-6409-31F7C963E4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8CE22-2913-8864-7B9B-A25DEE71F48D}"/>
              </a:ext>
            </a:extLst>
          </p:cNvPr>
          <p:cNvSpPr>
            <a:spLocks noGrp="1"/>
          </p:cNvSpPr>
          <p:nvPr>
            <p:ph type="title"/>
          </p:nvPr>
        </p:nvSpPr>
        <p:spPr>
          <a:xfrm>
            <a:off x="2514600" y="0"/>
            <a:ext cx="31546800" cy="2514601"/>
          </a:xfrm>
        </p:spPr>
        <p:txBody>
          <a:bodyPr anchor="b">
            <a:normAutofit/>
          </a:bodyPr>
          <a:lstStyle/>
          <a:p>
            <a:r>
              <a:rPr lang="en-US" dirty="0"/>
              <a:t>Vector Databases</a:t>
            </a:r>
          </a:p>
        </p:txBody>
      </p:sp>
      <p:grpSp>
        <p:nvGrpSpPr>
          <p:cNvPr id="23" name="Group 22">
            <a:extLst>
              <a:ext uri="{FF2B5EF4-FFF2-40B4-BE49-F238E27FC236}">
                <a16:creationId xmlns:a16="http://schemas.microsoft.com/office/drawing/2014/main" id="{EB2C0D05-271C-B25D-3CBE-A70A7970627A}"/>
              </a:ext>
            </a:extLst>
          </p:cNvPr>
          <p:cNvGrpSpPr/>
          <p:nvPr/>
        </p:nvGrpSpPr>
        <p:grpSpPr>
          <a:xfrm>
            <a:off x="9171432" y="3612327"/>
            <a:ext cx="3813048" cy="15508997"/>
            <a:chOff x="4233672" y="3685479"/>
            <a:chExt cx="3813048" cy="15508997"/>
          </a:xfrm>
        </p:grpSpPr>
        <p:pic>
          <p:nvPicPr>
            <p:cNvPr id="1026" name="Picture 2">
              <a:extLst>
                <a:ext uri="{FF2B5EF4-FFF2-40B4-BE49-F238E27FC236}">
                  <a16:creationId xmlns:a16="http://schemas.microsoft.com/office/drawing/2014/main" id="{2BAAE20C-0A95-8B4D-F117-15E9F46A4F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209" t="9310" r="49473" b="76235"/>
            <a:stretch/>
          </p:blipFill>
          <p:spPr bwMode="auto">
            <a:xfrm>
              <a:off x="4233672" y="3685479"/>
              <a:ext cx="3813048" cy="379520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7D242802-9EAA-C02F-2769-654F2BFB09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898" t="9415" r="33749" b="76097"/>
            <a:stretch/>
          </p:blipFill>
          <p:spPr bwMode="auto">
            <a:xfrm>
              <a:off x="4233672" y="7480683"/>
              <a:ext cx="3813048" cy="37952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a:extLst>
                <a:ext uri="{FF2B5EF4-FFF2-40B4-BE49-F238E27FC236}">
                  <a16:creationId xmlns:a16="http://schemas.microsoft.com/office/drawing/2014/main" id="{BEF834EE-2E91-CF36-7D41-AF44B381949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317" t="9415" r="19145" b="76097"/>
            <a:stretch/>
          </p:blipFill>
          <p:spPr bwMode="auto">
            <a:xfrm>
              <a:off x="4233672" y="11178368"/>
              <a:ext cx="3813048" cy="400805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DDB4EC99-F325-ADEE-2C50-696B507FD5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2354" t="9402" r="3108" b="76110"/>
            <a:stretch/>
          </p:blipFill>
          <p:spPr bwMode="auto">
            <a:xfrm>
              <a:off x="4233672" y="15186422"/>
              <a:ext cx="3813048" cy="400805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8" name="Group 27">
            <a:extLst>
              <a:ext uri="{FF2B5EF4-FFF2-40B4-BE49-F238E27FC236}">
                <a16:creationId xmlns:a16="http://schemas.microsoft.com/office/drawing/2014/main" id="{108A35E9-905A-D1BB-7882-180AC4340DDC}"/>
              </a:ext>
            </a:extLst>
          </p:cNvPr>
          <p:cNvGrpSpPr/>
          <p:nvPr/>
        </p:nvGrpSpPr>
        <p:grpSpPr>
          <a:xfrm>
            <a:off x="14650197" y="7943020"/>
            <a:ext cx="3727732" cy="4761111"/>
            <a:chOff x="12591646" y="8171395"/>
            <a:chExt cx="3727732" cy="4761111"/>
          </a:xfrm>
        </p:grpSpPr>
        <p:pic>
          <p:nvPicPr>
            <p:cNvPr id="20" name="Picture 19" descr="A black background with a black square&#10;&#10;Description automatically generated with medium confidence">
              <a:extLst>
                <a:ext uri="{FF2B5EF4-FFF2-40B4-BE49-F238E27FC236}">
                  <a16:creationId xmlns:a16="http://schemas.microsoft.com/office/drawing/2014/main" id="{7A33FFA5-8BF1-54ED-5804-767A2007AB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91646" y="9204774"/>
              <a:ext cx="3727732" cy="3727732"/>
            </a:xfrm>
            <a:prstGeom prst="rect">
              <a:avLst/>
            </a:prstGeom>
          </p:spPr>
        </p:pic>
        <p:sp>
          <p:nvSpPr>
            <p:cNvPr id="22" name="TextBox 21">
              <a:extLst>
                <a:ext uri="{FF2B5EF4-FFF2-40B4-BE49-F238E27FC236}">
                  <a16:creationId xmlns:a16="http://schemas.microsoft.com/office/drawing/2014/main" id="{B709E46D-5445-D88D-7B20-ACA2B4EE8006}"/>
                </a:ext>
              </a:extLst>
            </p:cNvPr>
            <p:cNvSpPr txBox="1"/>
            <p:nvPr/>
          </p:nvSpPr>
          <p:spPr>
            <a:xfrm>
              <a:off x="13261915" y="8171395"/>
              <a:ext cx="2387193" cy="1323439"/>
            </a:xfrm>
            <a:prstGeom prst="rect">
              <a:avLst/>
            </a:prstGeom>
            <a:noFill/>
          </p:spPr>
          <p:txBody>
            <a:bodyPr wrap="none" rtlCol="0">
              <a:spAutoFit/>
            </a:bodyPr>
            <a:lstStyle/>
            <a:p>
              <a:pPr algn="ctr"/>
              <a:r>
                <a:rPr lang="en-US" sz="8000" dirty="0">
                  <a:solidFill>
                    <a:schemeClr val="bg1"/>
                  </a:solidFill>
                  <a:latin typeface="NVIDIA Sans" panose="020B0503020203020204" pitchFamily="34" charset="0"/>
                  <a:cs typeface="NVIDIA Sans" panose="020B0503020203020204" pitchFamily="34" charset="0"/>
                </a:rPr>
                <a:t>CLIP</a:t>
              </a:r>
            </a:p>
          </p:txBody>
        </p:sp>
      </p:grpSp>
      <p:sp>
        <p:nvSpPr>
          <p:cNvPr id="24" name="Rectangle 23">
            <a:extLst>
              <a:ext uri="{FF2B5EF4-FFF2-40B4-BE49-F238E27FC236}">
                <a16:creationId xmlns:a16="http://schemas.microsoft.com/office/drawing/2014/main" id="{2703A010-7992-ADA0-2704-C1094FFB0A93}"/>
              </a:ext>
            </a:extLst>
          </p:cNvPr>
          <p:cNvSpPr/>
          <p:nvPr/>
        </p:nvSpPr>
        <p:spPr>
          <a:xfrm>
            <a:off x="20043645" y="16435506"/>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[0.8, -0.6, 0.7]</a:t>
            </a:r>
          </a:p>
        </p:txBody>
      </p:sp>
      <p:sp>
        <p:nvSpPr>
          <p:cNvPr id="25" name="Rectangle 24">
            <a:extLst>
              <a:ext uri="{FF2B5EF4-FFF2-40B4-BE49-F238E27FC236}">
                <a16:creationId xmlns:a16="http://schemas.microsoft.com/office/drawing/2014/main" id="{A622AF01-F49C-EBAF-4EAB-FFCF15D18C02}"/>
              </a:ext>
            </a:extLst>
          </p:cNvPr>
          <p:cNvSpPr/>
          <p:nvPr/>
        </p:nvSpPr>
        <p:spPr>
          <a:xfrm>
            <a:off x="20043648" y="12567940"/>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[-0.2, -0.1, 0.4]</a:t>
            </a:r>
          </a:p>
        </p:txBody>
      </p:sp>
      <p:sp>
        <p:nvSpPr>
          <p:cNvPr id="26" name="Rectangle 25">
            <a:extLst>
              <a:ext uri="{FF2B5EF4-FFF2-40B4-BE49-F238E27FC236}">
                <a16:creationId xmlns:a16="http://schemas.microsoft.com/office/drawing/2014/main" id="{7FBD3DF3-8E64-303B-6ABC-FDAFCA43E587}"/>
              </a:ext>
            </a:extLst>
          </p:cNvPr>
          <p:cNvSpPr/>
          <p:nvPr/>
        </p:nvSpPr>
        <p:spPr>
          <a:xfrm>
            <a:off x="20043647" y="8700373"/>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[-0.1, 0.1, -0.8]</a:t>
            </a:r>
          </a:p>
        </p:txBody>
      </p:sp>
      <p:sp>
        <p:nvSpPr>
          <p:cNvPr id="27" name="Rectangle 26">
            <a:extLst>
              <a:ext uri="{FF2B5EF4-FFF2-40B4-BE49-F238E27FC236}">
                <a16:creationId xmlns:a16="http://schemas.microsoft.com/office/drawing/2014/main" id="{F69B1D98-EB93-46EF-1C30-66E9EFABBABC}"/>
              </a:ext>
            </a:extLst>
          </p:cNvPr>
          <p:cNvSpPr/>
          <p:nvPr/>
        </p:nvSpPr>
        <p:spPr>
          <a:xfrm>
            <a:off x="20043646" y="4832806"/>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[0.7, 0.2, -0.1]</a:t>
            </a:r>
          </a:p>
        </p:txBody>
      </p:sp>
    </p:spTree>
    <p:extLst>
      <p:ext uri="{BB962C8B-B14F-4D97-AF65-F5344CB8AC3E}">
        <p14:creationId xmlns:p14="http://schemas.microsoft.com/office/powerpoint/2010/main" val="75194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F6A5E-FBCB-2AFF-88B8-9776F497B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16E2C-F993-2AD2-4A6E-57B5F448B9D2}"/>
              </a:ext>
            </a:extLst>
          </p:cNvPr>
          <p:cNvSpPr>
            <a:spLocks noGrp="1"/>
          </p:cNvSpPr>
          <p:nvPr>
            <p:ph type="title"/>
          </p:nvPr>
        </p:nvSpPr>
        <p:spPr>
          <a:xfrm>
            <a:off x="2514600" y="0"/>
            <a:ext cx="31546800" cy="2514601"/>
          </a:xfrm>
        </p:spPr>
        <p:txBody>
          <a:bodyPr anchor="b">
            <a:normAutofit/>
          </a:bodyPr>
          <a:lstStyle/>
          <a:p>
            <a:r>
              <a:rPr lang="en-US" dirty="0"/>
              <a:t>Retrieval Augmented Generation (RAG)</a:t>
            </a:r>
          </a:p>
        </p:txBody>
      </p:sp>
      <p:pic>
        <p:nvPicPr>
          <p:cNvPr id="4" name="Graphic 3" descr="Call center with solid fill">
            <a:extLst>
              <a:ext uri="{FF2B5EF4-FFF2-40B4-BE49-F238E27FC236}">
                <a16:creationId xmlns:a16="http://schemas.microsoft.com/office/drawing/2014/main" id="{9A9CB78A-82FF-7C61-FB1D-3DCAF5103B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54619" y="9290304"/>
            <a:ext cx="4480560" cy="4480560"/>
          </a:xfrm>
          <a:prstGeom prst="rect">
            <a:avLst/>
          </a:prstGeom>
        </p:spPr>
      </p:pic>
      <p:sp>
        <p:nvSpPr>
          <p:cNvPr id="5" name="Speech Bubble: Oval 4">
            <a:extLst>
              <a:ext uri="{FF2B5EF4-FFF2-40B4-BE49-F238E27FC236}">
                <a16:creationId xmlns:a16="http://schemas.microsoft.com/office/drawing/2014/main" id="{DE2F067A-6FBD-E2E4-9864-BBCB455A29F6}"/>
              </a:ext>
            </a:extLst>
          </p:cNvPr>
          <p:cNvSpPr/>
          <p:nvPr/>
        </p:nvSpPr>
        <p:spPr>
          <a:xfrm>
            <a:off x="6177979" y="5120640"/>
            <a:ext cx="7278624" cy="4480560"/>
          </a:xfrm>
          <a:prstGeom prst="wedgeEllipseCallout">
            <a:avLst>
              <a:gd name="adj1" fmla="val -47466"/>
              <a:gd name="adj2" fmla="val 64949"/>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rPr>
              <a:t>Please give me a picture of a cute corgi.</a:t>
            </a:r>
          </a:p>
        </p:txBody>
      </p:sp>
      <p:pic>
        <p:nvPicPr>
          <p:cNvPr id="7" name="Graphic 6" descr="Computer with solid fill">
            <a:extLst>
              <a:ext uri="{FF2B5EF4-FFF2-40B4-BE49-F238E27FC236}">
                <a16:creationId xmlns:a16="http://schemas.microsoft.com/office/drawing/2014/main" id="{E0F2FB16-75DF-9AD8-DC56-AD0E59C4110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350179" y="9445752"/>
            <a:ext cx="4480560" cy="4480560"/>
          </a:xfrm>
          <a:prstGeom prst="rect">
            <a:avLst/>
          </a:prstGeom>
        </p:spPr>
      </p:pic>
      <p:sp>
        <p:nvSpPr>
          <p:cNvPr id="8" name="Arrow: Right 7">
            <a:extLst>
              <a:ext uri="{FF2B5EF4-FFF2-40B4-BE49-F238E27FC236}">
                <a16:creationId xmlns:a16="http://schemas.microsoft.com/office/drawing/2014/main" id="{490DE69E-7ACC-52F6-FFE9-995D0CA35123}"/>
              </a:ext>
            </a:extLst>
          </p:cNvPr>
          <p:cNvSpPr/>
          <p:nvPr/>
        </p:nvSpPr>
        <p:spPr>
          <a:xfrm>
            <a:off x="8157655" y="10963655"/>
            <a:ext cx="2670048" cy="1828800"/>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9" name="Speech Bubble: Oval 8">
            <a:extLst>
              <a:ext uri="{FF2B5EF4-FFF2-40B4-BE49-F238E27FC236}">
                <a16:creationId xmlns:a16="http://schemas.microsoft.com/office/drawing/2014/main" id="{640FB169-DD99-03F6-A9BD-286D670F5B62}"/>
              </a:ext>
            </a:extLst>
          </p:cNvPr>
          <p:cNvSpPr/>
          <p:nvPr/>
        </p:nvSpPr>
        <p:spPr>
          <a:xfrm>
            <a:off x="17479963" y="7351776"/>
            <a:ext cx="5340096" cy="2877312"/>
          </a:xfrm>
          <a:prstGeom prst="wedgeEllipseCallout">
            <a:avLst>
              <a:gd name="adj1" fmla="val -47466"/>
              <a:gd name="adj2" fmla="val 64949"/>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rPr>
              <a:t>a cute corgi</a:t>
            </a:r>
          </a:p>
        </p:txBody>
      </p:sp>
      <p:grpSp>
        <p:nvGrpSpPr>
          <p:cNvPr id="10" name="Group 9">
            <a:extLst>
              <a:ext uri="{FF2B5EF4-FFF2-40B4-BE49-F238E27FC236}">
                <a16:creationId xmlns:a16="http://schemas.microsoft.com/office/drawing/2014/main" id="{C7663FBA-8E54-886B-F0CA-87D98D1C0228}"/>
              </a:ext>
            </a:extLst>
          </p:cNvPr>
          <p:cNvGrpSpPr/>
          <p:nvPr/>
        </p:nvGrpSpPr>
        <p:grpSpPr>
          <a:xfrm>
            <a:off x="23298567" y="9150028"/>
            <a:ext cx="3727732" cy="4761111"/>
            <a:chOff x="12591646" y="8171395"/>
            <a:chExt cx="3727732" cy="4761111"/>
          </a:xfrm>
        </p:grpSpPr>
        <p:pic>
          <p:nvPicPr>
            <p:cNvPr id="11" name="Picture 10" descr="A black background with a black square&#10;&#10;Description automatically generated with medium confidence">
              <a:extLst>
                <a:ext uri="{FF2B5EF4-FFF2-40B4-BE49-F238E27FC236}">
                  <a16:creationId xmlns:a16="http://schemas.microsoft.com/office/drawing/2014/main" id="{50F2FC48-9109-FA27-F950-51DE495FD94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591646" y="9204774"/>
              <a:ext cx="3727732" cy="3727732"/>
            </a:xfrm>
            <a:prstGeom prst="rect">
              <a:avLst/>
            </a:prstGeom>
          </p:spPr>
        </p:pic>
        <p:sp>
          <p:nvSpPr>
            <p:cNvPr id="12" name="TextBox 11">
              <a:extLst>
                <a:ext uri="{FF2B5EF4-FFF2-40B4-BE49-F238E27FC236}">
                  <a16:creationId xmlns:a16="http://schemas.microsoft.com/office/drawing/2014/main" id="{443FA21B-1A9E-6E91-A6B8-1B5D8E081D6B}"/>
                </a:ext>
              </a:extLst>
            </p:cNvPr>
            <p:cNvSpPr txBox="1"/>
            <p:nvPr/>
          </p:nvSpPr>
          <p:spPr>
            <a:xfrm>
              <a:off x="13261915" y="8171395"/>
              <a:ext cx="2387193" cy="1323439"/>
            </a:xfrm>
            <a:prstGeom prst="rect">
              <a:avLst/>
            </a:prstGeom>
            <a:noFill/>
          </p:spPr>
          <p:txBody>
            <a:bodyPr wrap="none" rtlCol="0">
              <a:spAutoFit/>
            </a:bodyPr>
            <a:lstStyle/>
            <a:p>
              <a:pPr algn="ctr"/>
              <a:r>
                <a:rPr lang="en-US" sz="8000" dirty="0">
                  <a:solidFill>
                    <a:schemeClr val="bg1"/>
                  </a:solidFill>
                  <a:latin typeface="NVIDIA Sans" panose="020B0503020203020204" pitchFamily="34" charset="0"/>
                  <a:cs typeface="NVIDIA Sans" panose="020B0503020203020204" pitchFamily="34" charset="0"/>
                </a:rPr>
                <a:t>CLIP</a:t>
              </a:r>
            </a:p>
          </p:txBody>
        </p:sp>
      </p:grpSp>
      <p:sp>
        <p:nvSpPr>
          <p:cNvPr id="13" name="Arrow: Right 12">
            <a:extLst>
              <a:ext uri="{FF2B5EF4-FFF2-40B4-BE49-F238E27FC236}">
                <a16:creationId xmlns:a16="http://schemas.microsoft.com/office/drawing/2014/main" id="{D20E5548-0703-E2B0-1F5A-806793F8570A}"/>
              </a:ext>
            </a:extLst>
          </p:cNvPr>
          <p:cNvSpPr/>
          <p:nvPr/>
        </p:nvSpPr>
        <p:spPr>
          <a:xfrm>
            <a:off x="19356007" y="10771632"/>
            <a:ext cx="2670048" cy="1828800"/>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4" name="Rectangle 13">
            <a:extLst>
              <a:ext uri="{FF2B5EF4-FFF2-40B4-BE49-F238E27FC236}">
                <a16:creationId xmlns:a16="http://schemas.microsoft.com/office/drawing/2014/main" id="{99C57B4C-A670-B2BD-AC12-178387F8F4F6}"/>
              </a:ext>
            </a:extLst>
          </p:cNvPr>
          <p:cNvSpPr/>
          <p:nvPr/>
        </p:nvSpPr>
        <p:spPr>
          <a:xfrm>
            <a:off x="27507827" y="11196264"/>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[0.6, 0.1, -0.1]</a:t>
            </a:r>
          </a:p>
        </p:txBody>
      </p:sp>
    </p:spTree>
    <p:extLst>
      <p:ext uri="{BB962C8B-B14F-4D97-AF65-F5344CB8AC3E}">
        <p14:creationId xmlns:p14="http://schemas.microsoft.com/office/powerpoint/2010/main" val="18444023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DBF6E-8491-C90F-A432-1B1B7C1EDF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9F64EF-A35D-9EDD-8F7E-1F1C65C33BB2}"/>
              </a:ext>
            </a:extLst>
          </p:cNvPr>
          <p:cNvSpPr>
            <a:spLocks noGrp="1"/>
          </p:cNvSpPr>
          <p:nvPr>
            <p:ph type="title"/>
          </p:nvPr>
        </p:nvSpPr>
        <p:spPr>
          <a:xfrm>
            <a:off x="2514600" y="0"/>
            <a:ext cx="31546800" cy="2514601"/>
          </a:xfrm>
        </p:spPr>
        <p:txBody>
          <a:bodyPr anchor="b">
            <a:normAutofit/>
          </a:bodyPr>
          <a:lstStyle/>
          <a:p>
            <a:r>
              <a:rPr lang="en-US" dirty="0"/>
              <a:t>Retrieval Augmented Generation (RAG)</a:t>
            </a:r>
          </a:p>
        </p:txBody>
      </p:sp>
      <p:grpSp>
        <p:nvGrpSpPr>
          <p:cNvPr id="23" name="Group 22">
            <a:extLst>
              <a:ext uri="{FF2B5EF4-FFF2-40B4-BE49-F238E27FC236}">
                <a16:creationId xmlns:a16="http://schemas.microsoft.com/office/drawing/2014/main" id="{956D684E-8A34-49C2-77C7-D8E05CA350A4}"/>
              </a:ext>
            </a:extLst>
          </p:cNvPr>
          <p:cNvGrpSpPr/>
          <p:nvPr/>
        </p:nvGrpSpPr>
        <p:grpSpPr>
          <a:xfrm>
            <a:off x="5550408" y="7448086"/>
            <a:ext cx="2708908" cy="11018073"/>
            <a:chOff x="4233672" y="3685479"/>
            <a:chExt cx="3813048" cy="15508997"/>
          </a:xfrm>
        </p:grpSpPr>
        <p:pic>
          <p:nvPicPr>
            <p:cNvPr id="1026" name="Picture 2">
              <a:extLst>
                <a:ext uri="{FF2B5EF4-FFF2-40B4-BE49-F238E27FC236}">
                  <a16:creationId xmlns:a16="http://schemas.microsoft.com/office/drawing/2014/main" id="{0BFA0539-2339-BB64-497A-BA6EDAD65B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209" t="9310" r="49473" b="76235"/>
            <a:stretch/>
          </p:blipFill>
          <p:spPr bwMode="auto">
            <a:xfrm>
              <a:off x="4233672" y="3685479"/>
              <a:ext cx="3813048" cy="379520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B9973594-B637-2E50-05ED-134A54F760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898" t="9415" r="33749" b="76097"/>
            <a:stretch/>
          </p:blipFill>
          <p:spPr bwMode="auto">
            <a:xfrm>
              <a:off x="4233672" y="7480683"/>
              <a:ext cx="3813048" cy="37952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a:extLst>
                <a:ext uri="{FF2B5EF4-FFF2-40B4-BE49-F238E27FC236}">
                  <a16:creationId xmlns:a16="http://schemas.microsoft.com/office/drawing/2014/main" id="{940C5226-9020-528A-63D6-0FF1C0BF97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317" t="9415" r="19145" b="76097"/>
            <a:stretch/>
          </p:blipFill>
          <p:spPr bwMode="auto">
            <a:xfrm>
              <a:off x="4233672" y="11178368"/>
              <a:ext cx="3813048" cy="400805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A81322DE-768C-280B-815F-13AFEE4497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2354" t="9402" r="3108" b="76110"/>
            <a:stretch/>
          </p:blipFill>
          <p:spPr bwMode="auto">
            <a:xfrm>
              <a:off x="4233672" y="15186422"/>
              <a:ext cx="3813048" cy="4008054"/>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angle 23">
            <a:extLst>
              <a:ext uri="{FF2B5EF4-FFF2-40B4-BE49-F238E27FC236}">
                <a16:creationId xmlns:a16="http://schemas.microsoft.com/office/drawing/2014/main" id="{4B77AF0F-77BD-57C8-25A6-4E04E7BBA22F}"/>
              </a:ext>
            </a:extLst>
          </p:cNvPr>
          <p:cNvSpPr/>
          <p:nvPr/>
        </p:nvSpPr>
        <p:spPr>
          <a:xfrm>
            <a:off x="9107421" y="16360645"/>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[0.8, -0.6, 0.7]</a:t>
            </a:r>
          </a:p>
        </p:txBody>
      </p:sp>
      <p:sp>
        <p:nvSpPr>
          <p:cNvPr id="25" name="Rectangle 24">
            <a:extLst>
              <a:ext uri="{FF2B5EF4-FFF2-40B4-BE49-F238E27FC236}">
                <a16:creationId xmlns:a16="http://schemas.microsoft.com/office/drawing/2014/main" id="{3A90ACB0-C309-4937-4A68-3D316743F773}"/>
              </a:ext>
            </a:extLst>
          </p:cNvPr>
          <p:cNvSpPr/>
          <p:nvPr/>
        </p:nvSpPr>
        <p:spPr>
          <a:xfrm>
            <a:off x="9107422" y="13611900"/>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[-0.2, -0.1, 0.4]</a:t>
            </a:r>
          </a:p>
        </p:txBody>
      </p:sp>
      <p:sp>
        <p:nvSpPr>
          <p:cNvPr id="26" name="Rectangle 25">
            <a:extLst>
              <a:ext uri="{FF2B5EF4-FFF2-40B4-BE49-F238E27FC236}">
                <a16:creationId xmlns:a16="http://schemas.microsoft.com/office/drawing/2014/main" id="{15DF8459-F70E-4502-CDB5-6BA93202FC7C}"/>
              </a:ext>
            </a:extLst>
          </p:cNvPr>
          <p:cNvSpPr/>
          <p:nvPr/>
        </p:nvSpPr>
        <p:spPr>
          <a:xfrm>
            <a:off x="9107421" y="10863155"/>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[-0.1, 0.1, -0.8]</a:t>
            </a:r>
          </a:p>
        </p:txBody>
      </p:sp>
      <p:sp>
        <p:nvSpPr>
          <p:cNvPr id="27" name="Rectangle 26">
            <a:extLst>
              <a:ext uri="{FF2B5EF4-FFF2-40B4-BE49-F238E27FC236}">
                <a16:creationId xmlns:a16="http://schemas.microsoft.com/office/drawing/2014/main" id="{F64A4E92-9AAB-10DD-8271-F21FEC8FB479}"/>
              </a:ext>
            </a:extLst>
          </p:cNvPr>
          <p:cNvSpPr/>
          <p:nvPr/>
        </p:nvSpPr>
        <p:spPr>
          <a:xfrm>
            <a:off x="9107422" y="8114410"/>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[0.7, 0.2, -0.1]</a:t>
            </a:r>
          </a:p>
        </p:txBody>
      </p:sp>
      <p:sp>
        <p:nvSpPr>
          <p:cNvPr id="3" name="Rectangle 2">
            <a:extLst>
              <a:ext uri="{FF2B5EF4-FFF2-40B4-BE49-F238E27FC236}">
                <a16:creationId xmlns:a16="http://schemas.microsoft.com/office/drawing/2014/main" id="{DD880174-CA0C-743E-EAED-29F68BD2608A}"/>
              </a:ext>
            </a:extLst>
          </p:cNvPr>
          <p:cNvSpPr/>
          <p:nvPr/>
        </p:nvSpPr>
        <p:spPr>
          <a:xfrm>
            <a:off x="16864211" y="5501364"/>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[0.6, 0.1, -0.1]</a:t>
            </a:r>
          </a:p>
        </p:txBody>
      </p:sp>
      <p:sp>
        <p:nvSpPr>
          <p:cNvPr id="4" name="Speech Bubble: Oval 3">
            <a:extLst>
              <a:ext uri="{FF2B5EF4-FFF2-40B4-BE49-F238E27FC236}">
                <a16:creationId xmlns:a16="http://schemas.microsoft.com/office/drawing/2014/main" id="{14689EB3-17DF-1805-1C43-819CF81A56FB}"/>
              </a:ext>
            </a:extLst>
          </p:cNvPr>
          <p:cNvSpPr/>
          <p:nvPr/>
        </p:nvSpPr>
        <p:spPr>
          <a:xfrm>
            <a:off x="17470949" y="3020430"/>
            <a:ext cx="5340096" cy="1682496"/>
          </a:xfrm>
          <a:prstGeom prst="wedgeEllipseCallout">
            <a:avLst>
              <a:gd name="adj1" fmla="val -47466"/>
              <a:gd name="adj2" fmla="val 64949"/>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rPr>
              <a:t>a cute corgi</a:t>
            </a:r>
          </a:p>
        </p:txBody>
      </p:sp>
      <p:sp>
        <p:nvSpPr>
          <p:cNvPr id="5" name="Rectangle 4">
            <a:extLst>
              <a:ext uri="{FF2B5EF4-FFF2-40B4-BE49-F238E27FC236}">
                <a16:creationId xmlns:a16="http://schemas.microsoft.com/office/drawing/2014/main" id="{32D1C1CB-C1A1-C6BA-D1C0-0BE9E817E1E3}"/>
              </a:ext>
            </a:extLst>
          </p:cNvPr>
          <p:cNvSpPr/>
          <p:nvPr/>
        </p:nvSpPr>
        <p:spPr>
          <a:xfrm>
            <a:off x="16864211" y="16360645"/>
            <a:ext cx="6553573" cy="1363582"/>
          </a:xfrm>
          <a:prstGeom prst="rect">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0.4651</a:t>
            </a:r>
          </a:p>
        </p:txBody>
      </p:sp>
      <p:sp>
        <p:nvSpPr>
          <p:cNvPr id="6" name="Rectangle 5">
            <a:extLst>
              <a:ext uri="{FF2B5EF4-FFF2-40B4-BE49-F238E27FC236}">
                <a16:creationId xmlns:a16="http://schemas.microsoft.com/office/drawing/2014/main" id="{2AA32AB5-0C0C-E8F2-EAB5-9A0DAE4256B3}"/>
              </a:ext>
            </a:extLst>
          </p:cNvPr>
          <p:cNvSpPr/>
          <p:nvPr/>
        </p:nvSpPr>
        <p:spPr>
          <a:xfrm>
            <a:off x="16864212" y="13611900"/>
            <a:ext cx="6553573" cy="1363582"/>
          </a:xfrm>
          <a:prstGeom prst="rect">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-0.6017</a:t>
            </a:r>
          </a:p>
        </p:txBody>
      </p:sp>
      <p:sp>
        <p:nvSpPr>
          <p:cNvPr id="7" name="Rectangle 6">
            <a:extLst>
              <a:ext uri="{FF2B5EF4-FFF2-40B4-BE49-F238E27FC236}">
                <a16:creationId xmlns:a16="http://schemas.microsoft.com/office/drawing/2014/main" id="{BBFE3FD7-0E22-BF73-E19D-C26DDCBEFD4E}"/>
              </a:ext>
            </a:extLst>
          </p:cNvPr>
          <p:cNvSpPr/>
          <p:nvPr/>
        </p:nvSpPr>
        <p:spPr>
          <a:xfrm>
            <a:off x="16864211" y="10863155"/>
            <a:ext cx="6553573" cy="1363582"/>
          </a:xfrm>
          <a:prstGeom prst="rect">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0.0599</a:t>
            </a:r>
          </a:p>
        </p:txBody>
      </p:sp>
      <p:sp>
        <p:nvSpPr>
          <p:cNvPr id="8" name="Rectangle 7">
            <a:extLst>
              <a:ext uri="{FF2B5EF4-FFF2-40B4-BE49-F238E27FC236}">
                <a16:creationId xmlns:a16="http://schemas.microsoft.com/office/drawing/2014/main" id="{88281D73-52B5-381D-C9DC-C78F35BFAA1C}"/>
              </a:ext>
            </a:extLst>
          </p:cNvPr>
          <p:cNvSpPr/>
          <p:nvPr/>
        </p:nvSpPr>
        <p:spPr>
          <a:xfrm>
            <a:off x="16864212" y="8114410"/>
            <a:ext cx="6553573" cy="1363582"/>
          </a:xfrm>
          <a:prstGeom prst="rect">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0.9933</a:t>
            </a:r>
          </a:p>
        </p:txBody>
      </p:sp>
      <p:sp>
        <p:nvSpPr>
          <p:cNvPr id="10" name="Right Brace 9">
            <a:extLst>
              <a:ext uri="{FF2B5EF4-FFF2-40B4-BE49-F238E27FC236}">
                <a16:creationId xmlns:a16="http://schemas.microsoft.com/office/drawing/2014/main" id="{2FA7613B-84D1-5B0D-3240-841222FCEC37}"/>
              </a:ext>
            </a:extLst>
          </p:cNvPr>
          <p:cNvSpPr/>
          <p:nvPr/>
        </p:nvSpPr>
        <p:spPr>
          <a:xfrm>
            <a:off x="24213312" y="8114410"/>
            <a:ext cx="2708908" cy="9609817"/>
          </a:xfrm>
          <a:prstGeom prst="rightBrace">
            <a:avLst/>
          </a:prstGeom>
          <a:ln w="1587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ectangle 10">
            <a:extLst>
              <a:ext uri="{FF2B5EF4-FFF2-40B4-BE49-F238E27FC236}">
                <a16:creationId xmlns:a16="http://schemas.microsoft.com/office/drawing/2014/main" id="{C69C064C-4FC4-3C42-FBA9-E45166D83A97}"/>
              </a:ext>
            </a:extLst>
          </p:cNvPr>
          <p:cNvSpPr/>
          <p:nvPr/>
        </p:nvSpPr>
        <p:spPr>
          <a:xfrm>
            <a:off x="27468579" y="12248318"/>
            <a:ext cx="6553573" cy="1363582"/>
          </a:xfrm>
          <a:prstGeom prst="rect">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Cosine Similarity</a:t>
            </a:r>
          </a:p>
        </p:txBody>
      </p:sp>
    </p:spTree>
    <p:extLst>
      <p:ext uri="{BB962C8B-B14F-4D97-AF65-F5344CB8AC3E}">
        <p14:creationId xmlns:p14="http://schemas.microsoft.com/office/powerpoint/2010/main" val="32777871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F14E-7624-53D3-B100-37A2175D03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D096D-493B-2F2E-3ACD-A62A67A3E5E8}"/>
              </a:ext>
            </a:extLst>
          </p:cNvPr>
          <p:cNvSpPr>
            <a:spLocks noGrp="1"/>
          </p:cNvSpPr>
          <p:nvPr>
            <p:ph type="title"/>
          </p:nvPr>
        </p:nvSpPr>
        <p:spPr>
          <a:xfrm>
            <a:off x="2514600" y="0"/>
            <a:ext cx="31546800" cy="2514601"/>
          </a:xfrm>
        </p:spPr>
        <p:txBody>
          <a:bodyPr anchor="b">
            <a:normAutofit/>
          </a:bodyPr>
          <a:lstStyle/>
          <a:p>
            <a:r>
              <a:rPr lang="en-US" dirty="0"/>
              <a:t>Retrieval Augmented Generation (RAG)</a:t>
            </a:r>
          </a:p>
        </p:txBody>
      </p:sp>
      <p:grpSp>
        <p:nvGrpSpPr>
          <p:cNvPr id="23" name="Group 22">
            <a:extLst>
              <a:ext uri="{FF2B5EF4-FFF2-40B4-BE49-F238E27FC236}">
                <a16:creationId xmlns:a16="http://schemas.microsoft.com/office/drawing/2014/main" id="{DE19E82B-D6CD-E8B5-91D8-D33DC81D0933}"/>
              </a:ext>
            </a:extLst>
          </p:cNvPr>
          <p:cNvGrpSpPr/>
          <p:nvPr/>
        </p:nvGrpSpPr>
        <p:grpSpPr>
          <a:xfrm>
            <a:off x="5550408" y="7448086"/>
            <a:ext cx="2708908" cy="11018073"/>
            <a:chOff x="4233672" y="3685479"/>
            <a:chExt cx="3813048" cy="15508997"/>
          </a:xfrm>
        </p:grpSpPr>
        <p:pic>
          <p:nvPicPr>
            <p:cNvPr id="1026" name="Picture 2">
              <a:extLst>
                <a:ext uri="{FF2B5EF4-FFF2-40B4-BE49-F238E27FC236}">
                  <a16:creationId xmlns:a16="http://schemas.microsoft.com/office/drawing/2014/main" id="{399DCAC5-5868-A342-CD7D-DF66A23BB8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209" t="9310" r="49473" b="76235"/>
            <a:stretch/>
          </p:blipFill>
          <p:spPr bwMode="auto">
            <a:xfrm>
              <a:off x="4233672" y="3685479"/>
              <a:ext cx="3813048" cy="379520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FBE3497C-A6D2-C549-0F51-6E87440496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898" t="9415" r="33749" b="76097"/>
            <a:stretch/>
          </p:blipFill>
          <p:spPr bwMode="auto">
            <a:xfrm>
              <a:off x="4233672" y="7480683"/>
              <a:ext cx="3813048" cy="37952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a:extLst>
                <a:ext uri="{FF2B5EF4-FFF2-40B4-BE49-F238E27FC236}">
                  <a16:creationId xmlns:a16="http://schemas.microsoft.com/office/drawing/2014/main" id="{49EA771B-9FC8-71A3-B4BB-BEB40A5CF9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317" t="9415" r="19145" b="76097"/>
            <a:stretch/>
          </p:blipFill>
          <p:spPr bwMode="auto">
            <a:xfrm>
              <a:off x="4233672" y="11178368"/>
              <a:ext cx="3813048" cy="400805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D93EA334-97E1-CFD4-02A5-2E445F5FEE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2354" t="9402" r="3108" b="76110"/>
            <a:stretch/>
          </p:blipFill>
          <p:spPr bwMode="auto">
            <a:xfrm>
              <a:off x="4233672" y="15186422"/>
              <a:ext cx="3813048" cy="4008054"/>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angle 23">
            <a:extLst>
              <a:ext uri="{FF2B5EF4-FFF2-40B4-BE49-F238E27FC236}">
                <a16:creationId xmlns:a16="http://schemas.microsoft.com/office/drawing/2014/main" id="{A8FD1A77-6B5B-A4AB-70A4-60E8ACB28AC1}"/>
              </a:ext>
            </a:extLst>
          </p:cNvPr>
          <p:cNvSpPr/>
          <p:nvPr/>
        </p:nvSpPr>
        <p:spPr>
          <a:xfrm>
            <a:off x="9107421" y="16360645"/>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[0.8, -0.6, 0.7]</a:t>
            </a:r>
          </a:p>
        </p:txBody>
      </p:sp>
      <p:sp>
        <p:nvSpPr>
          <p:cNvPr id="25" name="Rectangle 24">
            <a:extLst>
              <a:ext uri="{FF2B5EF4-FFF2-40B4-BE49-F238E27FC236}">
                <a16:creationId xmlns:a16="http://schemas.microsoft.com/office/drawing/2014/main" id="{02380D20-9EA5-CE10-EA9A-7FABB0E09EAD}"/>
              </a:ext>
            </a:extLst>
          </p:cNvPr>
          <p:cNvSpPr/>
          <p:nvPr/>
        </p:nvSpPr>
        <p:spPr>
          <a:xfrm>
            <a:off x="9107422" y="13611900"/>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[-0.2, -0.1, 0.4]</a:t>
            </a:r>
          </a:p>
        </p:txBody>
      </p:sp>
      <p:sp>
        <p:nvSpPr>
          <p:cNvPr id="26" name="Rectangle 25">
            <a:extLst>
              <a:ext uri="{FF2B5EF4-FFF2-40B4-BE49-F238E27FC236}">
                <a16:creationId xmlns:a16="http://schemas.microsoft.com/office/drawing/2014/main" id="{92D0A32F-F437-F2A6-9FD5-A2F9423C40DF}"/>
              </a:ext>
            </a:extLst>
          </p:cNvPr>
          <p:cNvSpPr/>
          <p:nvPr/>
        </p:nvSpPr>
        <p:spPr>
          <a:xfrm>
            <a:off x="9107421" y="10863155"/>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[-0.1, 0.1, -0.8]</a:t>
            </a:r>
          </a:p>
        </p:txBody>
      </p:sp>
      <p:sp>
        <p:nvSpPr>
          <p:cNvPr id="27" name="Rectangle 26">
            <a:extLst>
              <a:ext uri="{FF2B5EF4-FFF2-40B4-BE49-F238E27FC236}">
                <a16:creationId xmlns:a16="http://schemas.microsoft.com/office/drawing/2014/main" id="{89BAFD56-2A28-5489-26B4-A7DC215D7BCA}"/>
              </a:ext>
            </a:extLst>
          </p:cNvPr>
          <p:cNvSpPr/>
          <p:nvPr/>
        </p:nvSpPr>
        <p:spPr>
          <a:xfrm>
            <a:off x="9107422" y="8114410"/>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[0.7, 0.2, -0.1]</a:t>
            </a:r>
          </a:p>
        </p:txBody>
      </p:sp>
      <p:sp>
        <p:nvSpPr>
          <p:cNvPr id="3" name="Rectangle 2">
            <a:extLst>
              <a:ext uri="{FF2B5EF4-FFF2-40B4-BE49-F238E27FC236}">
                <a16:creationId xmlns:a16="http://schemas.microsoft.com/office/drawing/2014/main" id="{35EC2F4A-8050-9AA1-7B6A-71A7B119192E}"/>
              </a:ext>
            </a:extLst>
          </p:cNvPr>
          <p:cNvSpPr/>
          <p:nvPr/>
        </p:nvSpPr>
        <p:spPr>
          <a:xfrm>
            <a:off x="16864211" y="5501364"/>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[0.6, 0.1, -0.1]</a:t>
            </a:r>
          </a:p>
        </p:txBody>
      </p:sp>
      <p:sp>
        <p:nvSpPr>
          <p:cNvPr id="4" name="Speech Bubble: Oval 3">
            <a:extLst>
              <a:ext uri="{FF2B5EF4-FFF2-40B4-BE49-F238E27FC236}">
                <a16:creationId xmlns:a16="http://schemas.microsoft.com/office/drawing/2014/main" id="{DD634301-8DC4-30EF-FA0C-E8AB54FC8EF4}"/>
              </a:ext>
            </a:extLst>
          </p:cNvPr>
          <p:cNvSpPr/>
          <p:nvPr/>
        </p:nvSpPr>
        <p:spPr>
          <a:xfrm>
            <a:off x="17470949" y="3020430"/>
            <a:ext cx="5340096" cy="1682496"/>
          </a:xfrm>
          <a:prstGeom prst="wedgeEllipseCallout">
            <a:avLst>
              <a:gd name="adj1" fmla="val -47466"/>
              <a:gd name="adj2" fmla="val 64949"/>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rPr>
              <a:t>a cute corgi</a:t>
            </a:r>
          </a:p>
        </p:txBody>
      </p:sp>
      <p:sp>
        <p:nvSpPr>
          <p:cNvPr id="5" name="Rectangle 4">
            <a:extLst>
              <a:ext uri="{FF2B5EF4-FFF2-40B4-BE49-F238E27FC236}">
                <a16:creationId xmlns:a16="http://schemas.microsoft.com/office/drawing/2014/main" id="{45DF6E11-A605-5733-23E0-DD036518B9F4}"/>
              </a:ext>
            </a:extLst>
          </p:cNvPr>
          <p:cNvSpPr/>
          <p:nvPr/>
        </p:nvSpPr>
        <p:spPr>
          <a:xfrm>
            <a:off x="16864211" y="16360645"/>
            <a:ext cx="6553573" cy="1363582"/>
          </a:xfrm>
          <a:prstGeom prst="rect">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0.4651</a:t>
            </a:r>
          </a:p>
        </p:txBody>
      </p:sp>
      <p:sp>
        <p:nvSpPr>
          <p:cNvPr id="6" name="Rectangle 5">
            <a:extLst>
              <a:ext uri="{FF2B5EF4-FFF2-40B4-BE49-F238E27FC236}">
                <a16:creationId xmlns:a16="http://schemas.microsoft.com/office/drawing/2014/main" id="{EC761773-6351-4A44-A290-EC07F464F453}"/>
              </a:ext>
            </a:extLst>
          </p:cNvPr>
          <p:cNvSpPr/>
          <p:nvPr/>
        </p:nvSpPr>
        <p:spPr>
          <a:xfrm>
            <a:off x="16864212" y="13611900"/>
            <a:ext cx="6553573" cy="1363582"/>
          </a:xfrm>
          <a:prstGeom prst="rect">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-0.6017</a:t>
            </a:r>
          </a:p>
        </p:txBody>
      </p:sp>
      <p:sp>
        <p:nvSpPr>
          <p:cNvPr id="7" name="Rectangle 6">
            <a:extLst>
              <a:ext uri="{FF2B5EF4-FFF2-40B4-BE49-F238E27FC236}">
                <a16:creationId xmlns:a16="http://schemas.microsoft.com/office/drawing/2014/main" id="{9B71913F-2A58-4B76-DFB4-D84EF85D79AA}"/>
              </a:ext>
            </a:extLst>
          </p:cNvPr>
          <p:cNvSpPr/>
          <p:nvPr/>
        </p:nvSpPr>
        <p:spPr>
          <a:xfrm>
            <a:off x="16864211" y="10863155"/>
            <a:ext cx="6553573" cy="1363582"/>
          </a:xfrm>
          <a:prstGeom prst="rect">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0.0599</a:t>
            </a:r>
          </a:p>
        </p:txBody>
      </p:sp>
      <p:sp>
        <p:nvSpPr>
          <p:cNvPr id="8" name="Rectangle 7">
            <a:extLst>
              <a:ext uri="{FF2B5EF4-FFF2-40B4-BE49-F238E27FC236}">
                <a16:creationId xmlns:a16="http://schemas.microsoft.com/office/drawing/2014/main" id="{265B42CC-8411-F9CE-B48F-569838FFDBF5}"/>
              </a:ext>
            </a:extLst>
          </p:cNvPr>
          <p:cNvSpPr/>
          <p:nvPr/>
        </p:nvSpPr>
        <p:spPr>
          <a:xfrm>
            <a:off x="16864212" y="8114410"/>
            <a:ext cx="6553573" cy="136358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latin typeface="NVIDIA Sans" panose="020B0503020203020204" pitchFamily="34" charset="0"/>
                <a:cs typeface="NVIDIA Sans" panose="020B0503020203020204" pitchFamily="34" charset="0"/>
              </a:rPr>
              <a:t>0.9933</a:t>
            </a:r>
          </a:p>
        </p:txBody>
      </p:sp>
      <p:sp>
        <p:nvSpPr>
          <p:cNvPr id="13" name="Rectangle 12">
            <a:extLst>
              <a:ext uri="{FF2B5EF4-FFF2-40B4-BE49-F238E27FC236}">
                <a16:creationId xmlns:a16="http://schemas.microsoft.com/office/drawing/2014/main" id="{FCE0E314-899A-CDF7-2AB0-9FC999F623AF}"/>
              </a:ext>
            </a:extLst>
          </p:cNvPr>
          <p:cNvSpPr/>
          <p:nvPr/>
        </p:nvSpPr>
        <p:spPr>
          <a:xfrm>
            <a:off x="4974336" y="7187192"/>
            <a:ext cx="27175968" cy="3099807"/>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4" name="Rectangle 13">
            <a:extLst>
              <a:ext uri="{FF2B5EF4-FFF2-40B4-BE49-F238E27FC236}">
                <a16:creationId xmlns:a16="http://schemas.microsoft.com/office/drawing/2014/main" id="{68BFF6BB-DDAE-8516-A972-C0C0D1216B0D}"/>
              </a:ext>
            </a:extLst>
          </p:cNvPr>
          <p:cNvSpPr/>
          <p:nvPr/>
        </p:nvSpPr>
        <p:spPr>
          <a:xfrm>
            <a:off x="24621002" y="8114410"/>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Best Match</a:t>
            </a:r>
          </a:p>
        </p:txBody>
      </p:sp>
    </p:spTree>
    <p:extLst>
      <p:ext uri="{BB962C8B-B14F-4D97-AF65-F5344CB8AC3E}">
        <p14:creationId xmlns:p14="http://schemas.microsoft.com/office/powerpoint/2010/main" val="4135030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C9518-FA47-7101-B697-857BEDEDE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25C32-0EDC-D04E-A3B7-800EF2B3A252}"/>
              </a:ext>
            </a:extLst>
          </p:cNvPr>
          <p:cNvSpPr>
            <a:spLocks noGrp="1"/>
          </p:cNvSpPr>
          <p:nvPr>
            <p:ph type="title"/>
          </p:nvPr>
        </p:nvSpPr>
        <p:spPr>
          <a:xfrm>
            <a:off x="2514600" y="0"/>
            <a:ext cx="31546800" cy="2514601"/>
          </a:xfrm>
        </p:spPr>
        <p:txBody>
          <a:bodyPr anchor="b">
            <a:normAutofit/>
          </a:bodyPr>
          <a:lstStyle/>
          <a:p>
            <a:r>
              <a:rPr lang="en-US" dirty="0"/>
              <a:t>Contrastive Outline-Image Pretraining</a:t>
            </a:r>
          </a:p>
        </p:txBody>
      </p:sp>
      <p:pic>
        <p:nvPicPr>
          <p:cNvPr id="9" name="Picture 2">
            <a:extLst>
              <a:ext uri="{FF2B5EF4-FFF2-40B4-BE49-F238E27FC236}">
                <a16:creationId xmlns:a16="http://schemas.microsoft.com/office/drawing/2014/main" id="{AADCF260-54C9-A248-1F70-BE630C828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444" y="6525007"/>
            <a:ext cx="29438635" cy="28948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CD6B804-F056-501C-404B-12795ACE93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444" y="13430251"/>
            <a:ext cx="29438625" cy="2894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65DD03B6-0B69-B35C-432B-BA87098B3684}"/>
              </a:ext>
            </a:extLst>
          </p:cNvPr>
          <p:cNvSpPr/>
          <p:nvPr/>
        </p:nvSpPr>
        <p:spPr>
          <a:xfrm>
            <a:off x="14357969" y="4248912"/>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Image</a:t>
            </a:r>
          </a:p>
        </p:txBody>
      </p:sp>
      <p:sp>
        <p:nvSpPr>
          <p:cNvPr id="11" name="Rectangle 10">
            <a:extLst>
              <a:ext uri="{FF2B5EF4-FFF2-40B4-BE49-F238E27FC236}">
                <a16:creationId xmlns:a16="http://schemas.microsoft.com/office/drawing/2014/main" id="{B0D7C9DE-EA30-4355-77CB-CB396DF6F04F}"/>
              </a:ext>
            </a:extLst>
          </p:cNvPr>
          <p:cNvSpPr/>
          <p:nvPr/>
        </p:nvSpPr>
        <p:spPr>
          <a:xfrm>
            <a:off x="14357969" y="11154156"/>
            <a:ext cx="6553573" cy="136358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NVIDIA Sans" panose="020B0503020203020204" pitchFamily="34" charset="0"/>
                <a:cs typeface="NVIDIA Sans" panose="020B0503020203020204" pitchFamily="34" charset="0"/>
              </a:rPr>
              <a:t>Outline</a:t>
            </a:r>
          </a:p>
        </p:txBody>
      </p:sp>
    </p:spTree>
    <p:extLst>
      <p:ext uri="{BB962C8B-B14F-4D97-AF65-F5344CB8AC3E}">
        <p14:creationId xmlns:p14="http://schemas.microsoft.com/office/powerpoint/2010/main" val="5347270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7F43C-69A0-3205-8DA1-52F4585B844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CC62EF2-8666-938D-984E-AB2F750AC72C}"/>
              </a:ext>
            </a:extLst>
          </p:cNvPr>
          <p:cNvSpPr>
            <a:spLocks noGrp="1"/>
          </p:cNvSpPr>
          <p:nvPr>
            <p:ph type="body" sz="quarter" idx="13"/>
          </p:nvPr>
        </p:nvSpPr>
        <p:spPr>
          <a:xfrm>
            <a:off x="1473200" y="1865313"/>
            <a:ext cx="18476913" cy="5943600"/>
          </a:xfrm>
        </p:spPr>
        <p:txBody>
          <a:bodyPr/>
          <a:lstStyle/>
          <a:p>
            <a:r>
              <a:rPr lang="en-US" dirty="0"/>
              <a:t>Let’s Get Started!</a:t>
            </a:r>
          </a:p>
        </p:txBody>
      </p:sp>
    </p:spTree>
    <p:extLst>
      <p:ext uri="{BB962C8B-B14F-4D97-AF65-F5344CB8AC3E}">
        <p14:creationId xmlns:p14="http://schemas.microsoft.com/office/powerpoint/2010/main" val="4214436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2788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ac25ff7-bb51-4c67-b289-9013749df81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4CF33B71089DC448F3A861CCE49DD4C" ma:contentTypeVersion="13" ma:contentTypeDescription="Create a new document." ma:contentTypeScope="" ma:versionID="0cf5159ec680aa7cc1f777e5ce312ee3">
  <xsd:schema xmlns:xsd="http://www.w3.org/2001/XMLSchema" xmlns:xs="http://www.w3.org/2001/XMLSchema" xmlns:p="http://schemas.microsoft.com/office/2006/metadata/properties" xmlns:ns3="33156d47-4ed2-41b4-b82d-0bdc41d51c72" xmlns:ns4="eac25ff7-bb51-4c67-b289-9013749df816" targetNamespace="http://schemas.microsoft.com/office/2006/metadata/properties" ma:root="true" ma:fieldsID="4c9ed958f862375c990245d6dd11fe88" ns3:_="" ns4:_="">
    <xsd:import namespace="33156d47-4ed2-41b4-b82d-0bdc41d51c72"/>
    <xsd:import namespace="eac25ff7-bb51-4c67-b289-9013749df81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LengthInSeconds" minOccurs="0"/>
                <xsd:element ref="ns4:MediaServiceGenerationTime" minOccurs="0"/>
                <xsd:element ref="ns4:MediaServiceEventHashCode" minOccurs="0"/>
                <xsd:element ref="ns4:MediaServiceOCR"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156d47-4ed2-41b4-b82d-0bdc41d51c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c25ff7-bb51-4c67-b289-9013749df81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5AC8C1-8675-4762-89BF-D102E51271A0}">
  <ds:schemaRefs>
    <ds:schemaRef ds:uri="http://schemas.microsoft.com/sharepoint/v3/contenttype/forms"/>
  </ds:schemaRefs>
</ds:datastoreItem>
</file>

<file path=customXml/itemProps2.xml><?xml version="1.0" encoding="utf-8"?>
<ds:datastoreItem xmlns:ds="http://schemas.openxmlformats.org/officeDocument/2006/customXml" ds:itemID="{EA4C7E1E-6C20-440E-941A-535F1A24C014}">
  <ds:schemaRefs>
    <ds:schemaRef ds:uri="33156d47-4ed2-41b4-b82d-0bdc41d51c72"/>
    <ds:schemaRef ds:uri="eac25ff7-bb51-4c67-b289-9013749df8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5A703DD-F8CD-47FA-B90D-65B68D854B44}">
  <ds:schemaRefs>
    <ds:schemaRef ds:uri="33156d47-4ed2-41b4-b82d-0bdc41d51c72"/>
    <ds:schemaRef ds:uri="eac25ff7-bb51-4c67-b289-9013749df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GenAI_slides1</Template>
  <TotalTime>17382</TotalTime>
  <Words>3266</Words>
  <Application>Microsoft Office PowerPoint</Application>
  <PresentationFormat>Custom</PresentationFormat>
  <Paragraphs>454</Paragraphs>
  <Slides>49</Slides>
  <Notes>49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Arial</vt:lpstr>
      <vt:lpstr>Cambria Math</vt:lpstr>
      <vt:lpstr>NVIDIA Sans</vt:lpstr>
      <vt:lpstr>NVIDIA Sans Light</vt:lpstr>
      <vt:lpstr>NVIDIA Sans Medium</vt:lpstr>
      <vt:lpstr>Roboto Mono</vt:lpstr>
      <vt:lpstr>Trebuchet MS</vt:lpstr>
      <vt:lpstr>Title Only</vt:lpstr>
      <vt:lpstr>Building AI Agents with Multimodal Models</vt:lpstr>
      <vt:lpstr>PowerPoint Presentation</vt:lpstr>
      <vt:lpstr>PowerPoint Presentation</vt:lpstr>
      <vt:lpstr>Single Modal Data - Results</vt:lpstr>
      <vt:lpstr>Multimodal Data - Results</vt:lpstr>
      <vt:lpstr>Next Experiment</vt:lpstr>
      <vt:lpstr>PowerPoint Presentation</vt:lpstr>
      <vt:lpstr>Human Inputs and Outputs</vt:lpstr>
      <vt:lpstr>Intermediate Fusion</vt:lpstr>
      <vt:lpstr>Intermediate Fusion</vt:lpstr>
      <vt:lpstr>Intermediate Fusion</vt:lpstr>
      <vt:lpstr>Intermediate Fusion</vt:lpstr>
      <vt:lpstr>Intermediate Fusion</vt:lpstr>
      <vt:lpstr>Intermediate Fusion</vt:lpstr>
      <vt:lpstr>Intermediate Fusion</vt:lpstr>
      <vt:lpstr>Intermediate Fusion</vt:lpstr>
      <vt:lpstr>Intermediate Fusion</vt:lpstr>
      <vt:lpstr>Multiplication Overfitting</vt:lpstr>
      <vt:lpstr>Lab Experiment</vt:lpstr>
      <vt:lpstr>PowerPoint Presentation</vt:lpstr>
      <vt:lpstr>The Curse of Dimensionality</vt:lpstr>
      <vt:lpstr>The Curse of Dimensionality</vt:lpstr>
      <vt:lpstr>The Curse of Dimensionality</vt:lpstr>
      <vt:lpstr>Choosing Data</vt:lpstr>
      <vt:lpstr>Choosing Data</vt:lpstr>
      <vt:lpstr>PowerPoint Presentation</vt:lpstr>
      <vt:lpstr>Matching Text to Image</vt:lpstr>
      <vt:lpstr>Matching Text to Image</vt:lpstr>
      <vt:lpstr>Cosine Similarity</vt:lpstr>
      <vt:lpstr>Cosine Similarity</vt:lpstr>
      <vt:lpstr>Cosine Similarity</vt:lpstr>
      <vt:lpstr>Cosine Similarity</vt:lpstr>
      <vt:lpstr>Dot Product</vt:lpstr>
      <vt:lpstr>Dot Product</vt:lpstr>
      <vt:lpstr>Dot Product</vt:lpstr>
      <vt:lpstr>Dot Product</vt:lpstr>
      <vt:lpstr>Dot Product</vt:lpstr>
      <vt:lpstr>Dot Product</vt:lpstr>
      <vt:lpstr>Dot Product</vt:lpstr>
      <vt:lpstr>CLIP Training</vt:lpstr>
      <vt:lpstr>CLIP Training</vt:lpstr>
      <vt:lpstr>PowerPoint Presentation</vt:lpstr>
      <vt:lpstr>Vector Databases</vt:lpstr>
      <vt:lpstr>Retrieval Augmented Generation (RAG)</vt:lpstr>
      <vt:lpstr>Retrieval Augmented Generation (RAG)</vt:lpstr>
      <vt:lpstr>Retrieval Augmented Generation (RAG)</vt:lpstr>
      <vt:lpstr>Contrastive Outline-Image Pretraining</vt:lpstr>
      <vt:lpstr>PowerPoint Presentation</vt:lpstr>
      <vt:lpstr>PowerPoint Presentation</vt:lpstr>
    </vt:vector>
  </TitlesOfParts>
  <Company>NVIDIA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Danielle Detering</dc:creator>
  <cp:lastModifiedBy>Danielle Detering</cp:lastModifiedBy>
  <cp:revision>34</cp:revision>
  <dcterms:created xsi:type="dcterms:W3CDTF">2023-09-14T23:38:20Z</dcterms:created>
  <dcterms:modified xsi:type="dcterms:W3CDTF">2025-05-07T04:33:41Z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0x01010004CF33B71089DC448F3A861CCE49DD4C</vt:lpwstr>
  </property>
</Properties>
</file>