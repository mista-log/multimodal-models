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3"/>
  </p:notesMasterIdLst>
  <p:handoutMasterIdLst>
    <p:handoutMasterId r:id="rId54"/>
  </p:handoutMasterIdLst>
  <p:sldIdLst>
    <p:sldId id="256" r:id="rId5"/>
    <p:sldId id="550145267" r:id="rId6"/>
    <p:sldId id="270" r:id="rId7"/>
    <p:sldId id="550145316" r:id="rId8"/>
    <p:sldId id="550145342" r:id="rId9"/>
    <p:sldId id="550145338" r:id="rId10"/>
    <p:sldId id="550145387" r:id="rId11"/>
    <p:sldId id="550145388" r:id="rId12"/>
    <p:sldId id="550145343" r:id="rId13"/>
    <p:sldId id="550145344" r:id="rId14"/>
    <p:sldId id="550145389" r:id="rId15"/>
    <p:sldId id="550145398" r:id="rId16"/>
    <p:sldId id="550145391" r:id="rId17"/>
    <p:sldId id="550145390" r:id="rId18"/>
    <p:sldId id="550145392" r:id="rId19"/>
    <p:sldId id="550145393" r:id="rId20"/>
    <p:sldId id="550145411" r:id="rId21"/>
    <p:sldId id="550145412" r:id="rId22"/>
    <p:sldId id="550145395" r:id="rId23"/>
    <p:sldId id="550145396" r:id="rId24"/>
    <p:sldId id="550145397" r:id="rId25"/>
    <p:sldId id="550145399" r:id="rId26"/>
    <p:sldId id="550145400" r:id="rId27"/>
    <p:sldId id="550145401" r:id="rId28"/>
    <p:sldId id="550145409" r:id="rId29"/>
    <p:sldId id="550145410" r:id="rId30"/>
    <p:sldId id="550145403" r:id="rId31"/>
    <p:sldId id="550145404" r:id="rId32"/>
    <p:sldId id="550145406" r:id="rId33"/>
    <p:sldId id="550145405" r:id="rId34"/>
    <p:sldId id="550145407" r:id="rId35"/>
    <p:sldId id="550145408" r:id="rId36"/>
    <p:sldId id="550145413" r:id="rId37"/>
    <p:sldId id="550145414" r:id="rId38"/>
    <p:sldId id="550145415" r:id="rId39"/>
    <p:sldId id="550145416" r:id="rId40"/>
    <p:sldId id="550145347" r:id="rId41"/>
    <p:sldId id="550145418" r:id="rId42"/>
    <p:sldId id="550145417" r:id="rId43"/>
    <p:sldId id="550145419" r:id="rId44"/>
    <p:sldId id="550145328" r:id="rId45"/>
    <p:sldId id="550145315" r:id="rId46"/>
    <p:sldId id="550145420" r:id="rId47"/>
    <p:sldId id="550145421" r:id="rId48"/>
    <p:sldId id="550145422" r:id="rId49"/>
    <p:sldId id="550145423" r:id="rId50"/>
    <p:sldId id="550145337" r:id="rId51"/>
    <p:sldId id="301" r:id="rId52"/>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FD1"/>
    <a:srgbClr val="BDD9AA"/>
    <a:srgbClr val="676767"/>
    <a:srgbClr val="00FF00"/>
    <a:srgbClr val="FF0000"/>
    <a:srgbClr val="76B900"/>
    <a:srgbClr val="FFFFFF"/>
    <a:srgbClr val="D1D1D1"/>
    <a:srgbClr val="C0C0C0"/>
    <a:srgbClr val="B8B8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2" autoAdjust="0"/>
    <p:restoredTop sz="77991" autoAdjust="0"/>
  </p:normalViewPr>
  <p:slideViewPr>
    <p:cSldViewPr snapToGrid="0">
      <p:cViewPr varScale="1">
        <p:scale>
          <a:sx n="22" d="100"/>
          <a:sy n="22" d="100"/>
        </p:scale>
        <p:origin x="283" y="91"/>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12/10/2025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there, and welcome to Building AI Agents with Multimodal Models.</a:t>
            </a: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2</a:t>
            </a:fld>
            <a:endParaRPr lang="en-US"/>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on to the theory, let’s take a look at our experimental results.</a:t>
            </a:r>
          </a:p>
        </p:txBody>
      </p:sp>
      <p:sp>
        <p:nvSpPr>
          <p:cNvPr id="4" name="Slide Number Placeholder 3"/>
          <p:cNvSpPr>
            <a:spLocks noGrp="1"/>
          </p:cNvSpPr>
          <p:nvPr>
            <p:ph type="sldNum" sz="quarter" idx="5"/>
          </p:nvPr>
        </p:nvSpPr>
        <p:spPr/>
        <p:txBody>
          <a:bodyPr/>
          <a:lstStyle/>
          <a:p>
            <a:fld id="{A93AD357-0C40-4436-9D38-C47D60C1C9C1}" type="slidenum">
              <a:rPr lang="en-US" smtClean="0"/>
              <a:pPr/>
              <a:t>3</a:t>
            </a:fld>
            <a:endParaRPr lang="en-US"/>
          </a:p>
        </p:txBody>
      </p:sp>
    </p:spTree>
    <p:extLst>
      <p:ext uri="{BB962C8B-B14F-4D97-AF65-F5344CB8AC3E}">
        <p14:creationId xmlns:p14="http://schemas.microsoft.com/office/powerpoint/2010/main" val="3037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look at how the single modal models faired. In this case, the LiDAR data was more effective.</a:t>
            </a:r>
          </a:p>
          <a:p>
            <a:endParaRPr lang="en-US" dirty="0"/>
          </a:p>
          <a:p>
            <a:r>
              <a:rPr lang="en-US" dirty="0"/>
              <a:t>Since neural networks are a bit of a black box, it’s hard to say exactly why. However, we can throw out some theories. Whenever I’m trying to design a statistical model, I first think, how would I do this if I had to do this myself? For instance, with the RGB data, I would need to find someway to convert it into position data. I could make an estimate based on where the objects are in the picture. Since the positions are in a 3-dimensional space, that estimate could be tricky.</a:t>
            </a:r>
          </a:p>
          <a:p>
            <a:endParaRPr lang="en-US" dirty="0"/>
          </a:p>
          <a:p>
            <a:r>
              <a:rPr lang="en-US" dirty="0"/>
              <a:t>On the other hand, the LiDAR data very directly gives us position information. We wouldn’t need to convert from one mode to another. The more direct the calculation, the easier it will be for the neural network to recognize it.</a:t>
            </a:r>
          </a:p>
        </p:txBody>
      </p:sp>
      <p:sp>
        <p:nvSpPr>
          <p:cNvPr id="4" name="Slide Number Placeholder 3"/>
          <p:cNvSpPr>
            <a:spLocks noGrp="1"/>
          </p:cNvSpPr>
          <p:nvPr>
            <p:ph type="sldNum" sz="quarter" idx="5"/>
          </p:nvPr>
        </p:nvSpPr>
        <p:spPr/>
        <p:txBody>
          <a:bodyPr/>
          <a:lstStyle/>
          <a:p>
            <a:fld id="{A93AD357-0C40-4436-9D38-C47D60C1C9C1}" type="slidenum">
              <a:rPr lang="en-US" smtClean="0"/>
              <a:pPr/>
              <a:t>4</a:t>
            </a:fld>
            <a:endParaRPr lang="en-US"/>
          </a:p>
        </p:txBody>
      </p:sp>
    </p:spTree>
    <p:extLst>
      <p:ext uri="{BB962C8B-B14F-4D97-AF65-F5344CB8AC3E}">
        <p14:creationId xmlns:p14="http://schemas.microsoft.com/office/powerpoint/2010/main" val="385557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9293-0FFD-AC5D-FB25-A6A21030F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145EA-C8A6-3B60-DADD-DA6AE0863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D40511-ED86-E1C5-A1DA-107218FAD49E}"/>
              </a:ext>
            </a:extLst>
          </p:cNvPr>
          <p:cNvSpPr>
            <a:spLocks noGrp="1"/>
          </p:cNvSpPr>
          <p:nvPr>
            <p:ph type="body" idx="1"/>
          </p:nvPr>
        </p:nvSpPr>
        <p:spPr/>
        <p:txBody>
          <a:bodyPr/>
          <a:lstStyle/>
          <a:p>
            <a:r>
              <a:rPr lang="en-US" dirty="0"/>
              <a:t>So far, we’ve learned a few interesting fusion techniques that we can do with matrix math. To finish this series on fusion, we’ll deep dive  Vision Language models, and the fusion technique that powers them: model projection.</a:t>
            </a:r>
          </a:p>
        </p:txBody>
      </p:sp>
      <p:sp>
        <p:nvSpPr>
          <p:cNvPr id="4" name="Slide Number Placeholder 3">
            <a:extLst>
              <a:ext uri="{FF2B5EF4-FFF2-40B4-BE49-F238E27FC236}">
                <a16:creationId xmlns:a16="http://schemas.microsoft.com/office/drawing/2014/main" id="{A3297149-AD9E-8F13-8A7B-492DE8012236}"/>
              </a:ext>
            </a:extLst>
          </p:cNvPr>
          <p:cNvSpPr>
            <a:spLocks noGrp="1"/>
          </p:cNvSpPr>
          <p:nvPr>
            <p:ph type="sldNum" sz="quarter" idx="5"/>
          </p:nvPr>
        </p:nvSpPr>
        <p:spPr/>
        <p:txBody>
          <a:bodyPr/>
          <a:lstStyle/>
          <a:p>
            <a:fld id="{A93AD357-0C40-4436-9D38-C47D60C1C9C1}" type="slidenum">
              <a:rPr lang="en-US" smtClean="0"/>
              <a:pPr/>
              <a:t>5</a:t>
            </a:fld>
            <a:endParaRPr lang="en-US"/>
          </a:p>
        </p:txBody>
      </p:sp>
    </p:spTree>
    <p:extLst>
      <p:ext uri="{BB962C8B-B14F-4D97-AF65-F5344CB8AC3E}">
        <p14:creationId xmlns:p14="http://schemas.microsoft.com/office/powerpoint/2010/main" val="380941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say we want to make a model that can reason about images as well as a Large Language Model can reason about text. </a:t>
            </a:r>
          </a:p>
        </p:txBody>
      </p:sp>
      <p:sp>
        <p:nvSpPr>
          <p:cNvPr id="4" name="Slide Number Placeholder 3"/>
          <p:cNvSpPr>
            <a:spLocks noGrp="1"/>
          </p:cNvSpPr>
          <p:nvPr>
            <p:ph type="sldNum" sz="quarter" idx="5"/>
          </p:nvPr>
        </p:nvSpPr>
        <p:spPr/>
        <p:txBody>
          <a:bodyPr/>
          <a:lstStyle/>
          <a:p>
            <a:fld id="{A93AD357-0C40-4436-9D38-C47D60C1C9C1}" type="slidenum">
              <a:rPr lang="en-US" smtClean="0"/>
              <a:pPr/>
              <a:t>6</a:t>
            </a:fld>
            <a:endParaRPr lang="en-US"/>
          </a:p>
        </p:txBody>
      </p:sp>
    </p:spTree>
    <p:extLst>
      <p:ext uri="{BB962C8B-B14F-4D97-AF65-F5344CB8AC3E}">
        <p14:creationId xmlns:p14="http://schemas.microsoft.com/office/powerpoint/2010/main" val="385557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66030-1ED0-F1BC-33CC-9E32C92AA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D47C8-AD18-1CCB-C6ED-08A81AFBC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2AA50-87E0-AC6A-49E4-684B1184A40E}"/>
              </a:ext>
            </a:extLst>
          </p:cNvPr>
          <p:cNvSpPr>
            <a:spLocks noGrp="1"/>
          </p:cNvSpPr>
          <p:nvPr>
            <p:ph type="body" idx="1"/>
          </p:nvPr>
        </p:nvSpPr>
        <p:spPr/>
        <p:txBody>
          <a:bodyPr/>
          <a:lstStyle/>
          <a:p>
            <a:r>
              <a:rPr lang="en-US" dirty="0"/>
              <a:t>Large Language Models took a lot of hard work and research in order to be created. It would be extremely convenient if we could take advantage of that hard work.</a:t>
            </a:r>
          </a:p>
        </p:txBody>
      </p:sp>
      <p:sp>
        <p:nvSpPr>
          <p:cNvPr id="4" name="Slide Number Placeholder 3">
            <a:extLst>
              <a:ext uri="{FF2B5EF4-FFF2-40B4-BE49-F238E27FC236}">
                <a16:creationId xmlns:a16="http://schemas.microsoft.com/office/drawing/2014/main" id="{79381630-15BC-1D82-0BCE-B6D0AC11284B}"/>
              </a:ext>
            </a:extLst>
          </p:cNvPr>
          <p:cNvSpPr>
            <a:spLocks noGrp="1"/>
          </p:cNvSpPr>
          <p:nvPr>
            <p:ph type="sldNum" sz="quarter" idx="5"/>
          </p:nvPr>
        </p:nvSpPr>
        <p:spPr/>
        <p:txBody>
          <a:bodyPr/>
          <a:lstStyle/>
          <a:p>
            <a:fld id="{A93AD357-0C40-4436-9D38-C47D60C1C9C1}" type="slidenum">
              <a:rPr lang="en-US" smtClean="0"/>
              <a:pPr/>
              <a:t>7</a:t>
            </a:fld>
            <a:endParaRPr lang="en-US"/>
          </a:p>
        </p:txBody>
      </p:sp>
    </p:spTree>
    <p:extLst>
      <p:ext uri="{BB962C8B-B14F-4D97-AF65-F5344CB8AC3E}">
        <p14:creationId xmlns:p14="http://schemas.microsoft.com/office/powerpoint/2010/main" val="916190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F3CC-F2FC-B2D0-FAD1-4F3437F5F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B0FB6-4516-5DA7-7F34-46FC5F889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308E2-8044-0CD4-2618-D888E60CFBC6}"/>
              </a:ext>
            </a:extLst>
          </p:cNvPr>
          <p:cNvSpPr>
            <a:spLocks noGrp="1"/>
          </p:cNvSpPr>
          <p:nvPr>
            <p:ph type="body" idx="1"/>
          </p:nvPr>
        </p:nvSpPr>
        <p:spPr/>
        <p:txBody>
          <a:bodyPr/>
          <a:lstStyle/>
          <a:p>
            <a:r>
              <a:rPr lang="en-US" dirty="0"/>
              <a:t>What if we could convert image embeddings into text embeddings? </a:t>
            </a:r>
          </a:p>
        </p:txBody>
      </p:sp>
      <p:sp>
        <p:nvSpPr>
          <p:cNvPr id="4" name="Slide Number Placeholder 3">
            <a:extLst>
              <a:ext uri="{FF2B5EF4-FFF2-40B4-BE49-F238E27FC236}">
                <a16:creationId xmlns:a16="http://schemas.microsoft.com/office/drawing/2014/main" id="{3D3E3B10-894E-9B00-2BB1-0B82898459DF}"/>
              </a:ext>
            </a:extLst>
          </p:cNvPr>
          <p:cNvSpPr>
            <a:spLocks noGrp="1"/>
          </p:cNvSpPr>
          <p:nvPr>
            <p:ph type="sldNum" sz="quarter" idx="5"/>
          </p:nvPr>
        </p:nvSpPr>
        <p:spPr/>
        <p:txBody>
          <a:bodyPr/>
          <a:lstStyle/>
          <a:p>
            <a:fld id="{A93AD357-0C40-4436-9D38-C47D60C1C9C1}" type="slidenum">
              <a:rPr lang="en-US" smtClean="0"/>
              <a:pPr/>
              <a:t>8</a:t>
            </a:fld>
            <a:endParaRPr lang="en-US"/>
          </a:p>
        </p:txBody>
      </p:sp>
    </p:spTree>
    <p:extLst>
      <p:ext uri="{BB962C8B-B14F-4D97-AF65-F5344CB8AC3E}">
        <p14:creationId xmlns:p14="http://schemas.microsoft.com/office/powerpoint/2010/main" val="3963743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FF4D-946C-31BC-6519-C728B0024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47223-2E56-541D-9724-A388114CF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D31218-F5F0-4144-BEEE-B902A4A8FC3F}"/>
              </a:ext>
            </a:extLst>
          </p:cNvPr>
          <p:cNvSpPr>
            <a:spLocks noGrp="1"/>
          </p:cNvSpPr>
          <p:nvPr>
            <p:ph type="body" idx="1"/>
          </p:nvPr>
        </p:nvSpPr>
        <p:spPr/>
        <p:txBody>
          <a:bodyPr/>
          <a:lstStyle/>
          <a:p>
            <a:r>
              <a:rPr lang="en-US" dirty="0"/>
              <a:t>In the landmark paper “Visual Instruction Tuning”, researching propose a method to do this. It sounds simple on paper, but can be surprisingly challenging in practice. Let’s see how.</a:t>
            </a:r>
          </a:p>
          <a:p>
            <a:endParaRPr lang="en-US" dirty="0"/>
          </a:p>
          <a:p>
            <a:r>
              <a:rPr lang="en-US" dirty="0"/>
              <a:t>https://arxiv.org/abs/2304.08485</a:t>
            </a:r>
          </a:p>
        </p:txBody>
      </p:sp>
      <p:sp>
        <p:nvSpPr>
          <p:cNvPr id="4" name="Slide Number Placeholder 3">
            <a:extLst>
              <a:ext uri="{FF2B5EF4-FFF2-40B4-BE49-F238E27FC236}">
                <a16:creationId xmlns:a16="http://schemas.microsoft.com/office/drawing/2014/main" id="{2784975B-9EAF-2FE8-E34E-791E131F5B0C}"/>
              </a:ext>
            </a:extLst>
          </p:cNvPr>
          <p:cNvSpPr>
            <a:spLocks noGrp="1"/>
          </p:cNvSpPr>
          <p:nvPr>
            <p:ph type="sldNum" sz="quarter" idx="5"/>
          </p:nvPr>
        </p:nvSpPr>
        <p:spPr/>
        <p:txBody>
          <a:bodyPr/>
          <a:lstStyle/>
          <a:p>
            <a:fld id="{A93AD357-0C40-4436-9D38-C47D60C1C9C1}" type="slidenum">
              <a:rPr lang="en-US" smtClean="0"/>
              <a:pPr/>
              <a:t>9</a:t>
            </a:fld>
            <a:endParaRPr lang="en-US"/>
          </a:p>
        </p:txBody>
      </p:sp>
    </p:spTree>
    <p:extLst>
      <p:ext uri="{BB962C8B-B14F-4D97-AF65-F5344CB8AC3E}">
        <p14:creationId xmlns:p14="http://schemas.microsoft.com/office/powerpoint/2010/main" val="3448099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54A9A-B185-4C88-099E-6B6D53DDA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F6C1-BC98-E1BF-5754-AF53EF1B2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536E0-1307-8DB2-F57B-AC7EAACFD6A5}"/>
              </a:ext>
            </a:extLst>
          </p:cNvPr>
          <p:cNvSpPr>
            <a:spLocks noGrp="1"/>
          </p:cNvSpPr>
          <p:nvPr>
            <p:ph type="body" idx="1"/>
          </p:nvPr>
        </p:nvSpPr>
        <p:spPr/>
        <p:txBody>
          <a:bodyPr/>
          <a:lstStyle/>
          <a:p>
            <a:r>
              <a:rPr lang="en-US" dirty="0"/>
              <a:t>Here’s the theory. Ideally, we’d like some way to image encodings into language encodings.</a:t>
            </a:r>
          </a:p>
        </p:txBody>
      </p:sp>
      <p:sp>
        <p:nvSpPr>
          <p:cNvPr id="4" name="Slide Number Placeholder 3">
            <a:extLst>
              <a:ext uri="{FF2B5EF4-FFF2-40B4-BE49-F238E27FC236}">
                <a16:creationId xmlns:a16="http://schemas.microsoft.com/office/drawing/2014/main" id="{BCD95C44-6938-3D3C-A034-BE835E734323}"/>
              </a:ext>
            </a:extLst>
          </p:cNvPr>
          <p:cNvSpPr>
            <a:spLocks noGrp="1"/>
          </p:cNvSpPr>
          <p:nvPr>
            <p:ph type="sldNum" sz="quarter" idx="5"/>
          </p:nvPr>
        </p:nvSpPr>
        <p:spPr/>
        <p:txBody>
          <a:bodyPr/>
          <a:lstStyle/>
          <a:p>
            <a:fld id="{A93AD357-0C40-4436-9D38-C47D60C1C9C1}" type="slidenum">
              <a:rPr lang="en-US" smtClean="0"/>
              <a:pPr/>
              <a:t>10</a:t>
            </a:fld>
            <a:endParaRPr lang="en-US"/>
          </a:p>
        </p:txBody>
      </p:sp>
    </p:spTree>
    <p:extLst>
      <p:ext uri="{BB962C8B-B14F-4D97-AF65-F5344CB8AC3E}">
        <p14:creationId xmlns:p14="http://schemas.microsoft.com/office/powerpoint/2010/main" val="2796005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237FE-7084-35E4-9A0D-AF14622FE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7E9AD-52CA-FC61-1DD1-EF05FA5FC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C6478-C186-C25C-BA7D-DBA0577F5195}"/>
              </a:ext>
            </a:extLst>
          </p:cNvPr>
          <p:cNvSpPr>
            <a:spLocks noGrp="1"/>
          </p:cNvSpPr>
          <p:nvPr>
            <p:ph type="body" idx="1"/>
          </p:nvPr>
        </p:nvSpPr>
        <p:spPr/>
        <p:txBody>
          <a:bodyPr/>
          <a:lstStyle/>
          <a:p>
            <a:r>
              <a:rPr lang="en-US" dirty="0"/>
              <a:t>Here’s the formula the paper gives. Let’s say we have an image, called </a:t>
            </a:r>
            <a:r>
              <a:rPr lang="en-US" dirty="0" err="1"/>
              <a:t>X_v</a:t>
            </a:r>
            <a:r>
              <a:rPr lang="en-US" dirty="0"/>
              <a:t>, and we can get an encoding for that image, called </a:t>
            </a:r>
            <a:r>
              <a:rPr lang="en-US" dirty="0" err="1"/>
              <a:t>Z_v</a:t>
            </a:r>
            <a:r>
              <a:rPr lang="en-US" dirty="0"/>
              <a:t>. The paper proposes creating a trainable matrix, W, that we can multiply the image encodings with to make corresponding text encodings: </a:t>
            </a:r>
            <a:r>
              <a:rPr lang="en-US" dirty="0" err="1"/>
              <a:t>H_v</a:t>
            </a:r>
            <a:r>
              <a:rPr lang="en-US" dirty="0"/>
              <a:t>. We can then concatenate </a:t>
            </a:r>
            <a:r>
              <a:rPr lang="en-US" dirty="0" err="1"/>
              <a:t>H_v</a:t>
            </a:r>
            <a:r>
              <a:rPr lang="en-US" dirty="0"/>
              <a:t> with any text encoding for any text we’d like to analyze with our image.</a:t>
            </a:r>
          </a:p>
        </p:txBody>
      </p:sp>
      <p:sp>
        <p:nvSpPr>
          <p:cNvPr id="4" name="Slide Number Placeholder 3">
            <a:extLst>
              <a:ext uri="{FF2B5EF4-FFF2-40B4-BE49-F238E27FC236}">
                <a16:creationId xmlns:a16="http://schemas.microsoft.com/office/drawing/2014/main" id="{DF6B5515-EF83-2FF0-B22C-B733EECC9591}"/>
              </a:ext>
            </a:extLst>
          </p:cNvPr>
          <p:cNvSpPr>
            <a:spLocks noGrp="1"/>
          </p:cNvSpPr>
          <p:nvPr>
            <p:ph type="sldNum" sz="quarter" idx="5"/>
          </p:nvPr>
        </p:nvSpPr>
        <p:spPr/>
        <p:txBody>
          <a:bodyPr/>
          <a:lstStyle/>
          <a:p>
            <a:fld id="{A93AD357-0C40-4436-9D38-C47D60C1C9C1}" type="slidenum">
              <a:rPr lang="en-US" smtClean="0"/>
              <a:pPr/>
              <a:t>11</a:t>
            </a:fld>
            <a:endParaRPr lang="en-US"/>
          </a:p>
        </p:txBody>
      </p:sp>
    </p:spTree>
    <p:extLst>
      <p:ext uri="{BB962C8B-B14F-4D97-AF65-F5344CB8AC3E}">
        <p14:creationId xmlns:p14="http://schemas.microsoft.com/office/powerpoint/2010/main" val="1333662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09F8-2307-6FC5-4F7B-2A23B33F3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14AB9-301C-74C9-4C97-1CED6675B4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0A017-056D-1172-FCCF-5471503DDC4D}"/>
              </a:ext>
            </a:extLst>
          </p:cNvPr>
          <p:cNvSpPr>
            <a:spLocks noGrp="1"/>
          </p:cNvSpPr>
          <p:nvPr>
            <p:ph type="body" idx="1"/>
          </p:nvPr>
        </p:nvSpPr>
        <p:spPr/>
        <p:txBody>
          <a:bodyPr/>
          <a:lstStyle/>
          <a:p>
            <a:r>
              <a:rPr lang="en-US" dirty="0"/>
              <a:t>The paper does not go into much detail on how this trainable matrix is created, so let’s see if we can deduce what it is. First, let’s take a look at the physics definition of Projection.</a:t>
            </a:r>
          </a:p>
        </p:txBody>
      </p:sp>
      <p:sp>
        <p:nvSpPr>
          <p:cNvPr id="4" name="Slide Number Placeholder 3">
            <a:extLst>
              <a:ext uri="{FF2B5EF4-FFF2-40B4-BE49-F238E27FC236}">
                <a16:creationId xmlns:a16="http://schemas.microsoft.com/office/drawing/2014/main" id="{338EC3E1-6D80-997F-7FDA-58D7CCD16BA7}"/>
              </a:ext>
            </a:extLst>
          </p:cNvPr>
          <p:cNvSpPr>
            <a:spLocks noGrp="1"/>
          </p:cNvSpPr>
          <p:nvPr>
            <p:ph type="sldNum" sz="quarter" idx="5"/>
          </p:nvPr>
        </p:nvSpPr>
        <p:spPr/>
        <p:txBody>
          <a:bodyPr/>
          <a:lstStyle/>
          <a:p>
            <a:fld id="{A93AD357-0C40-4436-9D38-C47D60C1C9C1}" type="slidenum">
              <a:rPr lang="en-US" smtClean="0"/>
              <a:pPr/>
              <a:t>12</a:t>
            </a:fld>
            <a:endParaRPr lang="en-US"/>
          </a:p>
        </p:txBody>
      </p:sp>
    </p:spTree>
    <p:extLst>
      <p:ext uri="{BB962C8B-B14F-4D97-AF65-F5344CB8AC3E}">
        <p14:creationId xmlns:p14="http://schemas.microsoft.com/office/powerpoint/2010/main" val="419073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04A5-FBA0-CA26-B113-CFC06A941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183E1-F025-F6BF-3E2D-469C23F75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8149D-29F3-FBA3-C130-1E18A46783E3}"/>
              </a:ext>
            </a:extLst>
          </p:cNvPr>
          <p:cNvSpPr>
            <a:spLocks noGrp="1"/>
          </p:cNvSpPr>
          <p:nvPr>
            <p:ph type="body" idx="1"/>
          </p:nvPr>
        </p:nvSpPr>
        <p:spPr/>
        <p:txBody>
          <a:bodyPr/>
          <a:lstStyle/>
          <a:p>
            <a:r>
              <a:rPr lang="en-US" dirty="0"/>
              <a:t>So what exactly does projection mean? Almost any matrix operation has a physics or video game-based example of it, so let’s use one of those to deepen our understanding. Let’s say we want to recreate the physics in the NVIDIA Marbles demo. If you haven’t played this game, I recommend installing Omniverse and checking it out!</a:t>
            </a:r>
          </a:p>
        </p:txBody>
      </p:sp>
      <p:sp>
        <p:nvSpPr>
          <p:cNvPr id="4" name="Slide Number Placeholder 3">
            <a:extLst>
              <a:ext uri="{FF2B5EF4-FFF2-40B4-BE49-F238E27FC236}">
                <a16:creationId xmlns:a16="http://schemas.microsoft.com/office/drawing/2014/main" id="{13C612ED-D455-8DE1-1A4A-A479D4946126}"/>
              </a:ext>
            </a:extLst>
          </p:cNvPr>
          <p:cNvSpPr>
            <a:spLocks noGrp="1"/>
          </p:cNvSpPr>
          <p:nvPr>
            <p:ph type="sldNum" sz="quarter" idx="5"/>
          </p:nvPr>
        </p:nvSpPr>
        <p:spPr/>
        <p:txBody>
          <a:bodyPr/>
          <a:lstStyle/>
          <a:p>
            <a:fld id="{A93AD357-0C40-4436-9D38-C47D60C1C9C1}" type="slidenum">
              <a:rPr lang="en-US" smtClean="0"/>
              <a:pPr/>
              <a:t>13</a:t>
            </a:fld>
            <a:endParaRPr lang="en-US"/>
          </a:p>
        </p:txBody>
      </p:sp>
    </p:spTree>
    <p:extLst>
      <p:ext uri="{BB962C8B-B14F-4D97-AF65-F5344CB8AC3E}">
        <p14:creationId xmlns:p14="http://schemas.microsoft.com/office/powerpoint/2010/main" val="1876623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6594-31A1-C8D6-E976-A184A38A1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28E2F-5F61-B7B4-CA0D-29CC6BEFB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AA38B-2661-A403-4FDB-0B7787FEF46A}"/>
              </a:ext>
            </a:extLst>
          </p:cNvPr>
          <p:cNvSpPr>
            <a:spLocks noGrp="1"/>
          </p:cNvSpPr>
          <p:nvPr>
            <p:ph type="body" idx="1"/>
          </p:nvPr>
        </p:nvSpPr>
        <p:spPr/>
        <p:txBody>
          <a:bodyPr/>
          <a:lstStyle/>
          <a:p>
            <a:r>
              <a:rPr lang="en-US" dirty="0"/>
              <a:t>Here’s a two dimensional simplification. Let’s say we have a marble on a slope, and we’d like to calculate where the marble should go next.</a:t>
            </a:r>
          </a:p>
        </p:txBody>
      </p:sp>
      <p:sp>
        <p:nvSpPr>
          <p:cNvPr id="4" name="Slide Number Placeholder 3">
            <a:extLst>
              <a:ext uri="{FF2B5EF4-FFF2-40B4-BE49-F238E27FC236}">
                <a16:creationId xmlns:a16="http://schemas.microsoft.com/office/drawing/2014/main" id="{61B967A0-80AF-CA07-C9D3-C9B9A50684D1}"/>
              </a:ext>
            </a:extLst>
          </p:cNvPr>
          <p:cNvSpPr>
            <a:spLocks noGrp="1"/>
          </p:cNvSpPr>
          <p:nvPr>
            <p:ph type="sldNum" sz="quarter" idx="5"/>
          </p:nvPr>
        </p:nvSpPr>
        <p:spPr/>
        <p:txBody>
          <a:bodyPr/>
          <a:lstStyle/>
          <a:p>
            <a:fld id="{A93AD357-0C40-4436-9D38-C47D60C1C9C1}" type="slidenum">
              <a:rPr lang="en-US" smtClean="0"/>
              <a:pPr/>
              <a:t>14</a:t>
            </a:fld>
            <a:endParaRPr lang="en-US"/>
          </a:p>
        </p:txBody>
      </p:sp>
    </p:spTree>
    <p:extLst>
      <p:ext uri="{BB962C8B-B14F-4D97-AF65-F5344CB8AC3E}">
        <p14:creationId xmlns:p14="http://schemas.microsoft.com/office/powerpoint/2010/main" val="610878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6807-B6B7-A32E-803B-DCC3CBB52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BA9AB-FC40-661C-BEB6-7894302EA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6867F-D246-0C9D-C378-570FE36F3BA0}"/>
              </a:ext>
            </a:extLst>
          </p:cNvPr>
          <p:cNvSpPr>
            <a:spLocks noGrp="1"/>
          </p:cNvSpPr>
          <p:nvPr>
            <p:ph type="body" idx="1"/>
          </p:nvPr>
        </p:nvSpPr>
        <p:spPr/>
        <p:txBody>
          <a:bodyPr/>
          <a:lstStyle/>
          <a:p>
            <a:r>
              <a:rPr lang="en-US" dirty="0"/>
              <a:t>If gravity is pushing down on the marble, it should cause the marble to roll down the hill.</a:t>
            </a:r>
          </a:p>
        </p:txBody>
      </p:sp>
      <p:sp>
        <p:nvSpPr>
          <p:cNvPr id="4" name="Slide Number Placeholder 3">
            <a:extLst>
              <a:ext uri="{FF2B5EF4-FFF2-40B4-BE49-F238E27FC236}">
                <a16:creationId xmlns:a16="http://schemas.microsoft.com/office/drawing/2014/main" id="{BF7CFCA6-9645-BD6C-F0D7-585B8FAFC862}"/>
              </a:ext>
            </a:extLst>
          </p:cNvPr>
          <p:cNvSpPr>
            <a:spLocks noGrp="1"/>
          </p:cNvSpPr>
          <p:nvPr>
            <p:ph type="sldNum" sz="quarter" idx="5"/>
          </p:nvPr>
        </p:nvSpPr>
        <p:spPr/>
        <p:txBody>
          <a:bodyPr/>
          <a:lstStyle/>
          <a:p>
            <a:fld id="{A93AD357-0C40-4436-9D38-C47D60C1C9C1}" type="slidenum">
              <a:rPr lang="en-US" smtClean="0"/>
              <a:pPr/>
              <a:t>15</a:t>
            </a:fld>
            <a:endParaRPr lang="en-US"/>
          </a:p>
        </p:txBody>
      </p:sp>
    </p:spTree>
    <p:extLst>
      <p:ext uri="{BB962C8B-B14F-4D97-AF65-F5344CB8AC3E}">
        <p14:creationId xmlns:p14="http://schemas.microsoft.com/office/powerpoint/2010/main" val="2881396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687FC-D209-FC9E-106F-0F9515D96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B145A-A7A6-2D43-2543-BC1934006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1DF28-9586-6716-8C1D-0A95042B6F5F}"/>
              </a:ext>
            </a:extLst>
          </p:cNvPr>
          <p:cNvSpPr>
            <a:spLocks noGrp="1"/>
          </p:cNvSpPr>
          <p:nvPr>
            <p:ph type="body" idx="1"/>
          </p:nvPr>
        </p:nvSpPr>
        <p:spPr/>
        <p:txBody>
          <a:bodyPr/>
          <a:lstStyle/>
          <a:p>
            <a:r>
              <a:rPr lang="en-US" dirty="0"/>
              <a:t>Let’s call gravity u and the slope v</a:t>
            </a:r>
          </a:p>
        </p:txBody>
      </p:sp>
      <p:sp>
        <p:nvSpPr>
          <p:cNvPr id="4" name="Slide Number Placeholder 3">
            <a:extLst>
              <a:ext uri="{FF2B5EF4-FFF2-40B4-BE49-F238E27FC236}">
                <a16:creationId xmlns:a16="http://schemas.microsoft.com/office/drawing/2014/main" id="{DB444157-A09B-99CD-61AC-04FBABC40F0B}"/>
              </a:ext>
            </a:extLst>
          </p:cNvPr>
          <p:cNvSpPr>
            <a:spLocks noGrp="1"/>
          </p:cNvSpPr>
          <p:nvPr>
            <p:ph type="sldNum" sz="quarter" idx="5"/>
          </p:nvPr>
        </p:nvSpPr>
        <p:spPr/>
        <p:txBody>
          <a:bodyPr/>
          <a:lstStyle/>
          <a:p>
            <a:fld id="{A93AD357-0C40-4436-9D38-C47D60C1C9C1}" type="slidenum">
              <a:rPr lang="en-US" smtClean="0"/>
              <a:pPr/>
              <a:t>16</a:t>
            </a:fld>
            <a:endParaRPr lang="en-US"/>
          </a:p>
        </p:txBody>
      </p:sp>
    </p:spTree>
    <p:extLst>
      <p:ext uri="{BB962C8B-B14F-4D97-AF65-F5344CB8AC3E}">
        <p14:creationId xmlns:p14="http://schemas.microsoft.com/office/powerpoint/2010/main" val="2747082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0A55-AF43-B089-AFBF-E584949D4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F7D9F-37A9-D54A-CB7A-239227EE6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943C3-1F88-8DA7-D8BE-0310FF4F56B7}"/>
              </a:ext>
            </a:extLst>
          </p:cNvPr>
          <p:cNvSpPr>
            <a:spLocks noGrp="1"/>
          </p:cNvSpPr>
          <p:nvPr>
            <p:ph type="body" idx="1"/>
          </p:nvPr>
        </p:nvSpPr>
        <p:spPr/>
        <p:txBody>
          <a:bodyPr/>
          <a:lstStyle/>
          <a:p>
            <a:r>
              <a:rPr lang="en-US" dirty="0"/>
              <a:t>We’re going to need the angle between our slope and gravity. To start, we’ll pick a direction for our slope. It doesn’t matter which direction. The math will come to the same result.</a:t>
            </a:r>
          </a:p>
          <a:p>
            <a:endParaRPr lang="en-US" dirty="0"/>
          </a:p>
          <a:p>
            <a:r>
              <a:rPr lang="en-US" dirty="0"/>
              <a:t>To get the angle between our two vectors, we should align their origins so that they’re both extending from the same spot</a:t>
            </a:r>
          </a:p>
        </p:txBody>
      </p:sp>
      <p:sp>
        <p:nvSpPr>
          <p:cNvPr id="4" name="Slide Number Placeholder 3">
            <a:extLst>
              <a:ext uri="{FF2B5EF4-FFF2-40B4-BE49-F238E27FC236}">
                <a16:creationId xmlns:a16="http://schemas.microsoft.com/office/drawing/2014/main" id="{8A04BC8A-A87D-73F5-C47A-43DF6423AD3A}"/>
              </a:ext>
            </a:extLst>
          </p:cNvPr>
          <p:cNvSpPr>
            <a:spLocks noGrp="1"/>
          </p:cNvSpPr>
          <p:nvPr>
            <p:ph type="sldNum" sz="quarter" idx="5"/>
          </p:nvPr>
        </p:nvSpPr>
        <p:spPr/>
        <p:txBody>
          <a:bodyPr/>
          <a:lstStyle/>
          <a:p>
            <a:fld id="{A93AD357-0C40-4436-9D38-C47D60C1C9C1}" type="slidenum">
              <a:rPr lang="en-US" smtClean="0"/>
              <a:pPr/>
              <a:t>17</a:t>
            </a:fld>
            <a:endParaRPr lang="en-US"/>
          </a:p>
        </p:txBody>
      </p:sp>
    </p:spTree>
    <p:extLst>
      <p:ext uri="{BB962C8B-B14F-4D97-AF65-F5344CB8AC3E}">
        <p14:creationId xmlns:p14="http://schemas.microsoft.com/office/powerpoint/2010/main" val="4093565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55759-9128-091B-FD62-A38E1B779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32295-3F04-4B38-4EB7-9D949DD92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EB52D-8BFB-CCFF-1DF1-E79B44375CF1}"/>
              </a:ext>
            </a:extLst>
          </p:cNvPr>
          <p:cNvSpPr>
            <a:spLocks noGrp="1"/>
          </p:cNvSpPr>
          <p:nvPr>
            <p:ph type="body" idx="1"/>
          </p:nvPr>
        </p:nvSpPr>
        <p:spPr/>
        <p:txBody>
          <a:bodyPr/>
          <a:lstStyle/>
          <a:p>
            <a:r>
              <a:rPr lang="en-US" dirty="0"/>
              <a:t>We’re going to need the angle between our slope and gravity, so let’s extend it down a bit.</a:t>
            </a:r>
          </a:p>
        </p:txBody>
      </p:sp>
      <p:sp>
        <p:nvSpPr>
          <p:cNvPr id="4" name="Slide Number Placeholder 3">
            <a:extLst>
              <a:ext uri="{FF2B5EF4-FFF2-40B4-BE49-F238E27FC236}">
                <a16:creationId xmlns:a16="http://schemas.microsoft.com/office/drawing/2014/main" id="{7E33A96B-4B47-B6C8-E395-C5E503FD0611}"/>
              </a:ext>
            </a:extLst>
          </p:cNvPr>
          <p:cNvSpPr>
            <a:spLocks noGrp="1"/>
          </p:cNvSpPr>
          <p:nvPr>
            <p:ph type="sldNum" sz="quarter" idx="5"/>
          </p:nvPr>
        </p:nvSpPr>
        <p:spPr/>
        <p:txBody>
          <a:bodyPr/>
          <a:lstStyle/>
          <a:p>
            <a:fld id="{A93AD357-0C40-4436-9D38-C47D60C1C9C1}" type="slidenum">
              <a:rPr lang="en-US" smtClean="0"/>
              <a:pPr/>
              <a:t>18</a:t>
            </a:fld>
            <a:endParaRPr lang="en-US"/>
          </a:p>
        </p:txBody>
      </p:sp>
    </p:spTree>
    <p:extLst>
      <p:ext uri="{BB962C8B-B14F-4D97-AF65-F5344CB8AC3E}">
        <p14:creationId xmlns:p14="http://schemas.microsoft.com/office/powerpoint/2010/main" val="3638434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35639-73EB-E2A9-950A-DA2A31C7D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60449-6898-D568-4248-06D58FD59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687BA-A254-BC88-4635-E3C062A95948}"/>
              </a:ext>
            </a:extLst>
          </p:cNvPr>
          <p:cNvSpPr>
            <a:spLocks noGrp="1"/>
          </p:cNvSpPr>
          <p:nvPr>
            <p:ph type="body" idx="1"/>
          </p:nvPr>
        </p:nvSpPr>
        <p:spPr/>
        <p:txBody>
          <a:bodyPr/>
          <a:lstStyle/>
          <a:p>
            <a:r>
              <a:rPr lang="en-US" dirty="0"/>
              <a:t>The projection of u onto v is equal to the length of u, times v normalized by its length, times the cosine of the angle between them.</a:t>
            </a:r>
          </a:p>
        </p:txBody>
      </p:sp>
      <p:sp>
        <p:nvSpPr>
          <p:cNvPr id="4" name="Slide Number Placeholder 3">
            <a:extLst>
              <a:ext uri="{FF2B5EF4-FFF2-40B4-BE49-F238E27FC236}">
                <a16:creationId xmlns:a16="http://schemas.microsoft.com/office/drawing/2014/main" id="{1EB500CD-D324-96B2-C896-D52674DAA973}"/>
              </a:ext>
            </a:extLst>
          </p:cNvPr>
          <p:cNvSpPr>
            <a:spLocks noGrp="1"/>
          </p:cNvSpPr>
          <p:nvPr>
            <p:ph type="sldNum" sz="quarter" idx="5"/>
          </p:nvPr>
        </p:nvSpPr>
        <p:spPr/>
        <p:txBody>
          <a:bodyPr/>
          <a:lstStyle/>
          <a:p>
            <a:fld id="{A93AD357-0C40-4436-9D38-C47D60C1C9C1}" type="slidenum">
              <a:rPr lang="en-US" smtClean="0"/>
              <a:pPr/>
              <a:t>19</a:t>
            </a:fld>
            <a:endParaRPr lang="en-US"/>
          </a:p>
        </p:txBody>
      </p:sp>
    </p:spTree>
    <p:extLst>
      <p:ext uri="{BB962C8B-B14F-4D97-AF65-F5344CB8AC3E}">
        <p14:creationId xmlns:p14="http://schemas.microsoft.com/office/powerpoint/2010/main" val="3122809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9398-D5DB-F15C-D414-B0FE0A68A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081B3-57C2-347A-0BD2-B988E5785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6E74E-FF88-B4B6-F319-815DB4877AF6}"/>
              </a:ext>
            </a:extLst>
          </p:cNvPr>
          <p:cNvSpPr>
            <a:spLocks noGrp="1"/>
          </p:cNvSpPr>
          <p:nvPr>
            <p:ph type="body" idx="1"/>
          </p:nvPr>
        </p:nvSpPr>
        <p:spPr/>
        <p:txBody>
          <a:bodyPr/>
          <a:lstStyle/>
          <a:p>
            <a:r>
              <a:rPr lang="en-US" dirty="0"/>
              <a:t>If we plug in our values, we can get that a marble sitting on a slope such as this one would accelerate left .79 units and down .39 units.</a:t>
            </a:r>
          </a:p>
        </p:txBody>
      </p:sp>
      <p:sp>
        <p:nvSpPr>
          <p:cNvPr id="4" name="Slide Number Placeholder 3">
            <a:extLst>
              <a:ext uri="{FF2B5EF4-FFF2-40B4-BE49-F238E27FC236}">
                <a16:creationId xmlns:a16="http://schemas.microsoft.com/office/drawing/2014/main" id="{708D52B5-F292-BD80-C640-F4DB4FB078C5}"/>
              </a:ext>
            </a:extLst>
          </p:cNvPr>
          <p:cNvSpPr>
            <a:spLocks noGrp="1"/>
          </p:cNvSpPr>
          <p:nvPr>
            <p:ph type="sldNum" sz="quarter" idx="5"/>
          </p:nvPr>
        </p:nvSpPr>
        <p:spPr/>
        <p:txBody>
          <a:bodyPr/>
          <a:lstStyle/>
          <a:p>
            <a:fld id="{A93AD357-0C40-4436-9D38-C47D60C1C9C1}" type="slidenum">
              <a:rPr lang="en-US" smtClean="0"/>
              <a:pPr/>
              <a:t>20</a:t>
            </a:fld>
            <a:endParaRPr lang="en-US"/>
          </a:p>
        </p:txBody>
      </p:sp>
    </p:spTree>
    <p:extLst>
      <p:ext uri="{BB962C8B-B14F-4D97-AF65-F5344CB8AC3E}">
        <p14:creationId xmlns:p14="http://schemas.microsoft.com/office/powerpoint/2010/main" val="8329288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D7614-25D0-7700-5A3B-212A8DDD0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F0691-9F68-414E-AD3F-5D80E7197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2488C-AEC6-0240-F373-B0C0D5D52B1A}"/>
              </a:ext>
            </a:extLst>
          </p:cNvPr>
          <p:cNvSpPr>
            <a:spLocks noGrp="1"/>
          </p:cNvSpPr>
          <p:nvPr>
            <p:ph type="body" idx="1"/>
          </p:nvPr>
        </p:nvSpPr>
        <p:spPr/>
        <p:txBody>
          <a:bodyPr/>
          <a:lstStyle/>
          <a:p>
            <a:r>
              <a:rPr lang="en-US" dirty="0"/>
              <a:t>By the way, the exact length of v doesn’t matter as long as we have the correct ratio of horizontal to vertical change.</a:t>
            </a:r>
          </a:p>
        </p:txBody>
      </p:sp>
      <p:sp>
        <p:nvSpPr>
          <p:cNvPr id="4" name="Slide Number Placeholder 3">
            <a:extLst>
              <a:ext uri="{FF2B5EF4-FFF2-40B4-BE49-F238E27FC236}">
                <a16:creationId xmlns:a16="http://schemas.microsoft.com/office/drawing/2014/main" id="{2FA8DA7F-8D44-D32F-2EC1-81024B480188}"/>
              </a:ext>
            </a:extLst>
          </p:cNvPr>
          <p:cNvSpPr>
            <a:spLocks noGrp="1"/>
          </p:cNvSpPr>
          <p:nvPr>
            <p:ph type="sldNum" sz="quarter" idx="5"/>
          </p:nvPr>
        </p:nvSpPr>
        <p:spPr/>
        <p:txBody>
          <a:bodyPr/>
          <a:lstStyle/>
          <a:p>
            <a:fld id="{A93AD357-0C40-4436-9D38-C47D60C1C9C1}" type="slidenum">
              <a:rPr lang="en-US" smtClean="0"/>
              <a:pPr/>
              <a:t>21</a:t>
            </a:fld>
            <a:endParaRPr lang="en-US"/>
          </a:p>
        </p:txBody>
      </p:sp>
    </p:spTree>
    <p:extLst>
      <p:ext uri="{BB962C8B-B14F-4D97-AF65-F5344CB8AC3E}">
        <p14:creationId xmlns:p14="http://schemas.microsoft.com/office/powerpoint/2010/main" val="757375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74418-395C-6DE8-F187-CBF06136A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6992C-3AF6-D81C-822F-64371224A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96172-29EF-8EBD-77A3-2DC39FA30705}"/>
              </a:ext>
            </a:extLst>
          </p:cNvPr>
          <p:cNvSpPr>
            <a:spLocks noGrp="1"/>
          </p:cNvSpPr>
          <p:nvPr>
            <p:ph type="body" idx="1"/>
          </p:nvPr>
        </p:nvSpPr>
        <p:spPr/>
        <p:txBody>
          <a:bodyPr/>
          <a:lstStyle/>
          <a:p>
            <a:r>
              <a:rPr lang="en-US" dirty="0"/>
              <a:t>Also, remember how earlier in the course, we mentioned how the cosine similarity can be calculated using the dot product?</a:t>
            </a:r>
          </a:p>
        </p:txBody>
      </p:sp>
      <p:sp>
        <p:nvSpPr>
          <p:cNvPr id="4" name="Slide Number Placeholder 3">
            <a:extLst>
              <a:ext uri="{FF2B5EF4-FFF2-40B4-BE49-F238E27FC236}">
                <a16:creationId xmlns:a16="http://schemas.microsoft.com/office/drawing/2014/main" id="{11641A49-DDFA-DE4E-5F89-D214E10A00F2}"/>
              </a:ext>
            </a:extLst>
          </p:cNvPr>
          <p:cNvSpPr>
            <a:spLocks noGrp="1"/>
          </p:cNvSpPr>
          <p:nvPr>
            <p:ph type="sldNum" sz="quarter" idx="5"/>
          </p:nvPr>
        </p:nvSpPr>
        <p:spPr/>
        <p:txBody>
          <a:bodyPr/>
          <a:lstStyle/>
          <a:p>
            <a:fld id="{A93AD357-0C40-4436-9D38-C47D60C1C9C1}" type="slidenum">
              <a:rPr lang="en-US" smtClean="0"/>
              <a:pPr/>
              <a:t>22</a:t>
            </a:fld>
            <a:endParaRPr lang="en-US"/>
          </a:p>
        </p:txBody>
      </p:sp>
    </p:spTree>
    <p:extLst>
      <p:ext uri="{BB962C8B-B14F-4D97-AF65-F5344CB8AC3E}">
        <p14:creationId xmlns:p14="http://schemas.microsoft.com/office/powerpoint/2010/main" val="1568614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9D5F-914E-C1D5-942A-6FC43B027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E96C2-1B04-838C-3C97-B82FC2C80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9165D-23CF-6749-F491-41757970C972}"/>
              </a:ext>
            </a:extLst>
          </p:cNvPr>
          <p:cNvSpPr>
            <a:spLocks noGrp="1"/>
          </p:cNvSpPr>
          <p:nvPr>
            <p:ph type="body" idx="1"/>
          </p:nvPr>
        </p:nvSpPr>
        <p:spPr/>
        <p:txBody>
          <a:bodyPr/>
          <a:lstStyle/>
          <a:p>
            <a:r>
              <a:rPr lang="en-US" dirty="0"/>
              <a:t>We can use dot products instead of a cosine here. Isn’t the symmetry in the numerator and denominator interesting? I believe this is what mathematicians call an “elegant solution”.</a:t>
            </a:r>
          </a:p>
        </p:txBody>
      </p:sp>
      <p:sp>
        <p:nvSpPr>
          <p:cNvPr id="4" name="Slide Number Placeholder 3">
            <a:extLst>
              <a:ext uri="{FF2B5EF4-FFF2-40B4-BE49-F238E27FC236}">
                <a16:creationId xmlns:a16="http://schemas.microsoft.com/office/drawing/2014/main" id="{40D8FCCF-2C6A-2DF2-43B0-BD9F387E7D29}"/>
              </a:ext>
            </a:extLst>
          </p:cNvPr>
          <p:cNvSpPr>
            <a:spLocks noGrp="1"/>
          </p:cNvSpPr>
          <p:nvPr>
            <p:ph type="sldNum" sz="quarter" idx="5"/>
          </p:nvPr>
        </p:nvSpPr>
        <p:spPr/>
        <p:txBody>
          <a:bodyPr/>
          <a:lstStyle/>
          <a:p>
            <a:fld id="{A93AD357-0C40-4436-9D38-C47D60C1C9C1}" type="slidenum">
              <a:rPr lang="en-US" smtClean="0"/>
              <a:pPr/>
              <a:t>23</a:t>
            </a:fld>
            <a:endParaRPr lang="en-US"/>
          </a:p>
        </p:txBody>
      </p:sp>
    </p:spTree>
    <p:extLst>
      <p:ext uri="{BB962C8B-B14F-4D97-AF65-F5344CB8AC3E}">
        <p14:creationId xmlns:p14="http://schemas.microsoft.com/office/powerpoint/2010/main" val="695777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60E36-2C9E-BC15-25A6-35FC88ED73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9A55E-2330-629C-A335-AC458E08A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E5176-3275-FA22-6DC6-64E17F5B5CDD}"/>
              </a:ext>
            </a:extLst>
          </p:cNvPr>
          <p:cNvSpPr>
            <a:spLocks noGrp="1"/>
          </p:cNvSpPr>
          <p:nvPr>
            <p:ph type="body" idx="1"/>
          </p:nvPr>
        </p:nvSpPr>
        <p:spPr/>
        <p:txBody>
          <a:bodyPr/>
          <a:lstStyle/>
          <a:p>
            <a:r>
              <a:rPr lang="en-US" dirty="0"/>
              <a:t>Now that we know the physics inspiration, let’s see how Llama uses projection.</a:t>
            </a:r>
          </a:p>
        </p:txBody>
      </p:sp>
      <p:sp>
        <p:nvSpPr>
          <p:cNvPr id="4" name="Slide Number Placeholder 3">
            <a:extLst>
              <a:ext uri="{FF2B5EF4-FFF2-40B4-BE49-F238E27FC236}">
                <a16:creationId xmlns:a16="http://schemas.microsoft.com/office/drawing/2014/main" id="{ED72A41D-4DAA-A32A-44A1-43F4266698CC}"/>
              </a:ext>
            </a:extLst>
          </p:cNvPr>
          <p:cNvSpPr>
            <a:spLocks noGrp="1"/>
          </p:cNvSpPr>
          <p:nvPr>
            <p:ph type="sldNum" sz="quarter" idx="5"/>
          </p:nvPr>
        </p:nvSpPr>
        <p:spPr/>
        <p:txBody>
          <a:bodyPr/>
          <a:lstStyle/>
          <a:p>
            <a:fld id="{A93AD357-0C40-4436-9D38-C47D60C1C9C1}" type="slidenum">
              <a:rPr lang="en-US" smtClean="0"/>
              <a:pPr/>
              <a:t>24</a:t>
            </a:fld>
            <a:endParaRPr lang="en-US"/>
          </a:p>
        </p:txBody>
      </p:sp>
    </p:spTree>
    <p:extLst>
      <p:ext uri="{BB962C8B-B14F-4D97-AF65-F5344CB8AC3E}">
        <p14:creationId xmlns:p14="http://schemas.microsoft.com/office/powerpoint/2010/main" val="3696028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5421-4AC7-6217-E496-D128E7022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A20CE-68FF-579C-D2E0-0C57C0FF41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5A8B71-E1A5-F9EB-2022-1160D4730D31}"/>
              </a:ext>
            </a:extLst>
          </p:cNvPr>
          <p:cNvSpPr>
            <a:spLocks noGrp="1"/>
          </p:cNvSpPr>
          <p:nvPr>
            <p:ph type="body" idx="1"/>
          </p:nvPr>
        </p:nvSpPr>
        <p:spPr/>
        <p:txBody>
          <a:bodyPr/>
          <a:lstStyle/>
          <a:p>
            <a:r>
              <a:rPr lang="en-US" dirty="0"/>
              <a:t>Now that we’ve gone over the physical definition of projection, let’s get a little more abstract.</a:t>
            </a:r>
          </a:p>
        </p:txBody>
      </p:sp>
      <p:sp>
        <p:nvSpPr>
          <p:cNvPr id="4" name="Slide Number Placeholder 3">
            <a:extLst>
              <a:ext uri="{FF2B5EF4-FFF2-40B4-BE49-F238E27FC236}">
                <a16:creationId xmlns:a16="http://schemas.microsoft.com/office/drawing/2014/main" id="{E6E966C5-0D39-0359-6AE0-35D67053C4A4}"/>
              </a:ext>
            </a:extLst>
          </p:cNvPr>
          <p:cNvSpPr>
            <a:spLocks noGrp="1"/>
          </p:cNvSpPr>
          <p:nvPr>
            <p:ph type="sldNum" sz="quarter" idx="5"/>
          </p:nvPr>
        </p:nvSpPr>
        <p:spPr/>
        <p:txBody>
          <a:bodyPr/>
          <a:lstStyle/>
          <a:p>
            <a:fld id="{A93AD357-0C40-4436-9D38-C47D60C1C9C1}" type="slidenum">
              <a:rPr lang="en-US" smtClean="0"/>
              <a:pPr/>
              <a:t>25</a:t>
            </a:fld>
            <a:endParaRPr lang="en-US"/>
          </a:p>
        </p:txBody>
      </p:sp>
    </p:spTree>
    <p:extLst>
      <p:ext uri="{BB962C8B-B14F-4D97-AF65-F5344CB8AC3E}">
        <p14:creationId xmlns:p14="http://schemas.microsoft.com/office/powerpoint/2010/main" val="20002724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6D370-0C20-2D3B-2BC3-8DD872EC4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9F800-2319-D670-A59B-72771AE4D2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476C-054E-0639-FF16-0A4283B911F6}"/>
              </a:ext>
            </a:extLst>
          </p:cNvPr>
          <p:cNvSpPr>
            <a:spLocks noGrp="1"/>
          </p:cNvSpPr>
          <p:nvPr>
            <p:ph type="body" idx="1"/>
          </p:nvPr>
        </p:nvSpPr>
        <p:spPr/>
        <p:txBody>
          <a:bodyPr/>
          <a:lstStyle/>
          <a:p>
            <a:r>
              <a:rPr lang="en-US" dirty="0"/>
              <a:t>Instead of projecting one physical vector onto another, perhaps we can project an image vector onto a text vector.</a:t>
            </a:r>
          </a:p>
        </p:txBody>
      </p:sp>
      <p:sp>
        <p:nvSpPr>
          <p:cNvPr id="4" name="Slide Number Placeholder 3">
            <a:extLst>
              <a:ext uri="{FF2B5EF4-FFF2-40B4-BE49-F238E27FC236}">
                <a16:creationId xmlns:a16="http://schemas.microsoft.com/office/drawing/2014/main" id="{2B5A6818-BA0D-5FEF-99B2-92807BF2441E}"/>
              </a:ext>
            </a:extLst>
          </p:cNvPr>
          <p:cNvSpPr>
            <a:spLocks noGrp="1"/>
          </p:cNvSpPr>
          <p:nvPr>
            <p:ph type="sldNum" sz="quarter" idx="5"/>
          </p:nvPr>
        </p:nvSpPr>
        <p:spPr/>
        <p:txBody>
          <a:bodyPr/>
          <a:lstStyle/>
          <a:p>
            <a:fld id="{A93AD357-0C40-4436-9D38-C47D60C1C9C1}" type="slidenum">
              <a:rPr lang="en-US" smtClean="0"/>
              <a:pPr/>
              <a:t>26</a:t>
            </a:fld>
            <a:endParaRPr lang="en-US"/>
          </a:p>
        </p:txBody>
      </p:sp>
    </p:spTree>
    <p:extLst>
      <p:ext uri="{BB962C8B-B14F-4D97-AF65-F5344CB8AC3E}">
        <p14:creationId xmlns:p14="http://schemas.microsoft.com/office/powerpoint/2010/main" val="2888300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5AD84-AA8E-13B0-6382-B575D79B2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1FF76-122A-8BDE-5F36-C1DEAF074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AD26C-D0AA-C84C-85C5-9593164E8F33}"/>
              </a:ext>
            </a:extLst>
          </p:cNvPr>
          <p:cNvSpPr>
            <a:spLocks noGrp="1"/>
          </p:cNvSpPr>
          <p:nvPr>
            <p:ph type="body" idx="1"/>
          </p:nvPr>
        </p:nvSpPr>
        <p:spPr/>
        <p:txBody>
          <a:bodyPr/>
          <a:lstStyle/>
          <a:p>
            <a:r>
              <a:rPr lang="en-US" dirty="0"/>
              <a:t>This time, we’ll try to find some sequence of matrix operations that we will call W. We’re still trying to map one vector onto another, but instead, our goal is to make a multivariate prediction </a:t>
            </a:r>
            <a:r>
              <a:rPr lang="en-US" dirty="0" err="1"/>
              <a:t>y_hat</a:t>
            </a:r>
            <a:r>
              <a:rPr lang="en-US" dirty="0"/>
              <a:t> based on our input x. It doesn’t matter what method we use to do it as long as our prediction </a:t>
            </a:r>
            <a:r>
              <a:rPr lang="en-US" dirty="0" err="1"/>
              <a:t>y_hat</a:t>
            </a:r>
            <a:r>
              <a:rPr lang="en-US" dirty="0"/>
              <a:t> is close to what we’re trying to predict: y.</a:t>
            </a:r>
          </a:p>
          <a:p>
            <a:endParaRPr lang="en-US" dirty="0"/>
          </a:p>
          <a:p>
            <a:r>
              <a:rPr lang="en-US" dirty="0"/>
              <a:t>Because of how flexible this approach is, we can convert vectors from some number of dimensions into a vector of a different number of dimensions. So if we want to project a 4 dimensional vector onto a 3 dimensional space, we could try to find a 4 by 3 matrix to matrix multiply with. </a:t>
            </a:r>
          </a:p>
        </p:txBody>
      </p:sp>
      <p:sp>
        <p:nvSpPr>
          <p:cNvPr id="4" name="Slide Number Placeholder 3">
            <a:extLst>
              <a:ext uri="{FF2B5EF4-FFF2-40B4-BE49-F238E27FC236}">
                <a16:creationId xmlns:a16="http://schemas.microsoft.com/office/drawing/2014/main" id="{D1609BA5-93EE-CC27-2BC7-9FA631A6AF3C}"/>
              </a:ext>
            </a:extLst>
          </p:cNvPr>
          <p:cNvSpPr>
            <a:spLocks noGrp="1"/>
          </p:cNvSpPr>
          <p:nvPr>
            <p:ph type="sldNum" sz="quarter" idx="5"/>
          </p:nvPr>
        </p:nvSpPr>
        <p:spPr/>
        <p:txBody>
          <a:bodyPr/>
          <a:lstStyle/>
          <a:p>
            <a:fld id="{A93AD357-0C40-4436-9D38-C47D60C1C9C1}" type="slidenum">
              <a:rPr lang="en-US" smtClean="0"/>
              <a:pPr/>
              <a:t>27</a:t>
            </a:fld>
            <a:endParaRPr lang="en-US"/>
          </a:p>
        </p:txBody>
      </p:sp>
    </p:spTree>
    <p:extLst>
      <p:ext uri="{BB962C8B-B14F-4D97-AF65-F5344CB8AC3E}">
        <p14:creationId xmlns:p14="http://schemas.microsoft.com/office/powerpoint/2010/main" val="3634902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BD8EF-1AF2-3E42-D013-AAF10AB77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3D168-1CF6-9C93-DFBA-652BEE3FCF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2D3AF-5F36-944C-F131-7E5169B32A84}"/>
              </a:ext>
            </a:extLst>
          </p:cNvPr>
          <p:cNvSpPr>
            <a:spLocks noGrp="1"/>
          </p:cNvSpPr>
          <p:nvPr>
            <p:ph type="body" idx="1"/>
          </p:nvPr>
        </p:nvSpPr>
        <p:spPr/>
        <p:txBody>
          <a:bodyPr/>
          <a:lstStyle/>
          <a:p>
            <a:r>
              <a:rPr lang="en-US" dirty="0"/>
              <a:t>If we multiply a vector by a matrix, we can calculate the result one row at a time. For each input in x, we would multiply by the corresponding weight in w. Then, we add the results of all of the multiplications to get one value in our resulting prediction vector.</a:t>
            </a:r>
          </a:p>
        </p:txBody>
      </p:sp>
      <p:sp>
        <p:nvSpPr>
          <p:cNvPr id="4" name="Slide Number Placeholder 3">
            <a:extLst>
              <a:ext uri="{FF2B5EF4-FFF2-40B4-BE49-F238E27FC236}">
                <a16:creationId xmlns:a16="http://schemas.microsoft.com/office/drawing/2014/main" id="{B3334C4E-E9DB-A711-8DA0-453F2EE8E75D}"/>
              </a:ext>
            </a:extLst>
          </p:cNvPr>
          <p:cNvSpPr>
            <a:spLocks noGrp="1"/>
          </p:cNvSpPr>
          <p:nvPr>
            <p:ph type="sldNum" sz="quarter" idx="5"/>
          </p:nvPr>
        </p:nvSpPr>
        <p:spPr/>
        <p:txBody>
          <a:bodyPr/>
          <a:lstStyle/>
          <a:p>
            <a:fld id="{A93AD357-0C40-4436-9D38-C47D60C1C9C1}" type="slidenum">
              <a:rPr lang="en-US" smtClean="0"/>
              <a:pPr/>
              <a:t>28</a:t>
            </a:fld>
            <a:endParaRPr lang="en-US"/>
          </a:p>
        </p:txBody>
      </p:sp>
    </p:spTree>
    <p:extLst>
      <p:ext uri="{BB962C8B-B14F-4D97-AF65-F5344CB8AC3E}">
        <p14:creationId xmlns:p14="http://schemas.microsoft.com/office/powerpoint/2010/main" val="37484062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A723-B17D-1A55-2173-E477B2E3E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7162A-D5CC-E576-FDF0-641A2A72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8CD67-6D78-C35A-9743-96F850ACDD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CB2D0-D9B1-A55F-4E27-EC7F4CA638C0}"/>
              </a:ext>
            </a:extLst>
          </p:cNvPr>
          <p:cNvSpPr>
            <a:spLocks noGrp="1"/>
          </p:cNvSpPr>
          <p:nvPr>
            <p:ph type="sldNum" sz="quarter" idx="5"/>
          </p:nvPr>
        </p:nvSpPr>
        <p:spPr/>
        <p:txBody>
          <a:bodyPr/>
          <a:lstStyle/>
          <a:p>
            <a:fld id="{A93AD357-0C40-4436-9D38-C47D60C1C9C1}" type="slidenum">
              <a:rPr lang="en-US" smtClean="0"/>
              <a:pPr/>
              <a:t>29</a:t>
            </a:fld>
            <a:endParaRPr lang="en-US"/>
          </a:p>
        </p:txBody>
      </p:sp>
    </p:spTree>
    <p:extLst>
      <p:ext uri="{BB962C8B-B14F-4D97-AF65-F5344CB8AC3E}">
        <p14:creationId xmlns:p14="http://schemas.microsoft.com/office/powerpoint/2010/main" val="3797110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2EA1-AB6E-B261-D482-9D4D454912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3DB00-2E38-CB6F-1CEB-E39503DFF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B7BED-9A5E-149E-389A-6F4734A49F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FB725B-41C5-17F3-D900-DDE0C84917BB}"/>
              </a:ext>
            </a:extLst>
          </p:cNvPr>
          <p:cNvSpPr>
            <a:spLocks noGrp="1"/>
          </p:cNvSpPr>
          <p:nvPr>
            <p:ph type="sldNum" sz="quarter" idx="5"/>
          </p:nvPr>
        </p:nvSpPr>
        <p:spPr/>
        <p:txBody>
          <a:bodyPr/>
          <a:lstStyle/>
          <a:p>
            <a:fld id="{A93AD357-0C40-4436-9D38-C47D60C1C9C1}" type="slidenum">
              <a:rPr lang="en-US" smtClean="0"/>
              <a:pPr/>
              <a:t>30</a:t>
            </a:fld>
            <a:endParaRPr lang="en-US"/>
          </a:p>
        </p:txBody>
      </p:sp>
    </p:spTree>
    <p:extLst>
      <p:ext uri="{BB962C8B-B14F-4D97-AF65-F5344CB8AC3E}">
        <p14:creationId xmlns:p14="http://schemas.microsoft.com/office/powerpoint/2010/main" val="3557820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8145-71A3-CCC9-F820-4CA609EA2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17AF9-8181-0A28-20FE-CCE50DA8D1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BD769-82E8-094E-14C1-39406573EA16}"/>
              </a:ext>
            </a:extLst>
          </p:cNvPr>
          <p:cNvSpPr>
            <a:spLocks noGrp="1"/>
          </p:cNvSpPr>
          <p:nvPr>
            <p:ph type="body" idx="1"/>
          </p:nvPr>
        </p:nvSpPr>
        <p:spPr/>
        <p:txBody>
          <a:bodyPr/>
          <a:lstStyle/>
          <a:p>
            <a:r>
              <a:rPr lang="en-US" dirty="0"/>
              <a:t>This is the exact same thing a layer of neurons does in a neural network! So rather than reinvent the tooling for this projection matrix ourselves, we can replicate this projection matrix with neural network linear layers.</a:t>
            </a:r>
          </a:p>
        </p:txBody>
      </p:sp>
      <p:sp>
        <p:nvSpPr>
          <p:cNvPr id="4" name="Slide Number Placeholder 3">
            <a:extLst>
              <a:ext uri="{FF2B5EF4-FFF2-40B4-BE49-F238E27FC236}">
                <a16:creationId xmlns:a16="http://schemas.microsoft.com/office/drawing/2014/main" id="{880BEE96-6CE7-2ACD-64C4-39712FECF62F}"/>
              </a:ext>
            </a:extLst>
          </p:cNvPr>
          <p:cNvSpPr>
            <a:spLocks noGrp="1"/>
          </p:cNvSpPr>
          <p:nvPr>
            <p:ph type="sldNum" sz="quarter" idx="5"/>
          </p:nvPr>
        </p:nvSpPr>
        <p:spPr/>
        <p:txBody>
          <a:bodyPr/>
          <a:lstStyle/>
          <a:p>
            <a:fld id="{A93AD357-0C40-4436-9D38-C47D60C1C9C1}" type="slidenum">
              <a:rPr lang="en-US" smtClean="0"/>
              <a:pPr/>
              <a:t>31</a:t>
            </a:fld>
            <a:endParaRPr lang="en-US"/>
          </a:p>
        </p:txBody>
      </p:sp>
    </p:spTree>
    <p:extLst>
      <p:ext uri="{BB962C8B-B14F-4D97-AF65-F5344CB8AC3E}">
        <p14:creationId xmlns:p14="http://schemas.microsoft.com/office/powerpoint/2010/main" val="2988944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A4DB-9252-0F70-95CD-D5D161C7D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A6403-263E-FF40-B0A4-5340D6C4B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A32A4-A9FB-B572-073C-046C5D358423}"/>
              </a:ext>
            </a:extLst>
          </p:cNvPr>
          <p:cNvSpPr>
            <a:spLocks noGrp="1"/>
          </p:cNvSpPr>
          <p:nvPr>
            <p:ph type="body" idx="1"/>
          </p:nvPr>
        </p:nvSpPr>
        <p:spPr/>
        <p:txBody>
          <a:bodyPr/>
          <a:lstStyle/>
          <a:p>
            <a:r>
              <a:rPr lang="en-US" dirty="0"/>
              <a:t>Now that we know the theory behind how these models were created, let’s dive into a practical example: how the LLM </a:t>
            </a:r>
            <a:r>
              <a:rPr lang="en-US" dirty="0" err="1"/>
              <a:t>LLama</a:t>
            </a:r>
            <a:r>
              <a:rPr lang="en-US" dirty="0"/>
              <a:t> was converted to the Visual </a:t>
            </a:r>
            <a:r>
              <a:rPr lang="en-US" dirty="0" err="1"/>
              <a:t>Lanugage</a:t>
            </a:r>
            <a:r>
              <a:rPr lang="en-US" dirty="0"/>
              <a:t> model, </a:t>
            </a:r>
            <a:r>
              <a:rPr lang="en-US" dirty="0" err="1"/>
              <a:t>LlaVa</a:t>
            </a:r>
            <a:r>
              <a:rPr lang="en-US" dirty="0"/>
              <a:t>.</a:t>
            </a:r>
          </a:p>
        </p:txBody>
      </p:sp>
      <p:sp>
        <p:nvSpPr>
          <p:cNvPr id="4" name="Slide Number Placeholder 3">
            <a:extLst>
              <a:ext uri="{FF2B5EF4-FFF2-40B4-BE49-F238E27FC236}">
                <a16:creationId xmlns:a16="http://schemas.microsoft.com/office/drawing/2014/main" id="{73BC0F1D-7F81-EA5F-3ACE-CF1523BE72BC}"/>
              </a:ext>
            </a:extLst>
          </p:cNvPr>
          <p:cNvSpPr>
            <a:spLocks noGrp="1"/>
          </p:cNvSpPr>
          <p:nvPr>
            <p:ph type="sldNum" sz="quarter" idx="5"/>
          </p:nvPr>
        </p:nvSpPr>
        <p:spPr/>
        <p:txBody>
          <a:bodyPr/>
          <a:lstStyle/>
          <a:p>
            <a:fld id="{A93AD357-0C40-4436-9D38-C47D60C1C9C1}" type="slidenum">
              <a:rPr lang="en-US" smtClean="0"/>
              <a:pPr/>
              <a:t>32</a:t>
            </a:fld>
            <a:endParaRPr lang="en-US"/>
          </a:p>
        </p:txBody>
      </p:sp>
    </p:spTree>
    <p:extLst>
      <p:ext uri="{BB962C8B-B14F-4D97-AF65-F5344CB8AC3E}">
        <p14:creationId xmlns:p14="http://schemas.microsoft.com/office/powerpoint/2010/main" val="1673605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6747D-EFFC-27A9-E0B4-131BB391D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6DF9C-7DC1-BEF9-740B-263FFA392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85691-42EE-67F1-F167-E4189AD7C939}"/>
              </a:ext>
            </a:extLst>
          </p:cNvPr>
          <p:cNvSpPr>
            <a:spLocks noGrp="1"/>
          </p:cNvSpPr>
          <p:nvPr>
            <p:ph type="body" idx="1"/>
          </p:nvPr>
        </p:nvSpPr>
        <p:spPr/>
        <p:txBody>
          <a:bodyPr/>
          <a:lstStyle/>
          <a:p>
            <a:r>
              <a:rPr lang="en-US" dirty="0"/>
              <a:t>To get our image embeddings, we’re going to use CLIP. </a:t>
            </a:r>
            <a:r>
              <a:rPr lang="en-US" dirty="0" err="1"/>
              <a:t>LlaVa</a:t>
            </a:r>
            <a:r>
              <a:rPr lang="en-US" dirty="0"/>
              <a:t> refers to this as “the Vision Tower”. We’ll use CLIP image processing tools. We’re not going to use the final 512 length vector that’s outputted by CLIP. Instead, we’ll use the output of a hidden state.</a:t>
            </a:r>
          </a:p>
        </p:txBody>
      </p:sp>
      <p:sp>
        <p:nvSpPr>
          <p:cNvPr id="4" name="Slide Number Placeholder 3">
            <a:extLst>
              <a:ext uri="{FF2B5EF4-FFF2-40B4-BE49-F238E27FC236}">
                <a16:creationId xmlns:a16="http://schemas.microsoft.com/office/drawing/2014/main" id="{6C763A57-946F-8C55-D904-9A59FAFBB5C5}"/>
              </a:ext>
            </a:extLst>
          </p:cNvPr>
          <p:cNvSpPr>
            <a:spLocks noGrp="1"/>
          </p:cNvSpPr>
          <p:nvPr>
            <p:ph type="sldNum" sz="quarter" idx="5"/>
          </p:nvPr>
        </p:nvSpPr>
        <p:spPr/>
        <p:txBody>
          <a:bodyPr/>
          <a:lstStyle/>
          <a:p>
            <a:fld id="{A93AD357-0C40-4436-9D38-C47D60C1C9C1}" type="slidenum">
              <a:rPr lang="en-US" smtClean="0"/>
              <a:pPr/>
              <a:t>33</a:t>
            </a:fld>
            <a:endParaRPr lang="en-US"/>
          </a:p>
        </p:txBody>
      </p:sp>
    </p:spTree>
    <p:extLst>
      <p:ext uri="{BB962C8B-B14F-4D97-AF65-F5344CB8AC3E}">
        <p14:creationId xmlns:p14="http://schemas.microsoft.com/office/powerpoint/2010/main" val="2366116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47523-780C-80C4-10E2-400A0BC12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A1290-C269-3885-DF32-47D0A6F13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ACE83-6C63-6568-A8AF-0E325B4B2C06}"/>
              </a:ext>
            </a:extLst>
          </p:cNvPr>
          <p:cNvSpPr>
            <a:spLocks noGrp="1"/>
          </p:cNvSpPr>
          <p:nvPr>
            <p:ph type="body" idx="1"/>
          </p:nvPr>
        </p:nvSpPr>
        <p:spPr/>
        <p:txBody>
          <a:bodyPr/>
          <a:lstStyle/>
          <a:p>
            <a:r>
              <a:rPr lang="en-US" dirty="0"/>
              <a:t>We’ll take the hidden state output and feed it into our projector…</a:t>
            </a:r>
          </a:p>
        </p:txBody>
      </p:sp>
      <p:sp>
        <p:nvSpPr>
          <p:cNvPr id="4" name="Slide Number Placeholder 3">
            <a:extLst>
              <a:ext uri="{FF2B5EF4-FFF2-40B4-BE49-F238E27FC236}">
                <a16:creationId xmlns:a16="http://schemas.microsoft.com/office/drawing/2014/main" id="{7FD0543B-69C9-946F-16D7-BB9427F820A5}"/>
              </a:ext>
            </a:extLst>
          </p:cNvPr>
          <p:cNvSpPr>
            <a:spLocks noGrp="1"/>
          </p:cNvSpPr>
          <p:nvPr>
            <p:ph type="sldNum" sz="quarter" idx="5"/>
          </p:nvPr>
        </p:nvSpPr>
        <p:spPr/>
        <p:txBody>
          <a:bodyPr/>
          <a:lstStyle/>
          <a:p>
            <a:fld id="{A93AD357-0C40-4436-9D38-C47D60C1C9C1}" type="slidenum">
              <a:rPr lang="en-US" smtClean="0"/>
              <a:pPr/>
              <a:t>34</a:t>
            </a:fld>
            <a:endParaRPr lang="en-US"/>
          </a:p>
        </p:txBody>
      </p:sp>
    </p:spTree>
    <p:extLst>
      <p:ext uri="{BB962C8B-B14F-4D97-AF65-F5344CB8AC3E}">
        <p14:creationId xmlns:p14="http://schemas.microsoft.com/office/powerpoint/2010/main" val="21016600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FC45-AFFE-FF72-97C3-647610613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0B609-6BEF-F7AD-DA09-F5A423C3A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E4B1D-6C98-CDF3-1DB7-44D9CC75D753}"/>
              </a:ext>
            </a:extLst>
          </p:cNvPr>
          <p:cNvSpPr>
            <a:spLocks noGrp="1"/>
          </p:cNvSpPr>
          <p:nvPr>
            <p:ph type="body" idx="1"/>
          </p:nvPr>
        </p:nvSpPr>
        <p:spPr/>
        <p:txBody>
          <a:bodyPr/>
          <a:lstStyle/>
          <a:p>
            <a:r>
              <a:rPr lang="en-US" dirty="0"/>
              <a:t>And connect it to the Llama model. User prompts will also be processed by Llama so we can get their text embeddings.</a:t>
            </a:r>
          </a:p>
        </p:txBody>
      </p:sp>
      <p:sp>
        <p:nvSpPr>
          <p:cNvPr id="4" name="Slide Number Placeholder 3">
            <a:extLst>
              <a:ext uri="{FF2B5EF4-FFF2-40B4-BE49-F238E27FC236}">
                <a16:creationId xmlns:a16="http://schemas.microsoft.com/office/drawing/2014/main" id="{2DBF0F97-CFDB-8828-660B-F46217C6154C}"/>
              </a:ext>
            </a:extLst>
          </p:cNvPr>
          <p:cNvSpPr>
            <a:spLocks noGrp="1"/>
          </p:cNvSpPr>
          <p:nvPr>
            <p:ph type="sldNum" sz="quarter" idx="5"/>
          </p:nvPr>
        </p:nvSpPr>
        <p:spPr/>
        <p:txBody>
          <a:bodyPr/>
          <a:lstStyle/>
          <a:p>
            <a:fld id="{A93AD357-0C40-4436-9D38-C47D60C1C9C1}" type="slidenum">
              <a:rPr lang="en-US" smtClean="0"/>
              <a:pPr/>
              <a:t>35</a:t>
            </a:fld>
            <a:endParaRPr lang="en-US"/>
          </a:p>
        </p:txBody>
      </p:sp>
    </p:spTree>
    <p:extLst>
      <p:ext uri="{BB962C8B-B14F-4D97-AF65-F5344CB8AC3E}">
        <p14:creationId xmlns:p14="http://schemas.microsoft.com/office/powerpoint/2010/main" val="14391058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BE6B5-ECE2-FD61-12A9-02CA84366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D368C-DE62-1C69-05AC-E613FCC96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27A3E-8311-AE7F-D295-77A310D5E282}"/>
              </a:ext>
            </a:extLst>
          </p:cNvPr>
          <p:cNvSpPr>
            <a:spLocks noGrp="1"/>
          </p:cNvSpPr>
          <p:nvPr>
            <p:ph type="body" idx="1"/>
          </p:nvPr>
        </p:nvSpPr>
        <p:spPr/>
        <p:txBody>
          <a:bodyPr/>
          <a:lstStyle/>
          <a:p>
            <a:r>
              <a:rPr lang="en-US" dirty="0"/>
              <a:t>We’ll then concatenate the projected image embeddings with the text embeddings….</a:t>
            </a:r>
          </a:p>
        </p:txBody>
      </p:sp>
      <p:sp>
        <p:nvSpPr>
          <p:cNvPr id="4" name="Slide Number Placeholder 3">
            <a:extLst>
              <a:ext uri="{FF2B5EF4-FFF2-40B4-BE49-F238E27FC236}">
                <a16:creationId xmlns:a16="http://schemas.microsoft.com/office/drawing/2014/main" id="{6657249F-55D2-0041-8FD6-5C6CC8A17679}"/>
              </a:ext>
            </a:extLst>
          </p:cNvPr>
          <p:cNvSpPr>
            <a:spLocks noGrp="1"/>
          </p:cNvSpPr>
          <p:nvPr>
            <p:ph type="sldNum" sz="quarter" idx="5"/>
          </p:nvPr>
        </p:nvSpPr>
        <p:spPr/>
        <p:txBody>
          <a:bodyPr/>
          <a:lstStyle/>
          <a:p>
            <a:fld id="{A93AD357-0C40-4436-9D38-C47D60C1C9C1}" type="slidenum">
              <a:rPr lang="en-US" smtClean="0"/>
              <a:pPr/>
              <a:t>36</a:t>
            </a:fld>
            <a:endParaRPr lang="en-US"/>
          </a:p>
        </p:txBody>
      </p:sp>
    </p:spTree>
    <p:extLst>
      <p:ext uri="{BB962C8B-B14F-4D97-AF65-F5344CB8AC3E}">
        <p14:creationId xmlns:p14="http://schemas.microsoft.com/office/powerpoint/2010/main" val="1675747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4C86B-068C-3A3C-5970-15E896E0E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85AF-A4E9-DA2D-F35F-5130C34F6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09BE7-B8EC-ED9F-0A54-3C6AF916E80B}"/>
              </a:ext>
            </a:extLst>
          </p:cNvPr>
          <p:cNvSpPr>
            <a:spLocks noGrp="1"/>
          </p:cNvSpPr>
          <p:nvPr>
            <p:ph type="body" idx="1"/>
          </p:nvPr>
        </p:nvSpPr>
        <p:spPr/>
        <p:txBody>
          <a:bodyPr/>
          <a:lstStyle/>
          <a:p>
            <a:r>
              <a:rPr lang="en-US" dirty="0"/>
              <a:t>And pass everything through the rest of the llama architecture as though it was one giant text embedding. This is possible because the attention mechanism is flexible to different input sizes.</a:t>
            </a:r>
          </a:p>
        </p:txBody>
      </p:sp>
      <p:sp>
        <p:nvSpPr>
          <p:cNvPr id="4" name="Slide Number Placeholder 3">
            <a:extLst>
              <a:ext uri="{FF2B5EF4-FFF2-40B4-BE49-F238E27FC236}">
                <a16:creationId xmlns:a16="http://schemas.microsoft.com/office/drawing/2014/main" id="{F561FC35-4267-CDF7-684E-63120AB869F7}"/>
              </a:ext>
            </a:extLst>
          </p:cNvPr>
          <p:cNvSpPr>
            <a:spLocks noGrp="1"/>
          </p:cNvSpPr>
          <p:nvPr>
            <p:ph type="sldNum" sz="quarter" idx="5"/>
          </p:nvPr>
        </p:nvSpPr>
        <p:spPr/>
        <p:txBody>
          <a:bodyPr/>
          <a:lstStyle/>
          <a:p>
            <a:fld id="{A93AD357-0C40-4436-9D38-C47D60C1C9C1}" type="slidenum">
              <a:rPr lang="en-US" smtClean="0"/>
              <a:pPr/>
              <a:t>37</a:t>
            </a:fld>
            <a:endParaRPr lang="en-US"/>
          </a:p>
        </p:txBody>
      </p:sp>
    </p:spTree>
    <p:extLst>
      <p:ext uri="{BB962C8B-B14F-4D97-AF65-F5344CB8AC3E}">
        <p14:creationId xmlns:p14="http://schemas.microsoft.com/office/powerpoint/2010/main" val="2582793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4DD6-B3F5-4979-85D4-55ADEC88D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8C862-890D-B2B5-D823-6C324A437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16578-B845-2995-D5DE-CF7D81581264}"/>
              </a:ext>
            </a:extLst>
          </p:cNvPr>
          <p:cNvSpPr>
            <a:spLocks noGrp="1"/>
          </p:cNvSpPr>
          <p:nvPr>
            <p:ph type="body" idx="1"/>
          </p:nvPr>
        </p:nvSpPr>
        <p:spPr/>
        <p:txBody>
          <a:bodyPr/>
          <a:lstStyle/>
          <a:p>
            <a:r>
              <a:rPr lang="en-US" dirty="0"/>
              <a:t>To clarify, the output of the CLIP Vision tower is going to be 50 by 768 values.</a:t>
            </a:r>
          </a:p>
        </p:txBody>
      </p:sp>
      <p:sp>
        <p:nvSpPr>
          <p:cNvPr id="4" name="Slide Number Placeholder 3">
            <a:extLst>
              <a:ext uri="{FF2B5EF4-FFF2-40B4-BE49-F238E27FC236}">
                <a16:creationId xmlns:a16="http://schemas.microsoft.com/office/drawing/2014/main" id="{FAD5FC8F-D998-8D63-E99F-34B24261187A}"/>
              </a:ext>
            </a:extLst>
          </p:cNvPr>
          <p:cNvSpPr>
            <a:spLocks noGrp="1"/>
          </p:cNvSpPr>
          <p:nvPr>
            <p:ph type="sldNum" sz="quarter" idx="5"/>
          </p:nvPr>
        </p:nvSpPr>
        <p:spPr/>
        <p:txBody>
          <a:bodyPr/>
          <a:lstStyle/>
          <a:p>
            <a:fld id="{A93AD357-0C40-4436-9D38-C47D60C1C9C1}" type="slidenum">
              <a:rPr lang="en-US" smtClean="0"/>
              <a:pPr/>
              <a:t>38</a:t>
            </a:fld>
            <a:endParaRPr lang="en-US"/>
          </a:p>
        </p:txBody>
      </p:sp>
    </p:spTree>
    <p:extLst>
      <p:ext uri="{BB962C8B-B14F-4D97-AF65-F5344CB8AC3E}">
        <p14:creationId xmlns:p14="http://schemas.microsoft.com/office/powerpoint/2010/main" val="9520632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112B-BE5C-DAA4-84ED-EE06D38C5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9DF0C-475D-5058-B9EB-E886BCF04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DE08F-FC94-FB46-A7CC-4C7CF3C49BC6}"/>
              </a:ext>
            </a:extLst>
          </p:cNvPr>
          <p:cNvSpPr>
            <a:spLocks noGrp="1"/>
          </p:cNvSpPr>
          <p:nvPr>
            <p:ph type="body" idx="1"/>
          </p:nvPr>
        </p:nvSpPr>
        <p:spPr/>
        <p:txBody>
          <a:bodyPr/>
          <a:lstStyle/>
          <a:p>
            <a:r>
              <a:rPr lang="en-US" dirty="0"/>
              <a:t>When we pass that through the projector, we’ll get 50 by 4096 values. Even though this data is two dimensional we’re going to treat it like it’s a batch of 50 vectors. So if we have a batch of training data, we’ll have a batch of a batch of 50 vectors. Each vector passed through the projector model has no influence on the other vectors.</a:t>
            </a:r>
          </a:p>
          <a:p>
            <a:endParaRPr lang="en-US" dirty="0"/>
          </a:p>
          <a:p>
            <a:r>
              <a:rPr lang="en-US" dirty="0"/>
              <a:t>So in a sense, for each image being passed through, we’re trying to find the best fitting 50 hypothetical text tokens to describe it. It’s like a form of poetry where haiku meets Alice and Wonderland’s Jabberwocky nonsense vocabulary.</a:t>
            </a:r>
          </a:p>
        </p:txBody>
      </p:sp>
      <p:sp>
        <p:nvSpPr>
          <p:cNvPr id="4" name="Slide Number Placeholder 3">
            <a:extLst>
              <a:ext uri="{FF2B5EF4-FFF2-40B4-BE49-F238E27FC236}">
                <a16:creationId xmlns:a16="http://schemas.microsoft.com/office/drawing/2014/main" id="{85DC349F-16DB-B4FA-41FA-4D76917147B5}"/>
              </a:ext>
            </a:extLst>
          </p:cNvPr>
          <p:cNvSpPr>
            <a:spLocks noGrp="1"/>
          </p:cNvSpPr>
          <p:nvPr>
            <p:ph type="sldNum" sz="quarter" idx="5"/>
          </p:nvPr>
        </p:nvSpPr>
        <p:spPr/>
        <p:txBody>
          <a:bodyPr/>
          <a:lstStyle/>
          <a:p>
            <a:fld id="{A93AD357-0C40-4436-9D38-C47D60C1C9C1}" type="slidenum">
              <a:rPr lang="en-US" smtClean="0"/>
              <a:pPr/>
              <a:t>39</a:t>
            </a:fld>
            <a:endParaRPr lang="en-US"/>
          </a:p>
        </p:txBody>
      </p:sp>
    </p:spTree>
    <p:extLst>
      <p:ext uri="{BB962C8B-B14F-4D97-AF65-F5344CB8AC3E}">
        <p14:creationId xmlns:p14="http://schemas.microsoft.com/office/powerpoint/2010/main" val="39100787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3F18-C7B8-7AD8-047D-97C72E007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A4619-F961-5B19-68B7-8EB4BC08DE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2A326-9D3E-1A0B-4F9A-DDC7AC41EC91}"/>
              </a:ext>
            </a:extLst>
          </p:cNvPr>
          <p:cNvSpPr>
            <a:spLocks noGrp="1"/>
          </p:cNvSpPr>
          <p:nvPr>
            <p:ph type="body" idx="1"/>
          </p:nvPr>
        </p:nvSpPr>
        <p:spPr/>
        <p:txBody>
          <a:bodyPr/>
          <a:lstStyle/>
          <a:p>
            <a:r>
              <a:rPr lang="en-US" dirty="0"/>
              <a:t>Still, it can be quite challenging to find the perfect haiku to describe an image. To compensate, we can break an image up into smaller images, or “Patches”. This way, we can get as many encodings as we have patches.</a:t>
            </a:r>
          </a:p>
        </p:txBody>
      </p:sp>
      <p:sp>
        <p:nvSpPr>
          <p:cNvPr id="4" name="Slide Number Placeholder 3">
            <a:extLst>
              <a:ext uri="{FF2B5EF4-FFF2-40B4-BE49-F238E27FC236}">
                <a16:creationId xmlns:a16="http://schemas.microsoft.com/office/drawing/2014/main" id="{4D627B8F-5F85-9B9D-BFA0-087A42B023E1}"/>
              </a:ext>
            </a:extLst>
          </p:cNvPr>
          <p:cNvSpPr>
            <a:spLocks noGrp="1"/>
          </p:cNvSpPr>
          <p:nvPr>
            <p:ph type="sldNum" sz="quarter" idx="5"/>
          </p:nvPr>
        </p:nvSpPr>
        <p:spPr/>
        <p:txBody>
          <a:bodyPr/>
          <a:lstStyle/>
          <a:p>
            <a:fld id="{A93AD357-0C40-4436-9D38-C47D60C1C9C1}" type="slidenum">
              <a:rPr lang="en-US" smtClean="0"/>
              <a:pPr/>
              <a:t>40</a:t>
            </a:fld>
            <a:endParaRPr lang="en-US"/>
          </a:p>
        </p:txBody>
      </p:sp>
    </p:spTree>
    <p:extLst>
      <p:ext uri="{BB962C8B-B14F-4D97-AF65-F5344CB8AC3E}">
        <p14:creationId xmlns:p14="http://schemas.microsoft.com/office/powerpoint/2010/main" val="15516255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talked about how it works, let’s get some hands-on practice.</a:t>
            </a:r>
          </a:p>
        </p:txBody>
      </p:sp>
      <p:sp>
        <p:nvSpPr>
          <p:cNvPr id="4" name="Slide Number Placeholder 3"/>
          <p:cNvSpPr>
            <a:spLocks noGrp="1"/>
          </p:cNvSpPr>
          <p:nvPr>
            <p:ph type="sldNum" sz="quarter" idx="5"/>
          </p:nvPr>
        </p:nvSpPr>
        <p:spPr/>
        <p:txBody>
          <a:bodyPr/>
          <a:lstStyle/>
          <a:p>
            <a:fld id="{A93AD357-0C40-4436-9D38-C47D60C1C9C1}" type="slidenum">
              <a:rPr lang="en-US" smtClean="0"/>
              <a:pPr/>
              <a:t>41</a:t>
            </a:fld>
            <a:endParaRPr lang="en-US"/>
          </a:p>
        </p:txBody>
      </p:sp>
    </p:spTree>
    <p:extLst>
      <p:ext uri="{BB962C8B-B14F-4D97-AF65-F5344CB8AC3E}">
        <p14:creationId xmlns:p14="http://schemas.microsoft.com/office/powerpoint/2010/main" val="31555602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thought. If we can project image embeddings into text space, can we project text embeddings into image space?</a:t>
            </a:r>
          </a:p>
        </p:txBody>
      </p:sp>
      <p:sp>
        <p:nvSpPr>
          <p:cNvPr id="4" name="Slide Number Placeholder 3"/>
          <p:cNvSpPr>
            <a:spLocks noGrp="1"/>
          </p:cNvSpPr>
          <p:nvPr>
            <p:ph type="sldNum" sz="quarter" idx="5"/>
          </p:nvPr>
        </p:nvSpPr>
        <p:spPr/>
        <p:txBody>
          <a:bodyPr/>
          <a:lstStyle/>
          <a:p>
            <a:fld id="{A93AD357-0C40-4436-9D38-C47D60C1C9C1}" type="slidenum">
              <a:rPr lang="en-US" smtClean="0"/>
              <a:pPr/>
              <a:t>42</a:t>
            </a:fld>
            <a:endParaRPr lang="en-US"/>
          </a:p>
        </p:txBody>
      </p:sp>
    </p:spTree>
    <p:extLst>
      <p:ext uri="{BB962C8B-B14F-4D97-AF65-F5344CB8AC3E}">
        <p14:creationId xmlns:p14="http://schemas.microsoft.com/office/powerpoint/2010/main" val="3807148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95C1B-9385-E87E-FBE6-F42FE9D85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707E1-5E97-8A2C-CA8F-7B57A907A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0B051-F7EF-390C-2293-84E235A03000}"/>
              </a:ext>
            </a:extLst>
          </p:cNvPr>
          <p:cNvSpPr>
            <a:spLocks noGrp="1"/>
          </p:cNvSpPr>
          <p:nvPr>
            <p:ph type="body" idx="1"/>
          </p:nvPr>
        </p:nvSpPr>
        <p:spPr/>
        <p:txBody>
          <a:bodyPr/>
          <a:lstStyle/>
          <a:p>
            <a:r>
              <a:rPr lang="en-US" dirty="0"/>
              <a:t>Let’s find out. We’re going to take a standard convolutional neural network used for image classification. In this case, it will be identifying different flower breeds. </a:t>
            </a:r>
          </a:p>
        </p:txBody>
      </p:sp>
      <p:sp>
        <p:nvSpPr>
          <p:cNvPr id="4" name="Slide Number Placeholder 3">
            <a:extLst>
              <a:ext uri="{FF2B5EF4-FFF2-40B4-BE49-F238E27FC236}">
                <a16:creationId xmlns:a16="http://schemas.microsoft.com/office/drawing/2014/main" id="{5F446FBE-9AFE-712A-1F32-80704056FE73}"/>
              </a:ext>
            </a:extLst>
          </p:cNvPr>
          <p:cNvSpPr>
            <a:spLocks noGrp="1"/>
          </p:cNvSpPr>
          <p:nvPr>
            <p:ph type="sldNum" sz="quarter" idx="5"/>
          </p:nvPr>
        </p:nvSpPr>
        <p:spPr/>
        <p:txBody>
          <a:bodyPr/>
          <a:lstStyle/>
          <a:p>
            <a:fld id="{A93AD357-0C40-4436-9D38-C47D60C1C9C1}" type="slidenum">
              <a:rPr lang="en-US" smtClean="0"/>
              <a:pPr/>
              <a:t>43</a:t>
            </a:fld>
            <a:endParaRPr lang="en-US"/>
          </a:p>
        </p:txBody>
      </p:sp>
    </p:spTree>
    <p:extLst>
      <p:ext uri="{BB962C8B-B14F-4D97-AF65-F5344CB8AC3E}">
        <p14:creationId xmlns:p14="http://schemas.microsoft.com/office/powerpoint/2010/main" val="4777534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D7F2-5E82-1624-0D1F-718FCE876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20CC1-C194-72B6-0CAC-325007944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05A23-6729-AE09-C6EE-F0C7393AA2DC}"/>
              </a:ext>
            </a:extLst>
          </p:cNvPr>
          <p:cNvSpPr>
            <a:spLocks noGrp="1"/>
          </p:cNvSpPr>
          <p:nvPr>
            <p:ph type="body" idx="1"/>
          </p:nvPr>
        </p:nvSpPr>
        <p:spPr/>
        <p:txBody>
          <a:bodyPr/>
          <a:lstStyle/>
          <a:p>
            <a:r>
              <a:rPr lang="en-US" dirty="0"/>
              <a:t>We’ll take this trained model and try to inject CLIP text encodings into it. Because the output of our flatten layer is a single vector, we’ll try to project CLIP’s output vector into an image vector. This will be a one vector to one vector conversion.</a:t>
            </a:r>
          </a:p>
        </p:txBody>
      </p:sp>
      <p:sp>
        <p:nvSpPr>
          <p:cNvPr id="4" name="Slide Number Placeholder 3">
            <a:extLst>
              <a:ext uri="{FF2B5EF4-FFF2-40B4-BE49-F238E27FC236}">
                <a16:creationId xmlns:a16="http://schemas.microsoft.com/office/drawing/2014/main" id="{52507346-5086-A7C4-F7E4-CEDB472382DE}"/>
              </a:ext>
            </a:extLst>
          </p:cNvPr>
          <p:cNvSpPr>
            <a:spLocks noGrp="1"/>
          </p:cNvSpPr>
          <p:nvPr>
            <p:ph type="sldNum" sz="quarter" idx="5"/>
          </p:nvPr>
        </p:nvSpPr>
        <p:spPr/>
        <p:txBody>
          <a:bodyPr/>
          <a:lstStyle/>
          <a:p>
            <a:fld id="{A93AD357-0C40-4436-9D38-C47D60C1C9C1}" type="slidenum">
              <a:rPr lang="en-US" smtClean="0"/>
              <a:pPr/>
              <a:t>44</a:t>
            </a:fld>
            <a:endParaRPr lang="en-US"/>
          </a:p>
        </p:txBody>
      </p:sp>
    </p:spTree>
    <p:extLst>
      <p:ext uri="{BB962C8B-B14F-4D97-AF65-F5344CB8AC3E}">
        <p14:creationId xmlns:p14="http://schemas.microsoft.com/office/powerpoint/2010/main" val="34922080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80776-B9A9-C123-FCBF-BB4E87EED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E6BBD-A43E-F0D4-D9F7-5F04B06F4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61900-7340-75A9-941B-B1FEB50E7EA7}"/>
              </a:ext>
            </a:extLst>
          </p:cNvPr>
          <p:cNvSpPr>
            <a:spLocks noGrp="1"/>
          </p:cNvSpPr>
          <p:nvPr>
            <p:ph type="body" idx="1"/>
          </p:nvPr>
        </p:nvSpPr>
        <p:spPr/>
        <p:txBody>
          <a:bodyPr/>
          <a:lstStyle/>
          <a:p>
            <a:r>
              <a:rPr lang="en-US" dirty="0"/>
              <a:t>Like the previous labs, this set of labs comes in pairs.</a:t>
            </a:r>
          </a:p>
        </p:txBody>
      </p:sp>
      <p:sp>
        <p:nvSpPr>
          <p:cNvPr id="4" name="Slide Number Placeholder 3">
            <a:extLst>
              <a:ext uri="{FF2B5EF4-FFF2-40B4-BE49-F238E27FC236}">
                <a16:creationId xmlns:a16="http://schemas.microsoft.com/office/drawing/2014/main" id="{04044364-26B9-1343-D897-7BCAC79B394B}"/>
              </a:ext>
            </a:extLst>
          </p:cNvPr>
          <p:cNvSpPr>
            <a:spLocks noGrp="1"/>
          </p:cNvSpPr>
          <p:nvPr>
            <p:ph type="sldNum" sz="quarter" idx="5"/>
          </p:nvPr>
        </p:nvSpPr>
        <p:spPr/>
        <p:txBody>
          <a:bodyPr/>
          <a:lstStyle/>
          <a:p>
            <a:fld id="{A93AD357-0C40-4436-9D38-C47D60C1C9C1}" type="slidenum">
              <a:rPr lang="en-US" smtClean="0"/>
              <a:pPr/>
              <a:t>45</a:t>
            </a:fld>
            <a:endParaRPr lang="en-US"/>
          </a:p>
        </p:txBody>
      </p:sp>
    </p:spTree>
    <p:extLst>
      <p:ext uri="{BB962C8B-B14F-4D97-AF65-F5344CB8AC3E}">
        <p14:creationId xmlns:p14="http://schemas.microsoft.com/office/powerpoint/2010/main" val="71740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927BD-E82D-265E-556C-CF1F215FD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15B15-036E-B851-2496-2BAF0B492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BDF8F-4D11-9F43-FF3D-3762B87DD4A4}"/>
              </a:ext>
            </a:extLst>
          </p:cNvPr>
          <p:cNvSpPr>
            <a:spLocks noGrp="1"/>
          </p:cNvSpPr>
          <p:nvPr>
            <p:ph type="body" idx="1"/>
          </p:nvPr>
        </p:nvSpPr>
        <p:spPr/>
        <p:txBody>
          <a:bodyPr/>
          <a:lstStyle/>
          <a:p>
            <a:r>
              <a:rPr lang="en-US" dirty="0"/>
              <a:t>This time, we’ll review some data operation tools used to analyze PDFs, including the unstructured library.</a:t>
            </a:r>
          </a:p>
        </p:txBody>
      </p:sp>
      <p:sp>
        <p:nvSpPr>
          <p:cNvPr id="4" name="Slide Number Placeholder 3">
            <a:extLst>
              <a:ext uri="{FF2B5EF4-FFF2-40B4-BE49-F238E27FC236}">
                <a16:creationId xmlns:a16="http://schemas.microsoft.com/office/drawing/2014/main" id="{3FF3E830-8659-4365-1266-900EEC2A8C8F}"/>
              </a:ext>
            </a:extLst>
          </p:cNvPr>
          <p:cNvSpPr>
            <a:spLocks noGrp="1"/>
          </p:cNvSpPr>
          <p:nvPr>
            <p:ph type="sldNum" sz="quarter" idx="5"/>
          </p:nvPr>
        </p:nvSpPr>
        <p:spPr/>
        <p:txBody>
          <a:bodyPr/>
          <a:lstStyle/>
          <a:p>
            <a:fld id="{A93AD357-0C40-4436-9D38-C47D60C1C9C1}" type="slidenum">
              <a:rPr lang="en-US" smtClean="0"/>
              <a:pPr/>
              <a:t>46</a:t>
            </a:fld>
            <a:endParaRPr lang="en-US"/>
          </a:p>
        </p:txBody>
      </p:sp>
    </p:spTree>
    <p:extLst>
      <p:ext uri="{BB962C8B-B14F-4D97-AF65-F5344CB8AC3E}">
        <p14:creationId xmlns:p14="http://schemas.microsoft.com/office/powerpoint/2010/main" val="31251827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C106A-1A8C-9E0F-FDD1-FE2F2BBC6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CCBE4-1271-513F-5FB5-A67B91BCF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4E48C-8EF7-B9F1-06E5-0BFE439399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Itching to get coding? Let’s get started!</a:t>
            </a:r>
          </a:p>
        </p:txBody>
      </p:sp>
      <p:sp>
        <p:nvSpPr>
          <p:cNvPr id="4" name="Slide Number Placeholder 3">
            <a:extLst>
              <a:ext uri="{FF2B5EF4-FFF2-40B4-BE49-F238E27FC236}">
                <a16:creationId xmlns:a16="http://schemas.microsoft.com/office/drawing/2014/main" id="{1A9F0AC2-4877-3CE9-9801-4FF3BD2A3A78}"/>
              </a:ext>
            </a:extLst>
          </p:cNvPr>
          <p:cNvSpPr>
            <a:spLocks noGrp="1"/>
          </p:cNvSpPr>
          <p:nvPr>
            <p:ph type="sldNum" sz="quarter" idx="5"/>
          </p:nvPr>
        </p:nvSpPr>
        <p:spPr/>
        <p:txBody>
          <a:bodyPr/>
          <a:lstStyle/>
          <a:p>
            <a:fld id="{A93AD357-0C40-4436-9D38-C47D60C1C9C1}" type="slidenum">
              <a:rPr lang="en-US" smtClean="0"/>
              <a:pPr/>
              <a:t>47</a:t>
            </a:fld>
            <a:endParaRPr lang="en-US"/>
          </a:p>
        </p:txBody>
      </p:sp>
    </p:spTree>
    <p:extLst>
      <p:ext uri="{BB962C8B-B14F-4D97-AF65-F5344CB8AC3E}">
        <p14:creationId xmlns:p14="http://schemas.microsoft.com/office/powerpoint/2010/main" val="3219470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3AD357-0C40-4436-9D38-C47D60C1C9C1}" type="slidenum">
              <a:rPr lang="en-US" smtClean="0"/>
              <a:pPr/>
              <a:t>48</a:t>
            </a:fld>
            <a:endParaRPr lang="en-US"/>
          </a:p>
        </p:txBody>
      </p:sp>
    </p:spTree>
    <p:extLst>
      <p:ext uri="{BB962C8B-B14F-4D97-AF65-F5344CB8AC3E}">
        <p14:creationId xmlns:p14="http://schemas.microsoft.com/office/powerpoint/2010/main" val="3639030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7"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11" Type="http://schemas.openxmlformats.org/officeDocument/2006/relationships/image" Target="../media/image29.png"/><Relationship Id="rId10" Type="http://schemas.openxmlformats.org/officeDocument/2006/relationships/image" Target="../media/image38.png"/><Relationship Id="rId9" Type="http://schemas.openxmlformats.org/officeDocument/2006/relationships/image" Target="../media/image37.png"/></Relationships>
</file>

<file path=ppt/slides/_rels/slide21.xml.rels><?xml version="1.0" encoding="UTF-8" standalone="yes"?>
<Relationships xmlns="http://schemas.openxmlformats.org/package/2006/relationships"><Relationship Id="rId8" Type="http://schemas.openxmlformats.org/officeDocument/2006/relationships/image" Target="../media/image291.png"/><Relationship Id="rId3" Type="http://schemas.openxmlformats.org/officeDocument/2006/relationships/image" Target="../media/image35.pn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11" Type="http://schemas.openxmlformats.org/officeDocument/2006/relationships/image" Target="../media/image291.png"/><Relationship Id="rId10" Type="http://schemas.openxmlformats.org/officeDocument/2006/relationships/image" Target="../media/image38.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3.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7.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6.png"/><Relationship Id="rId7"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9.png"/><Relationship Id="rId9" Type="http://schemas.openxmlformats.org/officeDocument/2006/relationships/image" Target="../media/image44.png"/></Relationships>
</file>

<file path=ppt/slides/_rels/slide31.xml.rels><?xml version="1.0" encoding="UTF-8" standalone="yes"?>
<Relationships xmlns="http://schemas.openxmlformats.org/package/2006/relationships"><Relationship Id="rId8" Type="http://schemas.openxmlformats.org/officeDocument/2006/relationships/image" Target="../media/image43.png"/><Relationship Id="rId7"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4.png"/><Relationship Id="rId10" Type="http://schemas.openxmlformats.org/officeDocument/2006/relationships/image" Target="../media/image41.png"/><Relationship Id="rId9" Type="http://schemas.openxmlformats.org/officeDocument/2006/relationships/image" Target="../media/image4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0.sv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0.sv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0.sv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2" y="2983577"/>
            <a:ext cx="19282214" cy="4937760"/>
          </a:xfrm>
        </p:spPr>
        <p:txBody>
          <a:bodyPr/>
          <a:lstStyle/>
          <a:p>
            <a:r>
              <a:rPr lang="en-US" dirty="0"/>
              <a:t>Building AI Agents with</a:t>
            </a:r>
            <a:br>
              <a:rPr lang="en-US" dirty="0"/>
            </a:br>
            <a:r>
              <a:rPr lang="en-US" dirty="0"/>
              <a:t>Multimodal Models</a:t>
            </a:r>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2" y="7941727"/>
            <a:ext cx="19282214" cy="1703832"/>
          </a:xfrm>
        </p:spPr>
        <p:txBody>
          <a:bodyPr/>
          <a:lstStyle/>
          <a:p>
            <a:r>
              <a:rPr lang="en-US" dirty="0"/>
              <a:t>Part 3: Cross-modal Projection</a:t>
            </a:r>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extLst>
              <p:ext uri="{D42A27DB-BD31-4B8C-83A1-F6EECF244321}">
                <p14:modId xmlns:p14="http://schemas.microsoft.com/office/powerpoint/2010/main" val="526503192"/>
              </p:ext>
            </p:extLst>
          </p:nvPr>
        </p:nvGraphicFramePr>
        <p:xfrm>
          <a:off x="18651265" y="7034764"/>
          <a:ext cx="15895909" cy="8981090"/>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54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en-US" sz="4000" b="0" dirty="0">
                          <a:solidFill>
                            <a:schemeClr val="bg1"/>
                          </a:solidFill>
                          <a:latin typeface="NVIDIA Sans Medium" panose="020B0603020203020204" pitchFamily="34" charset="0"/>
                          <a:cs typeface="NVIDIA Sans Medium" panose="020B0603020203020204" pitchFamily="34" charset="0"/>
                        </a:rPr>
                        <a:t>Part 1: Multimodal Data</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2: Intermediate Fusion</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3</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 Cross-modal </a:t>
                      </a: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Projection and OCR Pipelines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4: VSS and </a:t>
                      </a:r>
                      <a:r>
                        <a:rPr kumimoji="0" lang="en-US" sz="4000" b="0" i="0" u="none" strike="noStrike" kern="1200" cap="none" spc="0" normalizeH="0" baseline="0" noProof="0">
                          <a:ln>
                            <a:noFill/>
                          </a:ln>
                          <a:solidFill>
                            <a:schemeClr val="bg1"/>
                          </a:solidFill>
                          <a:effectLst/>
                          <a:uLnTx/>
                          <a:uFillTx/>
                          <a:latin typeface="NVIDIA Sans Medium" panose="020B0603020203020204" pitchFamily="34" charset="0"/>
                          <a:ea typeface="+mn-ea"/>
                          <a:cs typeface="NVIDIA Sans Medium" panose="020B0603020203020204" pitchFamily="34" charset="0"/>
                        </a:rPr>
                        <a:t>GraphRAG</a:t>
                      </a:r>
                      <a:endPar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kumimoji="0" lang="en-US" sz="40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rPr>
                        <a:t>Part 5: Wrap-up &amp; Assessment</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a:ln>
                  <a:noFill/>
                </a:ln>
                <a:solidFill>
                  <a:srgbClr val="76B900"/>
                </a:solidFill>
                <a:effectLst/>
                <a:uLnTx/>
                <a:uFillTx/>
                <a:latin typeface="NVIDIA Sans" panose="020B0503020203020204" pitchFamily="34" charset="0"/>
                <a:cs typeface="NVIDIA Sans" panose="020B0503020203020204" pitchFamily="34" charset="0"/>
              </a:rPr>
              <a:t>Agenda</a:t>
            </a:r>
          </a:p>
        </p:txBody>
      </p:sp>
      <p:sp>
        <p:nvSpPr>
          <p:cNvPr id="2" name="Rectangle 1">
            <a:extLst>
              <a:ext uri="{FF2B5EF4-FFF2-40B4-BE49-F238E27FC236}">
                <a16:creationId xmlns:a16="http://schemas.microsoft.com/office/drawing/2014/main" id="{B8E6121E-A96A-F527-8E76-FFB24307ED22}"/>
              </a:ext>
            </a:extLst>
          </p:cNvPr>
          <p:cNvSpPr/>
          <p:nvPr/>
        </p:nvSpPr>
        <p:spPr>
          <a:xfrm>
            <a:off x="18013680" y="10715897"/>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275743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Experiment Results</a:t>
            </a:r>
          </a:p>
        </p:txBody>
      </p:sp>
    </p:spTree>
    <p:extLst>
      <p:ext uri="{BB962C8B-B14F-4D97-AF65-F5344CB8AC3E}">
        <p14:creationId xmlns:p14="http://schemas.microsoft.com/office/powerpoint/2010/main" val="3106100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Experiment Results</a:t>
            </a:r>
          </a:p>
        </p:txBody>
      </p:sp>
      <p:sp>
        <p:nvSpPr>
          <p:cNvPr id="13" name="TextBox 12">
            <a:extLst>
              <a:ext uri="{FF2B5EF4-FFF2-40B4-BE49-F238E27FC236}">
                <a16:creationId xmlns:a16="http://schemas.microsoft.com/office/drawing/2014/main" id="{7BB496EC-128E-BB57-1ECB-1E04B6832DC9}"/>
              </a:ext>
            </a:extLst>
          </p:cNvPr>
          <p:cNvSpPr txBox="1"/>
          <p:nvPr/>
        </p:nvSpPr>
        <p:spPr>
          <a:xfrm>
            <a:off x="16957283" y="12475029"/>
            <a:ext cx="2661434" cy="1323439"/>
          </a:xfrm>
          <a:prstGeom prst="rect">
            <a:avLst/>
          </a:prstGeom>
          <a:noFill/>
        </p:spPr>
        <p:txBody>
          <a:bodyPr wrap="none" rtlCol="0">
            <a:spAutoFit/>
          </a:bodyPr>
          <a:lstStyle/>
          <a:p>
            <a:pPr algn="ctr"/>
            <a:r>
              <a:rPr lang="en-US" sz="8000" dirty="0">
                <a:latin typeface="NVIDIA Sans" panose="020B0503020203020204" pitchFamily="34" charset="0"/>
                <a:cs typeface="NVIDIA Sans" panose="020B0503020203020204" pitchFamily="34" charset="0"/>
              </a:rPr>
              <a:t>Brain</a:t>
            </a:r>
          </a:p>
        </p:txBody>
      </p:sp>
      <p:pic>
        <p:nvPicPr>
          <p:cNvPr id="17" name="Graphic 16" descr="Nose with solid fill">
            <a:extLst>
              <a:ext uri="{FF2B5EF4-FFF2-40B4-BE49-F238E27FC236}">
                <a16:creationId xmlns:a16="http://schemas.microsoft.com/office/drawing/2014/main" id="{BEDE8E9C-8B1D-00F2-25EE-F3AE611B8D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000184" y="8174227"/>
            <a:ext cx="1787917" cy="1787917"/>
          </a:xfrm>
          <a:prstGeom prst="rect">
            <a:avLst/>
          </a:prstGeom>
        </p:spPr>
      </p:pic>
      <p:pic>
        <p:nvPicPr>
          <p:cNvPr id="19" name="Graphic 18" descr="Tongue with solid fill">
            <a:extLst>
              <a:ext uri="{FF2B5EF4-FFF2-40B4-BE49-F238E27FC236}">
                <a16:creationId xmlns:a16="http://schemas.microsoft.com/office/drawing/2014/main" id="{2BFE4A5D-FBF9-D776-8F9C-C829D4D03D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862597" y="14663056"/>
            <a:ext cx="1787917" cy="1787917"/>
          </a:xfrm>
          <a:prstGeom prst="rect">
            <a:avLst/>
          </a:prstGeom>
        </p:spPr>
      </p:pic>
      <p:pic>
        <p:nvPicPr>
          <p:cNvPr id="23" name="Graphic 22" descr="Ear with solid fill">
            <a:extLst>
              <a:ext uri="{FF2B5EF4-FFF2-40B4-BE49-F238E27FC236}">
                <a16:creationId xmlns:a16="http://schemas.microsoft.com/office/drawing/2014/main" id="{CAF54089-AE20-BC77-253C-46A765D69D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43900" y="14663056"/>
            <a:ext cx="1787917" cy="1787917"/>
          </a:xfrm>
          <a:prstGeom prst="rect">
            <a:avLst/>
          </a:prstGeom>
        </p:spPr>
      </p:pic>
      <p:pic>
        <p:nvPicPr>
          <p:cNvPr id="5" name="Graphic 4" descr="Handshake with solid fill">
            <a:extLst>
              <a:ext uri="{FF2B5EF4-FFF2-40B4-BE49-F238E27FC236}">
                <a16:creationId xmlns:a16="http://schemas.microsoft.com/office/drawing/2014/main" id="{2E13390D-2352-351C-50A1-1FF7EC8FD0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866217" y="8174226"/>
            <a:ext cx="1787917" cy="1787917"/>
          </a:xfrm>
          <a:prstGeom prst="rect">
            <a:avLst/>
          </a:prstGeom>
        </p:spPr>
      </p:pic>
      <p:pic>
        <p:nvPicPr>
          <p:cNvPr id="15" name="Graphic 14" descr="Eye with solid fill">
            <a:extLst>
              <a:ext uri="{FF2B5EF4-FFF2-40B4-BE49-F238E27FC236}">
                <a16:creationId xmlns:a16="http://schemas.microsoft.com/office/drawing/2014/main" id="{AE729893-43C6-9C5B-4C13-ABDF44EE3B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394041" y="4183453"/>
            <a:ext cx="1787917" cy="1787917"/>
          </a:xfrm>
          <a:prstGeom prst="rect">
            <a:avLst/>
          </a:prstGeom>
        </p:spPr>
      </p:pic>
      <p:pic>
        <p:nvPicPr>
          <p:cNvPr id="4" name="Picture 3">
            <a:extLst>
              <a:ext uri="{FF2B5EF4-FFF2-40B4-BE49-F238E27FC236}">
                <a16:creationId xmlns:a16="http://schemas.microsoft.com/office/drawing/2014/main" id="{E2D5FFFE-DC73-E1CD-7A2C-245B44FCA954}"/>
              </a:ext>
            </a:extLst>
          </p:cNvPr>
          <p:cNvPicPr>
            <a:picLocks noChangeAspect="1"/>
          </p:cNvPicPr>
          <p:nvPr/>
        </p:nvPicPr>
        <p:blipFill>
          <a:blip r:embed="rId13"/>
          <a:stretch>
            <a:fillRect/>
          </a:stretch>
        </p:blipFill>
        <p:spPr>
          <a:xfrm>
            <a:off x="6859987" y="3024284"/>
            <a:ext cx="21068108" cy="16231344"/>
          </a:xfrm>
          <a:prstGeom prst="rect">
            <a:avLst/>
          </a:prstGeom>
        </p:spPr>
      </p:pic>
    </p:spTree>
    <p:extLst>
      <p:ext uri="{BB962C8B-B14F-4D97-AF65-F5344CB8AC3E}">
        <p14:creationId xmlns:p14="http://schemas.microsoft.com/office/powerpoint/2010/main" val="3728442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8A29A-2654-5A0D-138F-C32901739B3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5D5E2B4-C870-979C-50D5-0DC12765B4ED}"/>
              </a:ext>
            </a:extLst>
          </p:cNvPr>
          <p:cNvSpPr>
            <a:spLocks noGrp="1"/>
          </p:cNvSpPr>
          <p:nvPr>
            <p:ph type="body" sz="quarter" idx="13"/>
          </p:nvPr>
        </p:nvSpPr>
        <p:spPr>
          <a:xfrm>
            <a:off x="1473200" y="1865313"/>
            <a:ext cx="18476913" cy="5943600"/>
          </a:xfrm>
        </p:spPr>
        <p:txBody>
          <a:bodyPr/>
          <a:lstStyle/>
          <a:p>
            <a:r>
              <a:rPr lang="en-US" dirty="0"/>
              <a:t>Cross-modal Projection</a:t>
            </a:r>
          </a:p>
        </p:txBody>
      </p:sp>
    </p:spTree>
    <p:extLst>
      <p:ext uri="{BB962C8B-B14F-4D97-AF65-F5344CB8AC3E}">
        <p14:creationId xmlns:p14="http://schemas.microsoft.com/office/powerpoint/2010/main" val="379117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41809-6C6F-6D9E-8BE2-01E7CB61C91C}"/>
              </a:ext>
            </a:extLst>
          </p:cNvPr>
          <p:cNvSpPr>
            <a:spLocks noGrp="1"/>
          </p:cNvSpPr>
          <p:nvPr>
            <p:ph type="title"/>
          </p:nvPr>
        </p:nvSpPr>
        <p:spPr/>
        <p:txBody>
          <a:bodyPr/>
          <a:lstStyle/>
          <a:p>
            <a:r>
              <a:rPr lang="en-US" dirty="0"/>
              <a:t>Vision Language Models</a:t>
            </a:r>
          </a:p>
        </p:txBody>
      </p:sp>
      <p:pic>
        <p:nvPicPr>
          <p:cNvPr id="9" name="Picture 2">
            <a:extLst>
              <a:ext uri="{FF2B5EF4-FFF2-40B4-BE49-F238E27FC236}">
                <a16:creationId xmlns:a16="http://schemas.microsoft.com/office/drawing/2014/main" id="{37C1CD88-B0B6-5644-5B33-185261B9D1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09" t="9310" r="49473" b="76235"/>
          <a:stretch/>
        </p:blipFill>
        <p:spPr bwMode="auto">
          <a:xfrm>
            <a:off x="22192488" y="4271101"/>
            <a:ext cx="5249509" cy="5224943"/>
          </a:xfrm>
          <a:prstGeom prst="rect">
            <a:avLst/>
          </a:prstGeom>
          <a:noFill/>
          <a:extLst>
            <a:ext uri="{909E8E84-426E-40DD-AFC4-6F175D3DCCD1}">
              <a14:hiddenFill xmlns:a14="http://schemas.microsoft.com/office/drawing/2010/main">
                <a:solidFill>
                  <a:srgbClr val="FFFFFF"/>
                </a:solidFill>
              </a14:hiddenFill>
            </a:ext>
          </a:extLst>
        </p:spPr>
      </p:pic>
      <p:sp>
        <p:nvSpPr>
          <p:cNvPr id="10" name="Speech Bubble: Oval 9">
            <a:extLst>
              <a:ext uri="{FF2B5EF4-FFF2-40B4-BE49-F238E27FC236}">
                <a16:creationId xmlns:a16="http://schemas.microsoft.com/office/drawing/2014/main" id="{CF1630E7-B5FB-BF4B-A8FA-BAACC19BE9A6}"/>
              </a:ext>
            </a:extLst>
          </p:cNvPr>
          <p:cNvSpPr/>
          <p:nvPr/>
        </p:nvSpPr>
        <p:spPr>
          <a:xfrm>
            <a:off x="9637778" y="4426122"/>
            <a:ext cx="7278624" cy="4480560"/>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What breed of dog is in this picture?</a:t>
            </a:r>
          </a:p>
        </p:txBody>
      </p:sp>
      <p:pic>
        <p:nvPicPr>
          <p:cNvPr id="11" name="Graphic 10" descr="Call center with solid fill">
            <a:extLst>
              <a:ext uri="{FF2B5EF4-FFF2-40B4-BE49-F238E27FC236}">
                <a16:creationId xmlns:a16="http://schemas.microsoft.com/office/drawing/2014/main" id="{FEE156AD-9134-CA0E-DDAB-1321B1C2DF6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03902" y="8046720"/>
            <a:ext cx="4480560" cy="4480560"/>
          </a:xfrm>
          <a:prstGeom prst="rect">
            <a:avLst/>
          </a:prstGeom>
        </p:spPr>
      </p:pic>
      <p:pic>
        <p:nvPicPr>
          <p:cNvPr id="12" name="Picture 11" descr="A black background with a black square&#10;&#10;Description automatically generated with medium confidence">
            <a:extLst>
              <a:ext uri="{FF2B5EF4-FFF2-40B4-BE49-F238E27FC236}">
                <a16:creationId xmlns:a16="http://schemas.microsoft.com/office/drawing/2014/main" id="{063BF99B-3DE3-5719-2DF8-ECE8ABB2F0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17400256" y="11077957"/>
            <a:ext cx="3727732" cy="3727732"/>
          </a:xfrm>
          <a:prstGeom prst="rect">
            <a:avLst/>
          </a:prstGeom>
        </p:spPr>
      </p:pic>
      <p:sp>
        <p:nvSpPr>
          <p:cNvPr id="13" name="Right Brace 12">
            <a:extLst>
              <a:ext uri="{FF2B5EF4-FFF2-40B4-BE49-F238E27FC236}">
                <a16:creationId xmlns:a16="http://schemas.microsoft.com/office/drawing/2014/main" id="{90319C5C-C214-0283-04A0-6B1C53721DD4}"/>
              </a:ext>
            </a:extLst>
          </p:cNvPr>
          <p:cNvSpPr/>
          <p:nvPr/>
        </p:nvSpPr>
        <p:spPr>
          <a:xfrm rot="5400000">
            <a:off x="18703840" y="4068869"/>
            <a:ext cx="1120564" cy="12897611"/>
          </a:xfrm>
          <a:prstGeom prst="rightBrace">
            <a:avLst>
              <a:gd name="adj1" fmla="val 76879"/>
              <a:gd name="adj2" fmla="val 50001"/>
            </a:avLst>
          </a:prstGeom>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Speech Bubble: Oval 13">
            <a:extLst>
              <a:ext uri="{FF2B5EF4-FFF2-40B4-BE49-F238E27FC236}">
                <a16:creationId xmlns:a16="http://schemas.microsoft.com/office/drawing/2014/main" id="{02AD600E-948A-A695-36F2-386871485D4B}"/>
              </a:ext>
            </a:extLst>
          </p:cNvPr>
          <p:cNvSpPr/>
          <p:nvPr/>
        </p:nvSpPr>
        <p:spPr>
          <a:xfrm>
            <a:off x="16386048" y="15427481"/>
            <a:ext cx="7205472" cy="3727732"/>
          </a:xfrm>
          <a:prstGeom prst="wedgeEllipseCallout">
            <a:avLst>
              <a:gd name="adj1" fmla="val -12290"/>
              <a:gd name="adj2" fmla="val -64030"/>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A corgi. The markings on its back are called a “saddle”.</a:t>
            </a:r>
          </a:p>
        </p:txBody>
      </p:sp>
    </p:spTree>
    <p:extLst>
      <p:ext uri="{BB962C8B-B14F-4D97-AF65-F5344CB8AC3E}">
        <p14:creationId xmlns:p14="http://schemas.microsoft.com/office/powerpoint/2010/main" val="3594362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956DA-1E0E-2B18-008A-B020D1E56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E6BAC-B875-4C98-6EB6-AC92BA2BFB72}"/>
              </a:ext>
            </a:extLst>
          </p:cNvPr>
          <p:cNvSpPr>
            <a:spLocks noGrp="1"/>
          </p:cNvSpPr>
          <p:nvPr>
            <p:ph type="title"/>
          </p:nvPr>
        </p:nvSpPr>
        <p:spPr/>
        <p:txBody>
          <a:bodyPr/>
          <a:lstStyle/>
          <a:p>
            <a:r>
              <a:rPr lang="en-US" dirty="0"/>
              <a:t>LLM Architecture</a:t>
            </a:r>
          </a:p>
        </p:txBody>
      </p:sp>
      <p:sp>
        <p:nvSpPr>
          <p:cNvPr id="3" name="Text Placeholder 2">
            <a:extLst>
              <a:ext uri="{FF2B5EF4-FFF2-40B4-BE49-F238E27FC236}">
                <a16:creationId xmlns:a16="http://schemas.microsoft.com/office/drawing/2014/main" id="{E4EDE4E2-6593-EA64-1625-EC250B319A96}"/>
              </a:ext>
            </a:extLst>
          </p:cNvPr>
          <p:cNvSpPr>
            <a:spLocks noGrp="1"/>
          </p:cNvSpPr>
          <p:nvPr>
            <p:ph type="body" sz="quarter" idx="10"/>
          </p:nvPr>
        </p:nvSpPr>
        <p:spPr/>
        <p:txBody>
          <a:bodyPr/>
          <a:lstStyle/>
          <a:p>
            <a:r>
              <a:rPr lang="en-US" dirty="0"/>
              <a:t>A simplified overview</a:t>
            </a:r>
          </a:p>
        </p:txBody>
      </p:sp>
      <p:sp>
        <p:nvSpPr>
          <p:cNvPr id="6" name="Rectangle 5">
            <a:extLst>
              <a:ext uri="{FF2B5EF4-FFF2-40B4-BE49-F238E27FC236}">
                <a16:creationId xmlns:a16="http://schemas.microsoft.com/office/drawing/2014/main" id="{65C95057-AF9A-0D7E-1E02-0220B12A124D}"/>
              </a:ext>
            </a:extLst>
          </p:cNvPr>
          <p:cNvSpPr/>
          <p:nvPr/>
        </p:nvSpPr>
        <p:spPr>
          <a:xfrm rot="16200000">
            <a:off x="713803" y="8478203"/>
            <a:ext cx="8338186" cy="2450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tx1"/>
                </a:solidFill>
                <a:latin typeface="Trebuchet MS" panose="020B0603020202020204" pitchFamily="34" charset="0"/>
              </a:rPr>
              <a:t>Text Input</a:t>
            </a:r>
          </a:p>
        </p:txBody>
      </p:sp>
      <p:sp>
        <p:nvSpPr>
          <p:cNvPr id="4" name="Rectangle 3">
            <a:extLst>
              <a:ext uri="{FF2B5EF4-FFF2-40B4-BE49-F238E27FC236}">
                <a16:creationId xmlns:a16="http://schemas.microsoft.com/office/drawing/2014/main" id="{2ACF92CD-1160-D57C-5FBE-5AE14F845E88}"/>
              </a:ext>
            </a:extLst>
          </p:cNvPr>
          <p:cNvSpPr/>
          <p:nvPr/>
        </p:nvSpPr>
        <p:spPr>
          <a:xfrm>
            <a:off x="6620256" y="5534406"/>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8BC00F51-2D63-3C30-93F0-BB1CCC6F867E}"/>
              </a:ext>
            </a:extLst>
          </p:cNvPr>
          <p:cNvSpPr/>
          <p:nvPr/>
        </p:nvSpPr>
        <p:spPr>
          <a:xfrm>
            <a:off x="6620256" y="7266908"/>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7" name="Rectangle 6">
            <a:extLst>
              <a:ext uri="{FF2B5EF4-FFF2-40B4-BE49-F238E27FC236}">
                <a16:creationId xmlns:a16="http://schemas.microsoft.com/office/drawing/2014/main" id="{C9AC8EF4-2D1E-9983-E02B-ADAB8CF0E5F8}"/>
              </a:ext>
            </a:extLst>
          </p:cNvPr>
          <p:cNvSpPr/>
          <p:nvPr/>
        </p:nvSpPr>
        <p:spPr>
          <a:xfrm>
            <a:off x="6620256" y="8999410"/>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8" name="Rectangle 7">
            <a:extLst>
              <a:ext uri="{FF2B5EF4-FFF2-40B4-BE49-F238E27FC236}">
                <a16:creationId xmlns:a16="http://schemas.microsoft.com/office/drawing/2014/main" id="{37FB744B-2C6B-0C2E-ABCC-73DE003BC935}"/>
              </a:ext>
            </a:extLst>
          </p:cNvPr>
          <p:cNvSpPr/>
          <p:nvPr/>
        </p:nvSpPr>
        <p:spPr>
          <a:xfrm>
            <a:off x="6620256" y="10731912"/>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9" name="Rectangle 8">
            <a:extLst>
              <a:ext uri="{FF2B5EF4-FFF2-40B4-BE49-F238E27FC236}">
                <a16:creationId xmlns:a16="http://schemas.microsoft.com/office/drawing/2014/main" id="{4E2C25E9-98E5-7894-F47B-FBAF36901BE3}"/>
              </a:ext>
            </a:extLst>
          </p:cNvPr>
          <p:cNvSpPr/>
          <p:nvPr/>
        </p:nvSpPr>
        <p:spPr>
          <a:xfrm>
            <a:off x="6620256" y="12464416"/>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0" name="Rectangle 9">
            <a:extLst>
              <a:ext uri="{FF2B5EF4-FFF2-40B4-BE49-F238E27FC236}">
                <a16:creationId xmlns:a16="http://schemas.microsoft.com/office/drawing/2014/main" id="{C65B8197-7E28-797E-0E6D-173555DA0A36}"/>
              </a:ext>
            </a:extLst>
          </p:cNvPr>
          <p:cNvSpPr/>
          <p:nvPr/>
        </p:nvSpPr>
        <p:spPr>
          <a:xfrm>
            <a:off x="6620256" y="3895344"/>
            <a:ext cx="6217920"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Embeddings</a:t>
            </a:r>
            <a:endParaRPr lang="en-US" sz="4000" dirty="0">
              <a:solidFill>
                <a:schemeClr val="bg1"/>
              </a:solidFill>
              <a:latin typeface="Trebuchet MS" panose="020B0603020202020204" pitchFamily="34" charset="0"/>
            </a:endParaRPr>
          </a:p>
        </p:txBody>
      </p:sp>
      <p:grpSp>
        <p:nvGrpSpPr>
          <p:cNvPr id="50" name="Group 49">
            <a:extLst>
              <a:ext uri="{FF2B5EF4-FFF2-40B4-BE49-F238E27FC236}">
                <a16:creationId xmlns:a16="http://schemas.microsoft.com/office/drawing/2014/main" id="{7EBB9724-781A-2857-81D8-9AFEA340D09E}"/>
              </a:ext>
            </a:extLst>
          </p:cNvPr>
          <p:cNvGrpSpPr/>
          <p:nvPr/>
        </p:nvGrpSpPr>
        <p:grpSpPr>
          <a:xfrm>
            <a:off x="13053058" y="5533262"/>
            <a:ext cx="8132064" cy="8339330"/>
            <a:chOff x="13350240" y="6639687"/>
            <a:chExt cx="8132064" cy="8339330"/>
          </a:xfrm>
        </p:grpSpPr>
        <p:grpSp>
          <p:nvGrpSpPr>
            <p:cNvPr id="17" name="Group 16">
              <a:extLst>
                <a:ext uri="{FF2B5EF4-FFF2-40B4-BE49-F238E27FC236}">
                  <a16:creationId xmlns:a16="http://schemas.microsoft.com/office/drawing/2014/main" id="{8F8B00A8-D72B-42BC-8DF6-FF7E05DF993D}"/>
                </a:ext>
              </a:extLst>
            </p:cNvPr>
            <p:cNvGrpSpPr/>
            <p:nvPr/>
          </p:nvGrpSpPr>
          <p:grpSpPr>
            <a:xfrm>
              <a:off x="13350240" y="6639687"/>
              <a:ext cx="8132064" cy="1408176"/>
              <a:chOff x="13350240" y="6639687"/>
              <a:chExt cx="8132064" cy="1408176"/>
            </a:xfrm>
          </p:grpSpPr>
          <p:sp>
            <p:nvSpPr>
              <p:cNvPr id="12" name="Rectangle 11">
                <a:extLst>
                  <a:ext uri="{FF2B5EF4-FFF2-40B4-BE49-F238E27FC236}">
                    <a16:creationId xmlns:a16="http://schemas.microsoft.com/office/drawing/2014/main" id="{D53300F9-DED2-8904-1877-31845C7FB072}"/>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3" name="Rectangle 12">
                <a:extLst>
                  <a:ext uri="{FF2B5EF4-FFF2-40B4-BE49-F238E27FC236}">
                    <a16:creationId xmlns:a16="http://schemas.microsoft.com/office/drawing/2014/main" id="{456580FA-0EE2-A868-51D2-A9E6E577E03E}"/>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4" name="Rectangle 13">
                <a:extLst>
                  <a:ext uri="{FF2B5EF4-FFF2-40B4-BE49-F238E27FC236}">
                    <a16:creationId xmlns:a16="http://schemas.microsoft.com/office/drawing/2014/main" id="{C8E80AD4-7940-0947-3B7E-AD0125D7554C}"/>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5" name="Rectangle 14">
                <a:extLst>
                  <a:ext uri="{FF2B5EF4-FFF2-40B4-BE49-F238E27FC236}">
                    <a16:creationId xmlns:a16="http://schemas.microsoft.com/office/drawing/2014/main" id="{37109179-1F54-6FD3-2D97-0496B05ECFEE}"/>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6" name="Rectangle 15">
                <a:extLst>
                  <a:ext uri="{FF2B5EF4-FFF2-40B4-BE49-F238E27FC236}">
                    <a16:creationId xmlns:a16="http://schemas.microsoft.com/office/drawing/2014/main" id="{9C205BB0-95FA-7DD3-75D2-1A9270B2828A}"/>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18" name="Group 17">
              <a:extLst>
                <a:ext uri="{FF2B5EF4-FFF2-40B4-BE49-F238E27FC236}">
                  <a16:creationId xmlns:a16="http://schemas.microsoft.com/office/drawing/2014/main" id="{AB4CDA92-6BA5-0750-D5F3-8BF5612966FA}"/>
                </a:ext>
              </a:extLst>
            </p:cNvPr>
            <p:cNvGrpSpPr/>
            <p:nvPr/>
          </p:nvGrpSpPr>
          <p:grpSpPr>
            <a:xfrm>
              <a:off x="13350240" y="8372475"/>
              <a:ext cx="8132064" cy="1408176"/>
              <a:chOff x="13350240" y="6639687"/>
              <a:chExt cx="8132064" cy="1408176"/>
            </a:xfrm>
          </p:grpSpPr>
          <p:sp>
            <p:nvSpPr>
              <p:cNvPr id="19" name="Rectangle 18">
                <a:extLst>
                  <a:ext uri="{FF2B5EF4-FFF2-40B4-BE49-F238E27FC236}">
                    <a16:creationId xmlns:a16="http://schemas.microsoft.com/office/drawing/2014/main" id="{B134E262-9B70-BBCD-CD53-0CCB5141EB60}"/>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0" name="Rectangle 19">
                <a:extLst>
                  <a:ext uri="{FF2B5EF4-FFF2-40B4-BE49-F238E27FC236}">
                    <a16:creationId xmlns:a16="http://schemas.microsoft.com/office/drawing/2014/main" id="{D87F14FB-B4DB-749F-DF07-D6D3FC1CCC7C}"/>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1" name="Rectangle 20">
                <a:extLst>
                  <a:ext uri="{FF2B5EF4-FFF2-40B4-BE49-F238E27FC236}">
                    <a16:creationId xmlns:a16="http://schemas.microsoft.com/office/drawing/2014/main" id="{3500D17E-9B03-6A29-1528-EA635A2E0A2B}"/>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5BC0634C-7C55-0D95-7E7E-DF95DE7E6C62}"/>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3" name="Rectangle 22">
                <a:extLst>
                  <a:ext uri="{FF2B5EF4-FFF2-40B4-BE49-F238E27FC236}">
                    <a16:creationId xmlns:a16="http://schemas.microsoft.com/office/drawing/2014/main" id="{0F343D72-5233-737D-49C3-61F3A5285FA6}"/>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24" name="Group 23">
              <a:extLst>
                <a:ext uri="{FF2B5EF4-FFF2-40B4-BE49-F238E27FC236}">
                  <a16:creationId xmlns:a16="http://schemas.microsoft.com/office/drawing/2014/main" id="{0378AFAE-31F8-4B4A-0BDE-42B7F2F3B89C}"/>
                </a:ext>
              </a:extLst>
            </p:cNvPr>
            <p:cNvGrpSpPr/>
            <p:nvPr/>
          </p:nvGrpSpPr>
          <p:grpSpPr>
            <a:xfrm>
              <a:off x="13350240" y="10105264"/>
              <a:ext cx="8132064" cy="1408176"/>
              <a:chOff x="13350240" y="6639687"/>
              <a:chExt cx="8132064" cy="1408176"/>
            </a:xfrm>
          </p:grpSpPr>
          <p:sp>
            <p:nvSpPr>
              <p:cNvPr id="25" name="Rectangle 24">
                <a:extLst>
                  <a:ext uri="{FF2B5EF4-FFF2-40B4-BE49-F238E27FC236}">
                    <a16:creationId xmlns:a16="http://schemas.microsoft.com/office/drawing/2014/main" id="{E2378EC0-8B82-6440-695D-4DD007EF142E}"/>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6" name="Rectangle 25">
                <a:extLst>
                  <a:ext uri="{FF2B5EF4-FFF2-40B4-BE49-F238E27FC236}">
                    <a16:creationId xmlns:a16="http://schemas.microsoft.com/office/drawing/2014/main" id="{99A7611D-0AAE-A05F-F53D-057169CC47CB}"/>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7" name="Rectangle 26">
                <a:extLst>
                  <a:ext uri="{FF2B5EF4-FFF2-40B4-BE49-F238E27FC236}">
                    <a16:creationId xmlns:a16="http://schemas.microsoft.com/office/drawing/2014/main" id="{6B0C501C-90A1-1180-FF91-2580816969E3}"/>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8" name="Rectangle 27">
                <a:extLst>
                  <a:ext uri="{FF2B5EF4-FFF2-40B4-BE49-F238E27FC236}">
                    <a16:creationId xmlns:a16="http://schemas.microsoft.com/office/drawing/2014/main" id="{6388DA0E-3171-8DAA-DAB7-F4215E076160}"/>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9" name="Rectangle 28">
                <a:extLst>
                  <a:ext uri="{FF2B5EF4-FFF2-40B4-BE49-F238E27FC236}">
                    <a16:creationId xmlns:a16="http://schemas.microsoft.com/office/drawing/2014/main" id="{AD28F608-E928-2810-75A1-92ABA8F19967}"/>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30" name="Group 29">
              <a:extLst>
                <a:ext uri="{FF2B5EF4-FFF2-40B4-BE49-F238E27FC236}">
                  <a16:creationId xmlns:a16="http://schemas.microsoft.com/office/drawing/2014/main" id="{454EE977-CC7C-7755-F2F3-AD3657D1CCF7}"/>
                </a:ext>
              </a:extLst>
            </p:cNvPr>
            <p:cNvGrpSpPr/>
            <p:nvPr/>
          </p:nvGrpSpPr>
          <p:grpSpPr>
            <a:xfrm>
              <a:off x="13350240" y="11838052"/>
              <a:ext cx="8132064" cy="1408176"/>
              <a:chOff x="13350240" y="6639687"/>
              <a:chExt cx="8132064" cy="1408176"/>
            </a:xfrm>
          </p:grpSpPr>
          <p:sp>
            <p:nvSpPr>
              <p:cNvPr id="31" name="Rectangle 30">
                <a:extLst>
                  <a:ext uri="{FF2B5EF4-FFF2-40B4-BE49-F238E27FC236}">
                    <a16:creationId xmlns:a16="http://schemas.microsoft.com/office/drawing/2014/main" id="{4F02D507-4C73-A371-335D-A418A2A582EC}"/>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2" name="Rectangle 31">
                <a:extLst>
                  <a:ext uri="{FF2B5EF4-FFF2-40B4-BE49-F238E27FC236}">
                    <a16:creationId xmlns:a16="http://schemas.microsoft.com/office/drawing/2014/main" id="{8D8A13DC-52B3-C5E9-F3CE-BB22D1545790}"/>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3" name="Rectangle 32">
                <a:extLst>
                  <a:ext uri="{FF2B5EF4-FFF2-40B4-BE49-F238E27FC236}">
                    <a16:creationId xmlns:a16="http://schemas.microsoft.com/office/drawing/2014/main" id="{40F11135-3119-A4EB-6CDC-A5679CF72AF8}"/>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4" name="Rectangle 33">
                <a:extLst>
                  <a:ext uri="{FF2B5EF4-FFF2-40B4-BE49-F238E27FC236}">
                    <a16:creationId xmlns:a16="http://schemas.microsoft.com/office/drawing/2014/main" id="{16EAF58A-7FEE-C8B0-0781-2099B72B53F4}"/>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5" name="Rectangle 34">
                <a:extLst>
                  <a:ext uri="{FF2B5EF4-FFF2-40B4-BE49-F238E27FC236}">
                    <a16:creationId xmlns:a16="http://schemas.microsoft.com/office/drawing/2014/main" id="{530CA2DF-A442-B834-F13A-91B583C46725}"/>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36" name="Group 35">
              <a:extLst>
                <a:ext uri="{FF2B5EF4-FFF2-40B4-BE49-F238E27FC236}">
                  <a16:creationId xmlns:a16="http://schemas.microsoft.com/office/drawing/2014/main" id="{DDBA304D-33A5-15F9-C5D8-F3D7B0BEE0CC}"/>
                </a:ext>
              </a:extLst>
            </p:cNvPr>
            <p:cNvGrpSpPr/>
            <p:nvPr/>
          </p:nvGrpSpPr>
          <p:grpSpPr>
            <a:xfrm>
              <a:off x="13350240" y="13570841"/>
              <a:ext cx="8132064" cy="1408176"/>
              <a:chOff x="13350240" y="6639687"/>
              <a:chExt cx="8132064" cy="1408176"/>
            </a:xfrm>
          </p:grpSpPr>
          <p:sp>
            <p:nvSpPr>
              <p:cNvPr id="37" name="Rectangle 36">
                <a:extLst>
                  <a:ext uri="{FF2B5EF4-FFF2-40B4-BE49-F238E27FC236}">
                    <a16:creationId xmlns:a16="http://schemas.microsoft.com/office/drawing/2014/main" id="{75D0B379-9408-CF39-E3E3-D8A5D24967AA}"/>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8" name="Rectangle 37">
                <a:extLst>
                  <a:ext uri="{FF2B5EF4-FFF2-40B4-BE49-F238E27FC236}">
                    <a16:creationId xmlns:a16="http://schemas.microsoft.com/office/drawing/2014/main" id="{46EBD45D-756F-B1A8-4F06-97CC2B2A185C}"/>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9" name="Rectangle 38">
                <a:extLst>
                  <a:ext uri="{FF2B5EF4-FFF2-40B4-BE49-F238E27FC236}">
                    <a16:creationId xmlns:a16="http://schemas.microsoft.com/office/drawing/2014/main" id="{41CD05D1-D2B1-2C27-D6D5-52DF673BD42D}"/>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0" name="Rectangle 39">
                <a:extLst>
                  <a:ext uri="{FF2B5EF4-FFF2-40B4-BE49-F238E27FC236}">
                    <a16:creationId xmlns:a16="http://schemas.microsoft.com/office/drawing/2014/main" id="{743C3550-3BFA-103F-FDCF-A861724CF204}"/>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1" name="Rectangle 40">
                <a:extLst>
                  <a:ext uri="{FF2B5EF4-FFF2-40B4-BE49-F238E27FC236}">
                    <a16:creationId xmlns:a16="http://schemas.microsoft.com/office/drawing/2014/main" id="{F93DF61A-1A25-6E21-2159-39ACE519DECC}"/>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sp>
        <p:nvSpPr>
          <p:cNvPr id="42" name="Rectangle 41">
            <a:extLst>
              <a:ext uri="{FF2B5EF4-FFF2-40B4-BE49-F238E27FC236}">
                <a16:creationId xmlns:a16="http://schemas.microsoft.com/office/drawing/2014/main" id="{EBFF620B-FAD0-E72C-6E68-213CA6DA55D2}"/>
              </a:ext>
            </a:extLst>
          </p:cNvPr>
          <p:cNvSpPr/>
          <p:nvPr/>
        </p:nvSpPr>
        <p:spPr>
          <a:xfrm>
            <a:off x="21397724" y="3932490"/>
            <a:ext cx="7905028"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Linear</a:t>
            </a:r>
            <a:endParaRPr lang="en-US" sz="4000" dirty="0">
              <a:solidFill>
                <a:schemeClr val="bg1"/>
              </a:solidFill>
              <a:latin typeface="Trebuchet MS" panose="020B0603020202020204" pitchFamily="34" charset="0"/>
            </a:endParaRPr>
          </a:p>
        </p:txBody>
      </p:sp>
      <p:sp>
        <p:nvSpPr>
          <p:cNvPr id="43" name="Rectangle 42">
            <a:extLst>
              <a:ext uri="{FF2B5EF4-FFF2-40B4-BE49-F238E27FC236}">
                <a16:creationId xmlns:a16="http://schemas.microsoft.com/office/drawing/2014/main" id="{F72358C1-066F-811A-6B15-2B3A29073B04}"/>
              </a:ext>
            </a:extLst>
          </p:cNvPr>
          <p:cNvSpPr/>
          <p:nvPr/>
        </p:nvSpPr>
        <p:spPr>
          <a:xfrm rot="5400000">
            <a:off x="17932146"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4" name="Rectangle 43">
            <a:extLst>
              <a:ext uri="{FF2B5EF4-FFF2-40B4-BE49-F238E27FC236}">
                <a16:creationId xmlns:a16="http://schemas.microsoft.com/office/drawing/2014/main" id="{429F949E-A610-BFF8-B1A3-AC02BC2F3B6A}"/>
              </a:ext>
            </a:extLst>
          </p:cNvPr>
          <p:cNvSpPr/>
          <p:nvPr/>
        </p:nvSpPr>
        <p:spPr>
          <a:xfrm rot="5400000">
            <a:off x="19556359"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5" name="Rectangle 44">
            <a:extLst>
              <a:ext uri="{FF2B5EF4-FFF2-40B4-BE49-F238E27FC236}">
                <a16:creationId xmlns:a16="http://schemas.microsoft.com/office/drawing/2014/main" id="{F157E3D4-0212-B84F-FB33-FD65CE338693}"/>
              </a:ext>
            </a:extLst>
          </p:cNvPr>
          <p:cNvSpPr/>
          <p:nvPr/>
        </p:nvSpPr>
        <p:spPr>
          <a:xfrm rot="5400000">
            <a:off x="21180572"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6" name="Rectangle 45">
            <a:extLst>
              <a:ext uri="{FF2B5EF4-FFF2-40B4-BE49-F238E27FC236}">
                <a16:creationId xmlns:a16="http://schemas.microsoft.com/office/drawing/2014/main" id="{F992319F-6B07-BCA9-767B-28B42BCDFECD}"/>
              </a:ext>
            </a:extLst>
          </p:cNvPr>
          <p:cNvSpPr/>
          <p:nvPr/>
        </p:nvSpPr>
        <p:spPr>
          <a:xfrm rot="5400000">
            <a:off x="23755760" y="8998839"/>
            <a:ext cx="6437379"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7" name="Rectangle 46">
            <a:extLst>
              <a:ext uri="{FF2B5EF4-FFF2-40B4-BE49-F238E27FC236}">
                <a16:creationId xmlns:a16="http://schemas.microsoft.com/office/drawing/2014/main" id="{F2A19051-790F-6A45-48F6-9A0563228CB0}"/>
              </a:ext>
            </a:extLst>
          </p:cNvPr>
          <p:cNvSpPr/>
          <p:nvPr/>
        </p:nvSpPr>
        <p:spPr>
          <a:xfrm rot="5400000">
            <a:off x="26152643" y="8998839"/>
            <a:ext cx="489204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8" name="Rectangle 47">
            <a:extLst>
              <a:ext uri="{FF2B5EF4-FFF2-40B4-BE49-F238E27FC236}">
                <a16:creationId xmlns:a16="http://schemas.microsoft.com/office/drawing/2014/main" id="{BBD33A09-F268-78AA-DC45-6564B31F5F7E}"/>
              </a:ext>
            </a:extLst>
          </p:cNvPr>
          <p:cNvSpPr/>
          <p:nvPr/>
        </p:nvSpPr>
        <p:spPr>
          <a:xfrm>
            <a:off x="13053058" y="3922777"/>
            <a:ext cx="8132064"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Attention</a:t>
            </a:r>
            <a:endParaRPr lang="en-US" sz="4000" dirty="0">
              <a:solidFill>
                <a:schemeClr val="bg1"/>
              </a:solidFill>
              <a:latin typeface="Trebuchet MS" panose="020B0603020202020204" pitchFamily="34" charset="0"/>
            </a:endParaRPr>
          </a:p>
        </p:txBody>
      </p:sp>
      <p:sp>
        <p:nvSpPr>
          <p:cNvPr id="49" name="Rectangle 48">
            <a:extLst>
              <a:ext uri="{FF2B5EF4-FFF2-40B4-BE49-F238E27FC236}">
                <a16:creationId xmlns:a16="http://schemas.microsoft.com/office/drawing/2014/main" id="{5460E32D-B10D-7758-8040-FE7DC0910A75}"/>
              </a:ext>
            </a:extLst>
          </p:cNvPr>
          <p:cNvSpPr/>
          <p:nvPr/>
        </p:nvSpPr>
        <p:spPr>
          <a:xfrm rot="16200000">
            <a:off x="28979619" y="8477631"/>
            <a:ext cx="4078228" cy="2450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tx1"/>
                </a:solidFill>
                <a:latin typeface="Trebuchet MS" panose="020B0603020202020204" pitchFamily="34" charset="0"/>
              </a:rPr>
              <a:t>Output</a:t>
            </a:r>
          </a:p>
        </p:txBody>
      </p:sp>
    </p:spTree>
    <p:extLst>
      <p:ext uri="{BB962C8B-B14F-4D97-AF65-F5344CB8AC3E}">
        <p14:creationId xmlns:p14="http://schemas.microsoft.com/office/powerpoint/2010/main" val="2979847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953FC-1A38-783C-4329-FEC43AD30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E1B4D-0197-A437-F4F4-38F111D855DA}"/>
              </a:ext>
            </a:extLst>
          </p:cNvPr>
          <p:cNvSpPr>
            <a:spLocks noGrp="1"/>
          </p:cNvSpPr>
          <p:nvPr>
            <p:ph type="title"/>
          </p:nvPr>
        </p:nvSpPr>
        <p:spPr/>
        <p:txBody>
          <a:bodyPr/>
          <a:lstStyle/>
          <a:p>
            <a:r>
              <a:rPr lang="en-US" dirty="0"/>
              <a:t>LLM Architecture</a:t>
            </a:r>
          </a:p>
        </p:txBody>
      </p:sp>
      <p:sp>
        <p:nvSpPr>
          <p:cNvPr id="3" name="Text Placeholder 2">
            <a:extLst>
              <a:ext uri="{FF2B5EF4-FFF2-40B4-BE49-F238E27FC236}">
                <a16:creationId xmlns:a16="http://schemas.microsoft.com/office/drawing/2014/main" id="{8CD3E805-910D-873D-8887-DCEEF450BBEF}"/>
              </a:ext>
            </a:extLst>
          </p:cNvPr>
          <p:cNvSpPr>
            <a:spLocks noGrp="1"/>
          </p:cNvSpPr>
          <p:nvPr>
            <p:ph type="body" sz="quarter" idx="10"/>
          </p:nvPr>
        </p:nvSpPr>
        <p:spPr/>
        <p:txBody>
          <a:bodyPr/>
          <a:lstStyle/>
          <a:p>
            <a:r>
              <a:rPr lang="en-US" dirty="0"/>
              <a:t>A simplified overview</a:t>
            </a:r>
          </a:p>
        </p:txBody>
      </p:sp>
      <p:sp>
        <p:nvSpPr>
          <p:cNvPr id="10" name="Rectangle 9">
            <a:extLst>
              <a:ext uri="{FF2B5EF4-FFF2-40B4-BE49-F238E27FC236}">
                <a16:creationId xmlns:a16="http://schemas.microsoft.com/office/drawing/2014/main" id="{28F3C599-C52B-9B5E-C119-6A98B166F9D2}"/>
              </a:ext>
            </a:extLst>
          </p:cNvPr>
          <p:cNvSpPr/>
          <p:nvPr/>
        </p:nvSpPr>
        <p:spPr>
          <a:xfrm>
            <a:off x="6620256" y="3895344"/>
            <a:ext cx="6217920"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Embeddings</a:t>
            </a:r>
            <a:endParaRPr lang="en-US" sz="4000" dirty="0">
              <a:solidFill>
                <a:schemeClr val="bg1"/>
              </a:solidFill>
              <a:latin typeface="Trebuchet MS" panose="020B0603020202020204" pitchFamily="34" charset="0"/>
            </a:endParaRPr>
          </a:p>
        </p:txBody>
      </p:sp>
      <p:grpSp>
        <p:nvGrpSpPr>
          <p:cNvPr id="50" name="Group 49">
            <a:extLst>
              <a:ext uri="{FF2B5EF4-FFF2-40B4-BE49-F238E27FC236}">
                <a16:creationId xmlns:a16="http://schemas.microsoft.com/office/drawing/2014/main" id="{B3547AF9-222D-DE37-E267-E4835100DD6C}"/>
              </a:ext>
            </a:extLst>
          </p:cNvPr>
          <p:cNvGrpSpPr/>
          <p:nvPr/>
        </p:nvGrpSpPr>
        <p:grpSpPr>
          <a:xfrm>
            <a:off x="13053058" y="5533262"/>
            <a:ext cx="8132064" cy="8339330"/>
            <a:chOff x="13350240" y="6639687"/>
            <a:chExt cx="8132064" cy="8339330"/>
          </a:xfrm>
        </p:grpSpPr>
        <p:grpSp>
          <p:nvGrpSpPr>
            <p:cNvPr id="17" name="Group 16">
              <a:extLst>
                <a:ext uri="{FF2B5EF4-FFF2-40B4-BE49-F238E27FC236}">
                  <a16:creationId xmlns:a16="http://schemas.microsoft.com/office/drawing/2014/main" id="{C146BA0F-FA15-2CEE-7C6E-2672192E8A50}"/>
                </a:ext>
              </a:extLst>
            </p:cNvPr>
            <p:cNvGrpSpPr/>
            <p:nvPr/>
          </p:nvGrpSpPr>
          <p:grpSpPr>
            <a:xfrm>
              <a:off x="13350240" y="6639687"/>
              <a:ext cx="8132064" cy="1408176"/>
              <a:chOff x="13350240" y="6639687"/>
              <a:chExt cx="8132064" cy="1408176"/>
            </a:xfrm>
          </p:grpSpPr>
          <p:sp>
            <p:nvSpPr>
              <p:cNvPr id="12" name="Rectangle 11">
                <a:extLst>
                  <a:ext uri="{FF2B5EF4-FFF2-40B4-BE49-F238E27FC236}">
                    <a16:creationId xmlns:a16="http://schemas.microsoft.com/office/drawing/2014/main" id="{230F5076-7349-A48A-E070-B18C848CC4FB}"/>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3" name="Rectangle 12">
                <a:extLst>
                  <a:ext uri="{FF2B5EF4-FFF2-40B4-BE49-F238E27FC236}">
                    <a16:creationId xmlns:a16="http://schemas.microsoft.com/office/drawing/2014/main" id="{6B18B72C-2B9E-B1B6-0B62-7F25B8380561}"/>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4" name="Rectangle 13">
                <a:extLst>
                  <a:ext uri="{FF2B5EF4-FFF2-40B4-BE49-F238E27FC236}">
                    <a16:creationId xmlns:a16="http://schemas.microsoft.com/office/drawing/2014/main" id="{3294C37D-5D44-192B-65F0-EFBC079C773B}"/>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5" name="Rectangle 14">
                <a:extLst>
                  <a:ext uri="{FF2B5EF4-FFF2-40B4-BE49-F238E27FC236}">
                    <a16:creationId xmlns:a16="http://schemas.microsoft.com/office/drawing/2014/main" id="{F6144179-761A-A949-F02E-F430B78F881E}"/>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16" name="Rectangle 15">
                <a:extLst>
                  <a:ext uri="{FF2B5EF4-FFF2-40B4-BE49-F238E27FC236}">
                    <a16:creationId xmlns:a16="http://schemas.microsoft.com/office/drawing/2014/main" id="{D2E73713-6072-9860-41AD-E845F4412050}"/>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18" name="Group 17">
              <a:extLst>
                <a:ext uri="{FF2B5EF4-FFF2-40B4-BE49-F238E27FC236}">
                  <a16:creationId xmlns:a16="http://schemas.microsoft.com/office/drawing/2014/main" id="{90C953EF-ADBF-E394-91AC-00BB399780C1}"/>
                </a:ext>
              </a:extLst>
            </p:cNvPr>
            <p:cNvGrpSpPr/>
            <p:nvPr/>
          </p:nvGrpSpPr>
          <p:grpSpPr>
            <a:xfrm>
              <a:off x="13350240" y="8372475"/>
              <a:ext cx="8132064" cy="1408176"/>
              <a:chOff x="13350240" y="6639687"/>
              <a:chExt cx="8132064" cy="1408176"/>
            </a:xfrm>
          </p:grpSpPr>
          <p:sp>
            <p:nvSpPr>
              <p:cNvPr id="19" name="Rectangle 18">
                <a:extLst>
                  <a:ext uri="{FF2B5EF4-FFF2-40B4-BE49-F238E27FC236}">
                    <a16:creationId xmlns:a16="http://schemas.microsoft.com/office/drawing/2014/main" id="{8E27D828-0B56-1D82-6E4B-16B7C2A30166}"/>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0" name="Rectangle 19">
                <a:extLst>
                  <a:ext uri="{FF2B5EF4-FFF2-40B4-BE49-F238E27FC236}">
                    <a16:creationId xmlns:a16="http://schemas.microsoft.com/office/drawing/2014/main" id="{19F43084-AFA3-46A1-7371-A293EDE12217}"/>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1" name="Rectangle 20">
                <a:extLst>
                  <a:ext uri="{FF2B5EF4-FFF2-40B4-BE49-F238E27FC236}">
                    <a16:creationId xmlns:a16="http://schemas.microsoft.com/office/drawing/2014/main" id="{168F6D5C-4D06-EDD0-A2CD-1E065443C368}"/>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EB6ED646-8F61-CD6E-97A2-13916579E423}"/>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3" name="Rectangle 22">
                <a:extLst>
                  <a:ext uri="{FF2B5EF4-FFF2-40B4-BE49-F238E27FC236}">
                    <a16:creationId xmlns:a16="http://schemas.microsoft.com/office/drawing/2014/main" id="{88DAD82F-26D5-6919-7379-3A2A0CAAD0A5}"/>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24" name="Group 23">
              <a:extLst>
                <a:ext uri="{FF2B5EF4-FFF2-40B4-BE49-F238E27FC236}">
                  <a16:creationId xmlns:a16="http://schemas.microsoft.com/office/drawing/2014/main" id="{279FC0B9-95BD-89D4-77F6-D4FC0609D6C4}"/>
                </a:ext>
              </a:extLst>
            </p:cNvPr>
            <p:cNvGrpSpPr/>
            <p:nvPr/>
          </p:nvGrpSpPr>
          <p:grpSpPr>
            <a:xfrm>
              <a:off x="13350240" y="10105264"/>
              <a:ext cx="8132064" cy="1408176"/>
              <a:chOff x="13350240" y="6639687"/>
              <a:chExt cx="8132064" cy="1408176"/>
            </a:xfrm>
          </p:grpSpPr>
          <p:sp>
            <p:nvSpPr>
              <p:cNvPr id="25" name="Rectangle 24">
                <a:extLst>
                  <a:ext uri="{FF2B5EF4-FFF2-40B4-BE49-F238E27FC236}">
                    <a16:creationId xmlns:a16="http://schemas.microsoft.com/office/drawing/2014/main" id="{58691296-A809-C676-59BB-CB688A1727BF}"/>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6" name="Rectangle 25">
                <a:extLst>
                  <a:ext uri="{FF2B5EF4-FFF2-40B4-BE49-F238E27FC236}">
                    <a16:creationId xmlns:a16="http://schemas.microsoft.com/office/drawing/2014/main" id="{00498BA1-5464-72CB-17AE-A43321A7489F}"/>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7" name="Rectangle 26">
                <a:extLst>
                  <a:ext uri="{FF2B5EF4-FFF2-40B4-BE49-F238E27FC236}">
                    <a16:creationId xmlns:a16="http://schemas.microsoft.com/office/drawing/2014/main" id="{D634D272-5C2A-65D3-93E1-3601A408B12D}"/>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8" name="Rectangle 27">
                <a:extLst>
                  <a:ext uri="{FF2B5EF4-FFF2-40B4-BE49-F238E27FC236}">
                    <a16:creationId xmlns:a16="http://schemas.microsoft.com/office/drawing/2014/main" id="{2C47F044-99A3-0FED-6584-6967F3CE0348}"/>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29" name="Rectangle 28">
                <a:extLst>
                  <a:ext uri="{FF2B5EF4-FFF2-40B4-BE49-F238E27FC236}">
                    <a16:creationId xmlns:a16="http://schemas.microsoft.com/office/drawing/2014/main" id="{31587A10-65C6-8DEC-EFBA-EB9EE4A7EBA2}"/>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30" name="Group 29">
              <a:extLst>
                <a:ext uri="{FF2B5EF4-FFF2-40B4-BE49-F238E27FC236}">
                  <a16:creationId xmlns:a16="http://schemas.microsoft.com/office/drawing/2014/main" id="{1F97C589-7F93-1743-F91C-5B9DA17BBFEF}"/>
                </a:ext>
              </a:extLst>
            </p:cNvPr>
            <p:cNvGrpSpPr/>
            <p:nvPr/>
          </p:nvGrpSpPr>
          <p:grpSpPr>
            <a:xfrm>
              <a:off x="13350240" y="11838052"/>
              <a:ext cx="8132064" cy="1408176"/>
              <a:chOff x="13350240" y="6639687"/>
              <a:chExt cx="8132064" cy="1408176"/>
            </a:xfrm>
          </p:grpSpPr>
          <p:sp>
            <p:nvSpPr>
              <p:cNvPr id="31" name="Rectangle 30">
                <a:extLst>
                  <a:ext uri="{FF2B5EF4-FFF2-40B4-BE49-F238E27FC236}">
                    <a16:creationId xmlns:a16="http://schemas.microsoft.com/office/drawing/2014/main" id="{F54A50AA-558B-1CB4-95D1-07A2895827DB}"/>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2" name="Rectangle 31">
                <a:extLst>
                  <a:ext uri="{FF2B5EF4-FFF2-40B4-BE49-F238E27FC236}">
                    <a16:creationId xmlns:a16="http://schemas.microsoft.com/office/drawing/2014/main" id="{DBE03968-E4AC-6D5A-EDBD-87253ED91E5E}"/>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3" name="Rectangle 32">
                <a:extLst>
                  <a:ext uri="{FF2B5EF4-FFF2-40B4-BE49-F238E27FC236}">
                    <a16:creationId xmlns:a16="http://schemas.microsoft.com/office/drawing/2014/main" id="{6076CB3A-B606-AF4B-5304-699FB3F75C1C}"/>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4" name="Rectangle 33">
                <a:extLst>
                  <a:ext uri="{FF2B5EF4-FFF2-40B4-BE49-F238E27FC236}">
                    <a16:creationId xmlns:a16="http://schemas.microsoft.com/office/drawing/2014/main" id="{8AC542FC-CF0F-2718-7BE0-C604F811EA8A}"/>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5" name="Rectangle 34">
                <a:extLst>
                  <a:ext uri="{FF2B5EF4-FFF2-40B4-BE49-F238E27FC236}">
                    <a16:creationId xmlns:a16="http://schemas.microsoft.com/office/drawing/2014/main" id="{D443EB7C-9229-5958-C61A-51C70F6516C1}"/>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nvGrpSpPr>
            <p:cNvPr id="36" name="Group 35">
              <a:extLst>
                <a:ext uri="{FF2B5EF4-FFF2-40B4-BE49-F238E27FC236}">
                  <a16:creationId xmlns:a16="http://schemas.microsoft.com/office/drawing/2014/main" id="{0A1EB761-BE3D-6796-1283-6CE6B8A3CF59}"/>
                </a:ext>
              </a:extLst>
            </p:cNvPr>
            <p:cNvGrpSpPr/>
            <p:nvPr/>
          </p:nvGrpSpPr>
          <p:grpSpPr>
            <a:xfrm>
              <a:off x="13350240" y="13570841"/>
              <a:ext cx="8132064" cy="1408176"/>
              <a:chOff x="13350240" y="6639687"/>
              <a:chExt cx="8132064" cy="1408176"/>
            </a:xfrm>
          </p:grpSpPr>
          <p:sp>
            <p:nvSpPr>
              <p:cNvPr id="37" name="Rectangle 36">
                <a:extLst>
                  <a:ext uri="{FF2B5EF4-FFF2-40B4-BE49-F238E27FC236}">
                    <a16:creationId xmlns:a16="http://schemas.microsoft.com/office/drawing/2014/main" id="{020F21E4-2219-40C1-D842-1213D0A9D16D}"/>
                  </a:ext>
                </a:extLst>
              </p:cNvPr>
              <p:cNvSpPr/>
              <p:nvPr/>
            </p:nvSpPr>
            <p:spPr>
              <a:xfrm>
                <a:off x="13350240"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8" name="Rectangle 37">
                <a:extLst>
                  <a:ext uri="{FF2B5EF4-FFF2-40B4-BE49-F238E27FC236}">
                    <a16:creationId xmlns:a16="http://schemas.microsoft.com/office/drawing/2014/main" id="{2FE3BBDB-29A0-9D6F-BF18-29C3F8F6ED74}"/>
                  </a:ext>
                </a:extLst>
              </p:cNvPr>
              <p:cNvSpPr/>
              <p:nvPr/>
            </p:nvSpPr>
            <p:spPr>
              <a:xfrm>
                <a:off x="15020544"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39" name="Rectangle 38">
                <a:extLst>
                  <a:ext uri="{FF2B5EF4-FFF2-40B4-BE49-F238E27FC236}">
                    <a16:creationId xmlns:a16="http://schemas.microsoft.com/office/drawing/2014/main" id="{732A54DC-FDEB-D8D9-A740-9EAE92B5597B}"/>
                  </a:ext>
                </a:extLst>
              </p:cNvPr>
              <p:cNvSpPr/>
              <p:nvPr/>
            </p:nvSpPr>
            <p:spPr>
              <a:xfrm>
                <a:off x="16690848"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0" name="Rectangle 39">
                <a:extLst>
                  <a:ext uri="{FF2B5EF4-FFF2-40B4-BE49-F238E27FC236}">
                    <a16:creationId xmlns:a16="http://schemas.microsoft.com/office/drawing/2014/main" id="{0B747545-1349-A0F1-F34B-6865DCA730B9}"/>
                  </a:ext>
                </a:extLst>
              </p:cNvPr>
              <p:cNvSpPr/>
              <p:nvPr/>
            </p:nvSpPr>
            <p:spPr>
              <a:xfrm>
                <a:off x="18361152"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1" name="Rectangle 40">
                <a:extLst>
                  <a:ext uri="{FF2B5EF4-FFF2-40B4-BE49-F238E27FC236}">
                    <a16:creationId xmlns:a16="http://schemas.microsoft.com/office/drawing/2014/main" id="{94ABD001-6C9E-53D2-C1A8-CD21FFBE2AED}"/>
                  </a:ext>
                </a:extLst>
              </p:cNvPr>
              <p:cNvSpPr/>
              <p:nvPr/>
            </p:nvSpPr>
            <p:spPr>
              <a:xfrm>
                <a:off x="20031456" y="6639687"/>
                <a:ext cx="1450848" cy="140817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grpSp>
      </p:grpSp>
      <p:sp>
        <p:nvSpPr>
          <p:cNvPr id="42" name="Rectangle 41">
            <a:extLst>
              <a:ext uri="{FF2B5EF4-FFF2-40B4-BE49-F238E27FC236}">
                <a16:creationId xmlns:a16="http://schemas.microsoft.com/office/drawing/2014/main" id="{60C1B3B1-10CF-19C4-4738-5535354BD90D}"/>
              </a:ext>
            </a:extLst>
          </p:cNvPr>
          <p:cNvSpPr/>
          <p:nvPr/>
        </p:nvSpPr>
        <p:spPr>
          <a:xfrm>
            <a:off x="21397724" y="3932490"/>
            <a:ext cx="7905028"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Linear</a:t>
            </a:r>
            <a:endParaRPr lang="en-US" sz="4000" dirty="0">
              <a:solidFill>
                <a:schemeClr val="bg1"/>
              </a:solidFill>
              <a:latin typeface="Trebuchet MS" panose="020B0603020202020204" pitchFamily="34" charset="0"/>
            </a:endParaRPr>
          </a:p>
        </p:txBody>
      </p:sp>
      <p:sp>
        <p:nvSpPr>
          <p:cNvPr id="43" name="Rectangle 42">
            <a:extLst>
              <a:ext uri="{FF2B5EF4-FFF2-40B4-BE49-F238E27FC236}">
                <a16:creationId xmlns:a16="http://schemas.microsoft.com/office/drawing/2014/main" id="{EE4F0A7C-7408-C6C3-67A5-2E3E6CAB521B}"/>
              </a:ext>
            </a:extLst>
          </p:cNvPr>
          <p:cNvSpPr/>
          <p:nvPr/>
        </p:nvSpPr>
        <p:spPr>
          <a:xfrm rot="5400000">
            <a:off x="17932146"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4" name="Rectangle 43">
            <a:extLst>
              <a:ext uri="{FF2B5EF4-FFF2-40B4-BE49-F238E27FC236}">
                <a16:creationId xmlns:a16="http://schemas.microsoft.com/office/drawing/2014/main" id="{E5EF54A7-093F-0C3E-7C10-63C14FB6D5F2}"/>
              </a:ext>
            </a:extLst>
          </p:cNvPr>
          <p:cNvSpPr/>
          <p:nvPr/>
        </p:nvSpPr>
        <p:spPr>
          <a:xfrm rot="5400000">
            <a:off x="19556359"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5" name="Rectangle 44">
            <a:extLst>
              <a:ext uri="{FF2B5EF4-FFF2-40B4-BE49-F238E27FC236}">
                <a16:creationId xmlns:a16="http://schemas.microsoft.com/office/drawing/2014/main" id="{F8FE66BD-EF7B-7C40-D407-544F459E6F53}"/>
              </a:ext>
            </a:extLst>
          </p:cNvPr>
          <p:cNvSpPr/>
          <p:nvPr/>
        </p:nvSpPr>
        <p:spPr>
          <a:xfrm rot="5400000">
            <a:off x="21180572" y="8998839"/>
            <a:ext cx="833933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6" name="Rectangle 45">
            <a:extLst>
              <a:ext uri="{FF2B5EF4-FFF2-40B4-BE49-F238E27FC236}">
                <a16:creationId xmlns:a16="http://schemas.microsoft.com/office/drawing/2014/main" id="{BF3390CB-8579-8B02-325D-7D7C16C233AA}"/>
              </a:ext>
            </a:extLst>
          </p:cNvPr>
          <p:cNvSpPr/>
          <p:nvPr/>
        </p:nvSpPr>
        <p:spPr>
          <a:xfrm rot="5400000">
            <a:off x="23755760" y="8998839"/>
            <a:ext cx="6437379"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7" name="Rectangle 46">
            <a:extLst>
              <a:ext uri="{FF2B5EF4-FFF2-40B4-BE49-F238E27FC236}">
                <a16:creationId xmlns:a16="http://schemas.microsoft.com/office/drawing/2014/main" id="{D43394AC-9AD9-01EF-94D6-7C2D4D88E58D}"/>
              </a:ext>
            </a:extLst>
          </p:cNvPr>
          <p:cNvSpPr/>
          <p:nvPr/>
        </p:nvSpPr>
        <p:spPr>
          <a:xfrm rot="5400000">
            <a:off x="26152643" y="8998839"/>
            <a:ext cx="489204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8" name="Rectangle 47">
            <a:extLst>
              <a:ext uri="{FF2B5EF4-FFF2-40B4-BE49-F238E27FC236}">
                <a16:creationId xmlns:a16="http://schemas.microsoft.com/office/drawing/2014/main" id="{0834EEAE-D30D-6F1D-EF90-10F1F005B837}"/>
              </a:ext>
            </a:extLst>
          </p:cNvPr>
          <p:cNvSpPr/>
          <p:nvPr/>
        </p:nvSpPr>
        <p:spPr>
          <a:xfrm>
            <a:off x="13053058" y="3922777"/>
            <a:ext cx="8132064" cy="140817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Attention</a:t>
            </a:r>
            <a:endParaRPr lang="en-US" sz="4000" dirty="0">
              <a:solidFill>
                <a:schemeClr val="bg1"/>
              </a:solidFill>
              <a:latin typeface="Trebuchet MS" panose="020B0603020202020204" pitchFamily="34" charset="0"/>
            </a:endParaRPr>
          </a:p>
        </p:txBody>
      </p:sp>
      <p:sp>
        <p:nvSpPr>
          <p:cNvPr id="49" name="Rectangle 48">
            <a:extLst>
              <a:ext uri="{FF2B5EF4-FFF2-40B4-BE49-F238E27FC236}">
                <a16:creationId xmlns:a16="http://schemas.microsoft.com/office/drawing/2014/main" id="{C5C214B3-F627-7D08-8F0D-6E6E8C9993DE}"/>
              </a:ext>
            </a:extLst>
          </p:cNvPr>
          <p:cNvSpPr/>
          <p:nvPr/>
        </p:nvSpPr>
        <p:spPr>
          <a:xfrm rot="16200000">
            <a:off x="28979619" y="8477631"/>
            <a:ext cx="4078228" cy="2450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tx1"/>
                </a:solidFill>
                <a:latin typeface="Trebuchet MS" panose="020B0603020202020204" pitchFamily="34" charset="0"/>
              </a:rPr>
              <a:t>Output</a:t>
            </a:r>
          </a:p>
        </p:txBody>
      </p:sp>
      <p:pic>
        <p:nvPicPr>
          <p:cNvPr id="11" name="Picture 2">
            <a:extLst>
              <a:ext uri="{FF2B5EF4-FFF2-40B4-BE49-F238E27FC236}">
                <a16:creationId xmlns:a16="http://schemas.microsoft.com/office/drawing/2014/main" id="{BEC9D930-9F3E-A9D3-4C86-B2B1DF1A22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209" t="9310" r="49473" b="76235"/>
          <a:stretch/>
        </p:blipFill>
        <p:spPr bwMode="auto">
          <a:xfrm>
            <a:off x="1032844" y="14366077"/>
            <a:ext cx="5249509" cy="5224943"/>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DC031AB8-664F-C749-1DD9-C08F89FB80B1}"/>
              </a:ext>
            </a:extLst>
          </p:cNvPr>
          <p:cNvSpPr/>
          <p:nvPr/>
        </p:nvSpPr>
        <p:spPr>
          <a:xfrm>
            <a:off x="6620256" y="15974568"/>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2" name="Rectangle 51">
            <a:extLst>
              <a:ext uri="{FF2B5EF4-FFF2-40B4-BE49-F238E27FC236}">
                <a16:creationId xmlns:a16="http://schemas.microsoft.com/office/drawing/2014/main" id="{ED65EEFF-29EF-F405-2ABF-4788996B50BC}"/>
              </a:ext>
            </a:extLst>
          </p:cNvPr>
          <p:cNvSpPr/>
          <p:nvPr/>
        </p:nvSpPr>
        <p:spPr>
          <a:xfrm>
            <a:off x="6620256" y="17726071"/>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3" name="Arrow: Up 52">
            <a:extLst>
              <a:ext uri="{FF2B5EF4-FFF2-40B4-BE49-F238E27FC236}">
                <a16:creationId xmlns:a16="http://schemas.microsoft.com/office/drawing/2014/main" id="{C06C7DBA-A502-3DE9-BAAD-250724E01737}"/>
              </a:ext>
            </a:extLst>
          </p:cNvPr>
          <p:cNvSpPr/>
          <p:nvPr/>
        </p:nvSpPr>
        <p:spPr>
          <a:xfrm>
            <a:off x="8631936" y="14253636"/>
            <a:ext cx="2048256" cy="1377605"/>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54" name="Rectangle 53">
            <a:extLst>
              <a:ext uri="{FF2B5EF4-FFF2-40B4-BE49-F238E27FC236}">
                <a16:creationId xmlns:a16="http://schemas.microsoft.com/office/drawing/2014/main" id="{CD06CA69-EFCF-8C52-5ED1-821B74A0DD7F}"/>
              </a:ext>
            </a:extLst>
          </p:cNvPr>
          <p:cNvSpPr/>
          <p:nvPr/>
        </p:nvSpPr>
        <p:spPr>
          <a:xfrm>
            <a:off x="6620256" y="5534406"/>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5" name="Rectangle 54">
            <a:extLst>
              <a:ext uri="{FF2B5EF4-FFF2-40B4-BE49-F238E27FC236}">
                <a16:creationId xmlns:a16="http://schemas.microsoft.com/office/drawing/2014/main" id="{9DB1172A-FE4E-FED3-7326-D64F6076F6C1}"/>
              </a:ext>
            </a:extLst>
          </p:cNvPr>
          <p:cNvSpPr/>
          <p:nvPr/>
        </p:nvSpPr>
        <p:spPr>
          <a:xfrm>
            <a:off x="6620256" y="7266908"/>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6" name="Rectangle 55">
            <a:extLst>
              <a:ext uri="{FF2B5EF4-FFF2-40B4-BE49-F238E27FC236}">
                <a16:creationId xmlns:a16="http://schemas.microsoft.com/office/drawing/2014/main" id="{E5F175A7-12AF-3D0F-CF08-DF5D2F02A2F5}"/>
              </a:ext>
            </a:extLst>
          </p:cNvPr>
          <p:cNvSpPr/>
          <p:nvPr/>
        </p:nvSpPr>
        <p:spPr>
          <a:xfrm>
            <a:off x="6620256" y="8999410"/>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7" name="Rectangle 56">
            <a:extLst>
              <a:ext uri="{FF2B5EF4-FFF2-40B4-BE49-F238E27FC236}">
                <a16:creationId xmlns:a16="http://schemas.microsoft.com/office/drawing/2014/main" id="{E87B65AB-82BB-3EBD-CD78-00D9D9450284}"/>
              </a:ext>
            </a:extLst>
          </p:cNvPr>
          <p:cNvSpPr/>
          <p:nvPr/>
        </p:nvSpPr>
        <p:spPr>
          <a:xfrm>
            <a:off x="6620256" y="10731912"/>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58" name="Rectangle 57">
            <a:extLst>
              <a:ext uri="{FF2B5EF4-FFF2-40B4-BE49-F238E27FC236}">
                <a16:creationId xmlns:a16="http://schemas.microsoft.com/office/drawing/2014/main" id="{2B7CCF66-2EDF-D926-1295-7F7F8D1F58ED}"/>
              </a:ext>
            </a:extLst>
          </p:cNvPr>
          <p:cNvSpPr/>
          <p:nvPr/>
        </p:nvSpPr>
        <p:spPr>
          <a:xfrm>
            <a:off x="6620256" y="12464416"/>
            <a:ext cx="6217920" cy="140817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bg1"/>
              </a:solidFill>
              <a:latin typeface="Trebuchet MS" panose="020B0603020202020204" pitchFamily="34" charset="0"/>
            </a:endParaRPr>
          </a:p>
        </p:txBody>
      </p:sp>
      <p:sp>
        <p:nvSpPr>
          <p:cNvPr id="4" name="Rectangle 3">
            <a:extLst>
              <a:ext uri="{FF2B5EF4-FFF2-40B4-BE49-F238E27FC236}">
                <a16:creationId xmlns:a16="http://schemas.microsoft.com/office/drawing/2014/main" id="{885BF1A1-0C67-F820-2DD4-6AE097DCFAD3}"/>
              </a:ext>
            </a:extLst>
          </p:cNvPr>
          <p:cNvSpPr/>
          <p:nvPr/>
        </p:nvSpPr>
        <p:spPr>
          <a:xfrm rot="16200000">
            <a:off x="713803" y="8478203"/>
            <a:ext cx="8338186" cy="24505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tx1"/>
                </a:solidFill>
                <a:latin typeface="Trebuchet MS" panose="020B0603020202020204" pitchFamily="34" charset="0"/>
              </a:rPr>
              <a:t>Text Input</a:t>
            </a:r>
          </a:p>
        </p:txBody>
      </p:sp>
    </p:spTree>
    <p:extLst>
      <p:ext uri="{BB962C8B-B14F-4D97-AF65-F5344CB8AC3E}">
        <p14:creationId xmlns:p14="http://schemas.microsoft.com/office/powerpoint/2010/main" val="238206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DEA8E-1045-D500-DBB8-03121CDE13B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F33BBC7-0B51-AC54-CBEF-BCE8408892F0}"/>
              </a:ext>
            </a:extLst>
          </p:cNvPr>
          <p:cNvPicPr>
            <a:picLocks noChangeAspect="1"/>
          </p:cNvPicPr>
          <p:nvPr/>
        </p:nvPicPr>
        <p:blipFill>
          <a:blip r:embed="rId3"/>
          <a:stretch>
            <a:fillRect/>
          </a:stretch>
        </p:blipFill>
        <p:spPr>
          <a:xfrm>
            <a:off x="5142034" y="402336"/>
            <a:ext cx="26291932" cy="18397745"/>
          </a:xfrm>
          <a:prstGeom prst="rect">
            <a:avLst/>
          </a:prstGeom>
        </p:spPr>
      </p:pic>
    </p:spTree>
    <p:extLst>
      <p:ext uri="{BB962C8B-B14F-4D97-AF65-F5344CB8AC3E}">
        <p14:creationId xmlns:p14="http://schemas.microsoft.com/office/powerpoint/2010/main" val="2039303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6FAD-F8D6-9F61-B4EE-0DEF07F21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B11A7-DCB1-09A0-278F-4F79C2C37BF1}"/>
              </a:ext>
            </a:extLst>
          </p:cNvPr>
          <p:cNvSpPr>
            <a:spLocks noGrp="1"/>
          </p:cNvSpPr>
          <p:nvPr>
            <p:ph type="title"/>
          </p:nvPr>
        </p:nvSpPr>
        <p:spPr/>
        <p:txBody>
          <a:bodyPr/>
          <a:lstStyle/>
          <a:p>
            <a:r>
              <a:rPr lang="en-US" dirty="0"/>
              <a:t>The Projection Matrix</a:t>
            </a:r>
          </a:p>
        </p:txBody>
      </p:sp>
      <p:pic>
        <p:nvPicPr>
          <p:cNvPr id="5" name="Picture 4">
            <a:extLst>
              <a:ext uri="{FF2B5EF4-FFF2-40B4-BE49-F238E27FC236}">
                <a16:creationId xmlns:a16="http://schemas.microsoft.com/office/drawing/2014/main" id="{EA35E2FE-1451-0A9A-8DEB-64D94F4B11DD}"/>
              </a:ext>
            </a:extLst>
          </p:cNvPr>
          <p:cNvPicPr>
            <a:picLocks noChangeAspect="1"/>
          </p:cNvPicPr>
          <p:nvPr/>
        </p:nvPicPr>
        <p:blipFill>
          <a:blip r:embed="rId3"/>
          <a:stretch>
            <a:fillRect/>
          </a:stretch>
        </p:blipFill>
        <p:spPr>
          <a:xfrm>
            <a:off x="4868616" y="3654064"/>
            <a:ext cx="26838767" cy="8458910"/>
          </a:xfrm>
          <a:prstGeom prst="rect">
            <a:avLst/>
          </a:prstGeom>
        </p:spPr>
      </p:pic>
    </p:spTree>
    <p:extLst>
      <p:ext uri="{BB962C8B-B14F-4D97-AF65-F5344CB8AC3E}">
        <p14:creationId xmlns:p14="http://schemas.microsoft.com/office/powerpoint/2010/main" val="2522642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3BFD-DA9E-7FDB-1985-13398023C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25759-D43F-A299-C1DE-71430B0EDAD2}"/>
              </a:ext>
            </a:extLst>
          </p:cNvPr>
          <p:cNvSpPr>
            <a:spLocks noGrp="1"/>
          </p:cNvSpPr>
          <p:nvPr>
            <p:ph type="title"/>
          </p:nvPr>
        </p:nvSpPr>
        <p:spPr/>
        <p:txBody>
          <a:bodyPr/>
          <a:lstStyle/>
          <a:p>
            <a:r>
              <a:rPr lang="en-US" dirty="0"/>
              <a:t>The Projection Matrix</a:t>
            </a:r>
          </a:p>
        </p:txBody>
      </p:sp>
      <p:pic>
        <p:nvPicPr>
          <p:cNvPr id="5" name="Picture 4">
            <a:extLst>
              <a:ext uri="{FF2B5EF4-FFF2-40B4-BE49-F238E27FC236}">
                <a16:creationId xmlns:a16="http://schemas.microsoft.com/office/drawing/2014/main" id="{B188402F-C62B-42CD-0AEC-A4282BCCFE30}"/>
              </a:ext>
            </a:extLst>
          </p:cNvPr>
          <p:cNvPicPr>
            <a:picLocks noChangeAspect="1"/>
          </p:cNvPicPr>
          <p:nvPr/>
        </p:nvPicPr>
        <p:blipFill>
          <a:blip r:embed="rId3"/>
          <a:stretch>
            <a:fillRect/>
          </a:stretch>
        </p:blipFill>
        <p:spPr>
          <a:xfrm>
            <a:off x="4868616" y="3654064"/>
            <a:ext cx="26838767" cy="845891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38C033F-5CFC-980E-0115-617B1A00DAEF}"/>
                  </a:ext>
                </a:extLst>
              </p:cNvPr>
              <p:cNvSpPr txBox="1"/>
              <p:nvPr/>
            </p:nvSpPr>
            <p:spPr>
              <a:xfrm>
                <a:off x="10983948" y="15565719"/>
                <a:ext cx="14608102" cy="135421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800" i="1" smtClean="0">
                              <a:solidFill>
                                <a:schemeClr val="bg1"/>
                              </a:solidFill>
                              <a:latin typeface="Cambria Math" panose="02040503050406030204" pitchFamily="18" charset="0"/>
                              <a:cs typeface="NVIDIA Sans" panose="020B0503020203020204" pitchFamily="34" charset="0"/>
                            </a:rPr>
                          </m:ctrlPr>
                        </m:sSubPr>
                        <m:e>
                          <m:r>
                            <a:rPr lang="en-US" sz="8800" b="0" i="1" smtClean="0">
                              <a:solidFill>
                                <a:schemeClr val="bg1"/>
                              </a:solidFill>
                              <a:latin typeface="Cambria Math" panose="02040503050406030204" pitchFamily="18" charset="0"/>
                              <a:cs typeface="NVIDIA Sans" panose="020B0503020203020204" pitchFamily="34" charset="0"/>
                            </a:rPr>
                            <m:t>𝐻</m:t>
                          </m:r>
                        </m:e>
                        <m:sub>
                          <m:r>
                            <a:rPr lang="en-US" sz="8800" b="0" i="1" smtClean="0">
                              <a:solidFill>
                                <a:schemeClr val="bg1"/>
                              </a:solidFill>
                              <a:latin typeface="Cambria Math" panose="02040503050406030204" pitchFamily="18" charset="0"/>
                              <a:cs typeface="NVIDIA Sans" panose="020B0503020203020204" pitchFamily="34" charset="0"/>
                            </a:rPr>
                            <m:t>𝑣</m:t>
                          </m:r>
                        </m:sub>
                      </m:sSub>
                      <m:r>
                        <a:rPr lang="en-US" sz="8800" b="0" i="1" smtClean="0">
                          <a:solidFill>
                            <a:schemeClr val="bg1"/>
                          </a:solidFill>
                          <a:latin typeface="Cambria Math" panose="02040503050406030204" pitchFamily="18" charset="0"/>
                          <a:cs typeface="NVIDIA Sans" panose="020B0503020203020204" pitchFamily="34" charset="0"/>
                        </a:rPr>
                        <m:t>=</m:t>
                      </m:r>
                      <m:r>
                        <a:rPr lang="en-US" sz="8800" b="0" i="1" smtClean="0">
                          <a:solidFill>
                            <a:schemeClr val="bg1"/>
                          </a:solidFill>
                          <a:latin typeface="Cambria Math" panose="02040503050406030204" pitchFamily="18" charset="0"/>
                          <a:cs typeface="NVIDIA Sans" panose="020B0503020203020204" pitchFamily="34" charset="0"/>
                        </a:rPr>
                        <m:t>𝑊</m:t>
                      </m:r>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Sub>
                        <m:sSubPr>
                          <m:ctrlP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bPr>
                        <m:e>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𝑍</m:t>
                          </m:r>
                        </m:e>
                        <m:sub>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sub>
                      </m:sSub>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 </m:t>
                      </m:r>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𝑤𝑖𝑡h</m:t>
                      </m:r>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 </m:t>
                      </m:r>
                      <m:sSub>
                        <m:sSubPr>
                          <m:ctrlP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bPr>
                        <m:e>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𝑍</m:t>
                          </m:r>
                        </m:e>
                        <m:sub>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sub>
                      </m:sSub>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𝑔</m:t>
                      </m:r>
                      <m:d>
                        <m:dPr>
                          <m:ctrlP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sSub>
                            <m:sSubPr>
                              <m:ctrlP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bPr>
                            <m:e>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𝑋</m:t>
                              </m:r>
                            </m:e>
                            <m:sub>
                              <m:r>
                                <a:rPr lang="en-US" sz="88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sub>
                          </m:sSub>
                        </m:e>
                      </m:d>
                    </m:oMath>
                  </m:oMathPara>
                </a14:m>
                <a:endParaRPr lang="en-US" sz="88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6" name="TextBox 5">
                <a:extLst>
                  <a:ext uri="{FF2B5EF4-FFF2-40B4-BE49-F238E27FC236}">
                    <a16:creationId xmlns:a16="http://schemas.microsoft.com/office/drawing/2014/main" id="{E38C033F-5CFC-980E-0115-617B1A00DAEF}"/>
                  </a:ext>
                </a:extLst>
              </p:cNvPr>
              <p:cNvSpPr txBox="1">
                <a:spLocks noRot="1" noChangeAspect="1" noMove="1" noResize="1" noEditPoints="1" noAdjustHandles="1" noChangeArrowheads="1" noChangeShapeType="1" noTextEdit="1"/>
              </p:cNvSpPr>
              <p:nvPr/>
            </p:nvSpPr>
            <p:spPr>
              <a:xfrm>
                <a:off x="10983948" y="15565719"/>
                <a:ext cx="14608102" cy="1354217"/>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22279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62C5-E5FF-E313-55B3-AF7681A3F1D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B80446C-9539-E6E8-75CE-1E5DCA6CA988}"/>
              </a:ext>
            </a:extLst>
          </p:cNvPr>
          <p:cNvSpPr>
            <a:spLocks noGrp="1"/>
          </p:cNvSpPr>
          <p:nvPr>
            <p:ph type="body" sz="quarter" idx="13"/>
          </p:nvPr>
        </p:nvSpPr>
        <p:spPr>
          <a:xfrm>
            <a:off x="1473200" y="1865313"/>
            <a:ext cx="18476913" cy="5943600"/>
          </a:xfrm>
        </p:spPr>
        <p:txBody>
          <a:bodyPr/>
          <a:lstStyle/>
          <a:p>
            <a:r>
              <a:rPr lang="en-US" dirty="0"/>
              <a:t>Projection in Physics</a:t>
            </a:r>
          </a:p>
        </p:txBody>
      </p:sp>
    </p:spTree>
    <p:extLst>
      <p:ext uri="{BB962C8B-B14F-4D97-AF65-F5344CB8AC3E}">
        <p14:creationId xmlns:p14="http://schemas.microsoft.com/office/powerpoint/2010/main" val="1915714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38A5-DC44-6854-B926-FE793EBCF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6F4F4-96D8-5EB7-84D9-911235A34E57}"/>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203CC3C2-45D7-B8BA-2EE5-0178F5EA02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8349A187-15A7-B448-8362-228873A314E7}"/>
              </a:ext>
            </a:extLst>
          </p:cNvPr>
          <p:cNvSpPr>
            <a:spLocks noGrp="1"/>
          </p:cNvSpPr>
          <p:nvPr>
            <p:ph type="body" sz="quarter" idx="10"/>
          </p:nvPr>
        </p:nvSpPr>
        <p:spPr>
          <a:xfrm>
            <a:off x="2514600" y="2487168"/>
            <a:ext cx="31546800" cy="1408176"/>
          </a:xfrm>
        </p:spPr>
        <p:txBody>
          <a:bodyPr/>
          <a:lstStyle/>
          <a:p>
            <a:r>
              <a:rPr lang="en-US" dirty="0"/>
              <a:t>Marble Physics</a:t>
            </a:r>
          </a:p>
        </p:txBody>
      </p:sp>
    </p:spTree>
    <p:extLst>
      <p:ext uri="{BB962C8B-B14F-4D97-AF65-F5344CB8AC3E}">
        <p14:creationId xmlns:p14="http://schemas.microsoft.com/office/powerpoint/2010/main" val="267354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0D14A-C61A-8221-40D2-F7C06E772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13E5B-3402-DA68-4B14-DB6957102534}"/>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DFD0A3FA-67BC-9BC4-F274-8FB45736B0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FC86A7B7-06E7-B1AA-3BC2-AD76CFE31867}"/>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7" name="Right Triangle 6">
            <a:extLst>
              <a:ext uri="{FF2B5EF4-FFF2-40B4-BE49-F238E27FC236}">
                <a16:creationId xmlns:a16="http://schemas.microsoft.com/office/drawing/2014/main" id="{A5C525AF-2288-EC4C-BE3C-1B078F76EFBE}"/>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 name="Oval 7">
            <a:extLst>
              <a:ext uri="{FF2B5EF4-FFF2-40B4-BE49-F238E27FC236}">
                <a16:creationId xmlns:a16="http://schemas.microsoft.com/office/drawing/2014/main" id="{C3026DEE-8F84-0EEA-39EE-51544F0ED262}"/>
              </a:ext>
            </a:extLst>
          </p:cNvPr>
          <p:cNvSpPr/>
          <p:nvPr/>
        </p:nvSpPr>
        <p:spPr>
          <a:xfrm>
            <a:off x="11557755" y="10163556"/>
            <a:ext cx="2697480" cy="2697480"/>
          </a:xfrm>
          <a:prstGeom prst="ellipse">
            <a:avLst/>
          </a:prstGeom>
          <a:solidFill>
            <a:schemeClr val="tx2">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1824485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2D1BE-D9D5-15AA-1CBD-D6A62D047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7A1C2-6EDF-F959-9581-678D37F80844}"/>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D6BE66FD-C2AA-7CAE-2A12-91166B5EDC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E1579B57-2B5A-AA07-ABD7-898F83186A9D}"/>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7" name="Right Triangle 6">
            <a:extLst>
              <a:ext uri="{FF2B5EF4-FFF2-40B4-BE49-F238E27FC236}">
                <a16:creationId xmlns:a16="http://schemas.microsoft.com/office/drawing/2014/main" id="{887904F6-2100-EA68-4BF2-42E7F4A3F3B3}"/>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9" name="Rectangle 8">
            <a:extLst>
              <a:ext uri="{FF2B5EF4-FFF2-40B4-BE49-F238E27FC236}">
                <a16:creationId xmlns:a16="http://schemas.microsoft.com/office/drawing/2014/main" id="{DF4B5922-B714-371E-8311-1D913280DC30}"/>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11" name="Rectangle 10">
            <a:extLst>
              <a:ext uri="{FF2B5EF4-FFF2-40B4-BE49-F238E27FC236}">
                <a16:creationId xmlns:a16="http://schemas.microsoft.com/office/drawing/2014/main" id="{18426B75-ADB8-7F47-1379-4A29372B11DC}"/>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5" name="Oval 4">
            <a:extLst>
              <a:ext uri="{FF2B5EF4-FFF2-40B4-BE49-F238E27FC236}">
                <a16:creationId xmlns:a16="http://schemas.microsoft.com/office/drawing/2014/main" id="{A32DFED3-5BC3-FBBE-9801-43DF74FC8F47}"/>
              </a:ext>
            </a:extLst>
          </p:cNvPr>
          <p:cNvSpPr/>
          <p:nvPr/>
        </p:nvSpPr>
        <p:spPr>
          <a:xfrm>
            <a:off x="11557755" y="10163556"/>
            <a:ext cx="2697480" cy="2697480"/>
          </a:xfrm>
          <a:prstGeom prst="ellipse">
            <a:avLst/>
          </a:prstGeom>
          <a:solidFill>
            <a:schemeClr val="tx2">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10" name="Straight Arrow Connector 9">
            <a:extLst>
              <a:ext uri="{FF2B5EF4-FFF2-40B4-BE49-F238E27FC236}">
                <a16:creationId xmlns:a16="http://schemas.microsoft.com/office/drawing/2014/main" id="{41483A1B-6950-8051-67F0-ADDE645209F4}"/>
              </a:ext>
            </a:extLst>
          </p:cNvPr>
          <p:cNvCxnSpPr>
            <a:cxnSpLocks/>
            <a:endCxn id="5" idx="0"/>
          </p:cNvCxnSpPr>
          <p:nvPr/>
        </p:nvCxnSpPr>
        <p:spPr>
          <a:xfrm>
            <a:off x="12906495" y="5925312"/>
            <a:ext cx="0" cy="4238244"/>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370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C521A-C113-FD3A-5225-C85A71458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EE937-5441-B4EF-29B2-421CC1FED470}"/>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63459FB9-254B-E1D3-521E-CACD235C18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4E048508-C560-EEA6-E106-DB1EA636090D}"/>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7" name="Right Triangle 6">
            <a:extLst>
              <a:ext uri="{FF2B5EF4-FFF2-40B4-BE49-F238E27FC236}">
                <a16:creationId xmlns:a16="http://schemas.microsoft.com/office/drawing/2014/main" id="{F9690CE6-ACF2-AFDD-A4DD-71855FB9357F}"/>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 name="Oval 7">
            <a:extLst>
              <a:ext uri="{FF2B5EF4-FFF2-40B4-BE49-F238E27FC236}">
                <a16:creationId xmlns:a16="http://schemas.microsoft.com/office/drawing/2014/main" id="{6A2B6BEC-FE15-C93A-F2B3-19E76FBDE71E}"/>
              </a:ext>
            </a:extLst>
          </p:cNvPr>
          <p:cNvSpPr/>
          <p:nvPr/>
        </p:nvSpPr>
        <p:spPr>
          <a:xfrm>
            <a:off x="11557755" y="10163556"/>
            <a:ext cx="2697480" cy="2697480"/>
          </a:xfrm>
          <a:prstGeom prst="ellipse">
            <a:avLst/>
          </a:prstGeom>
          <a:solidFill>
            <a:schemeClr val="tx2">
              <a:lumMod val="20000"/>
              <a:lumOff val="8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6" name="Straight Arrow Connector 5">
            <a:extLst>
              <a:ext uri="{FF2B5EF4-FFF2-40B4-BE49-F238E27FC236}">
                <a16:creationId xmlns:a16="http://schemas.microsoft.com/office/drawing/2014/main" id="{286DB6AB-6B90-405B-D79A-C8CFDD750E4C}"/>
              </a:ext>
            </a:extLst>
          </p:cNvPr>
          <p:cNvCxnSpPr>
            <a:cxnSpLocks/>
            <a:endCxn id="8" idx="0"/>
          </p:cNvCxnSpPr>
          <p:nvPr/>
        </p:nvCxnSpPr>
        <p:spPr>
          <a:xfrm>
            <a:off x="12906495" y="5925312"/>
            <a:ext cx="0" cy="4238244"/>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0FEAB8F-2ED6-1B74-EE19-5D8737B14A2C}"/>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p:txBody>
      </p:sp>
      <p:sp>
        <p:nvSpPr>
          <p:cNvPr id="13" name="Rectangle 12">
            <a:extLst>
              <a:ext uri="{FF2B5EF4-FFF2-40B4-BE49-F238E27FC236}">
                <a16:creationId xmlns:a16="http://schemas.microsoft.com/office/drawing/2014/main" id="{E933F2A1-536B-32F8-C8A0-EFAF86634FF5}"/>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p:txBody>
      </p:sp>
      <p:sp>
        <p:nvSpPr>
          <p:cNvPr id="14" name="Rectangle 13">
            <a:extLst>
              <a:ext uri="{FF2B5EF4-FFF2-40B4-BE49-F238E27FC236}">
                <a16:creationId xmlns:a16="http://schemas.microsoft.com/office/drawing/2014/main" id="{96191A0D-5775-4EE4-6EF0-BEAFE0A77687}"/>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072521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22CF2-ED6B-0A6B-78E6-79D12BF9C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DD99B-B0E2-732E-0331-156D70692A58}"/>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9E11ADDE-3474-F9B3-E326-3C3988A191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C6680B84-840C-581E-E6C1-79F61DB8CF20}"/>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7" name="Right Triangle 6">
            <a:extLst>
              <a:ext uri="{FF2B5EF4-FFF2-40B4-BE49-F238E27FC236}">
                <a16:creationId xmlns:a16="http://schemas.microsoft.com/office/drawing/2014/main" id="{B8429B22-1A76-EACB-EF29-6B51F2E172BB}"/>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6" name="Straight Arrow Connector 5">
            <a:extLst>
              <a:ext uri="{FF2B5EF4-FFF2-40B4-BE49-F238E27FC236}">
                <a16:creationId xmlns:a16="http://schemas.microsoft.com/office/drawing/2014/main" id="{3B9F2F00-FC37-2A9A-275B-4B10794DC6C6}"/>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05DC854-85C3-1F36-BEA3-49A54F3FDF69}"/>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10" name="Rectangle 9">
            <a:extLst>
              <a:ext uri="{FF2B5EF4-FFF2-40B4-BE49-F238E27FC236}">
                <a16:creationId xmlns:a16="http://schemas.microsoft.com/office/drawing/2014/main" id="{BB7C0098-AF78-B466-7BDB-E82019EC090F}"/>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5" name="Rectangle 4">
            <a:extLst>
              <a:ext uri="{FF2B5EF4-FFF2-40B4-BE49-F238E27FC236}">
                <a16:creationId xmlns:a16="http://schemas.microsoft.com/office/drawing/2014/main" id="{2BBCBD03-C610-7FD7-D05F-7D083F5BDCC9}"/>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p:cxnSp>
        <p:nvCxnSpPr>
          <p:cNvPr id="8" name="Straight Arrow Connector 7">
            <a:extLst>
              <a:ext uri="{FF2B5EF4-FFF2-40B4-BE49-F238E27FC236}">
                <a16:creationId xmlns:a16="http://schemas.microsoft.com/office/drawing/2014/main" id="{8595B175-8460-1753-18B1-A584964D5F95}"/>
              </a:ext>
            </a:extLst>
          </p:cNvPr>
          <p:cNvCxnSpPr>
            <a:cxnSpLocks/>
          </p:cNvCxnSpPr>
          <p:nvPr/>
        </p:nvCxnSpPr>
        <p:spPr>
          <a:xfrm flipH="1">
            <a:off x="7171296" y="1241793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149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25E-6 2.46914E-7 L -0.00052 -0.30671 " pathEditMode="relative" rAng="0" ptsTypes="AA">
                                      <p:cBhvr>
                                        <p:cTn id="6" dur="2000" fill="hold"/>
                                        <p:tgtEl>
                                          <p:spTgt spid="8"/>
                                        </p:tgtEl>
                                        <p:attrNameLst>
                                          <p:attrName>ppt_x</p:attrName>
                                          <p:attrName>ppt_y</p:attrName>
                                        </p:attrNameLst>
                                      </p:cBhvr>
                                      <p:rCtr x="-26" y="-1534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2F926-DF7A-2139-5D86-3C13D31C6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14F22-8F76-98BB-84B1-D7AA31F98E68}"/>
              </a:ext>
            </a:extLst>
          </p:cNvPr>
          <p:cNvSpPr>
            <a:spLocks noGrp="1"/>
          </p:cNvSpPr>
          <p:nvPr>
            <p:ph type="title"/>
          </p:nvPr>
        </p:nvSpPr>
        <p:spPr/>
        <p:txBody>
          <a:bodyPr/>
          <a:lstStyle/>
          <a:p>
            <a:r>
              <a:rPr lang="en-US" dirty="0"/>
              <a:t>The Projection Matrix</a:t>
            </a:r>
          </a:p>
        </p:txBody>
      </p:sp>
      <p:pic>
        <p:nvPicPr>
          <p:cNvPr id="3" name="Picture 2">
            <a:extLst>
              <a:ext uri="{FF2B5EF4-FFF2-40B4-BE49-F238E27FC236}">
                <a16:creationId xmlns:a16="http://schemas.microsoft.com/office/drawing/2014/main" id="{3841BE64-88A8-3683-FA0F-19506746B0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
        <p:nvSpPr>
          <p:cNvPr id="4" name="Text Placeholder 2">
            <a:extLst>
              <a:ext uri="{FF2B5EF4-FFF2-40B4-BE49-F238E27FC236}">
                <a16:creationId xmlns:a16="http://schemas.microsoft.com/office/drawing/2014/main" id="{EFA99C1E-4C1E-FB15-2DE7-17BA5C035925}"/>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7" name="Right Triangle 6">
            <a:extLst>
              <a:ext uri="{FF2B5EF4-FFF2-40B4-BE49-F238E27FC236}">
                <a16:creationId xmlns:a16="http://schemas.microsoft.com/office/drawing/2014/main" id="{E485FB52-A8FA-723B-41F1-F452D11C8749}"/>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6" name="Straight Arrow Connector 5">
            <a:extLst>
              <a:ext uri="{FF2B5EF4-FFF2-40B4-BE49-F238E27FC236}">
                <a16:creationId xmlns:a16="http://schemas.microsoft.com/office/drawing/2014/main" id="{BD75D0C1-1DC3-EB39-8536-6916B7E68F5D}"/>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F2ECF12-FF85-CCC9-F730-F9CE71DC98F7}"/>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10" name="Rectangle 9">
            <a:extLst>
              <a:ext uri="{FF2B5EF4-FFF2-40B4-BE49-F238E27FC236}">
                <a16:creationId xmlns:a16="http://schemas.microsoft.com/office/drawing/2014/main" id="{B23AA2E6-3D1F-06C7-99FF-B5583AF2537F}"/>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cxnSp>
        <p:nvCxnSpPr>
          <p:cNvPr id="8" name="Straight Arrow Connector 7">
            <a:extLst>
              <a:ext uri="{FF2B5EF4-FFF2-40B4-BE49-F238E27FC236}">
                <a16:creationId xmlns:a16="http://schemas.microsoft.com/office/drawing/2014/main" id="{5B1B25E6-C870-453D-C1A5-A8A7C6A451E5}"/>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Arc 10">
            <a:extLst>
              <a:ext uri="{FF2B5EF4-FFF2-40B4-BE49-F238E27FC236}">
                <a16:creationId xmlns:a16="http://schemas.microsoft.com/office/drawing/2014/main" id="{D2FB5121-B8AA-D092-9BBF-0586C443E1D4}"/>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A4BEAD59-7F10-DF25-BBD5-3E2B68A2E500}"/>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p:sp>
        <p:nvSpPr>
          <p:cNvPr id="13" name="Rectangle 12">
            <a:extLst>
              <a:ext uri="{FF2B5EF4-FFF2-40B4-BE49-F238E27FC236}">
                <a16:creationId xmlns:a16="http://schemas.microsoft.com/office/drawing/2014/main" id="{D3092234-FCFE-8A8D-3EEF-3A8A17CC77C7}"/>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2520162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2DD71-CC87-77DE-AE88-29ECC91C9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846A5-9D3D-0EAC-BD01-E238AB31C727}"/>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EFC125E1-3E54-3529-2ACB-35A23B668B6D}"/>
              </a:ext>
            </a:extLst>
          </p:cNvPr>
          <p:cNvSpPr>
            <a:spLocks noGrp="1"/>
          </p:cNvSpPr>
          <p:nvPr>
            <p:ph type="body" sz="quarter" idx="10"/>
          </p:nvPr>
        </p:nvSpPr>
        <p:spPr>
          <a:xfrm>
            <a:off x="2514600" y="2487168"/>
            <a:ext cx="31546800" cy="1408176"/>
          </a:xfrm>
        </p:spPr>
        <p:txBody>
          <a:bodyPr/>
          <a:lstStyle/>
          <a:p>
            <a:r>
              <a:rPr lang="en-US" dirty="0"/>
              <a:t>Marble Physics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E68A35-2439-1B72-6FFD-745E455B7B03}"/>
                  </a:ext>
                </a:extLst>
              </p:cNvPr>
              <p:cNvSpPr txBox="1"/>
              <p:nvPr/>
            </p:nvSpPr>
            <p:spPr>
              <a:xfrm>
                <a:off x="20047385" y="10639526"/>
                <a:ext cx="8549712" cy="12311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𝑙𝑒𝑛𝑔𝑡h</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 </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𝑜𝑓</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 </m:t>
                      </m:r>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𝑢</m:t>
                          </m:r>
                        </m:e>
                      </m:acc>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1" name="TextBox 10">
                <a:extLst>
                  <a:ext uri="{FF2B5EF4-FFF2-40B4-BE49-F238E27FC236}">
                    <a16:creationId xmlns:a16="http://schemas.microsoft.com/office/drawing/2014/main" id="{43E68A35-2439-1B72-6FFD-745E455B7B03}"/>
                  </a:ext>
                </a:extLst>
              </p:cNvPr>
              <p:cNvSpPr txBox="1">
                <a:spLocks noRot="1" noChangeAspect="1" noMove="1" noResize="1" noEditPoints="1" noAdjustHandles="1" noChangeArrowheads="1" noChangeShapeType="1" noTextEdit="1"/>
              </p:cNvSpPr>
              <p:nvPr/>
            </p:nvSpPr>
            <p:spPr>
              <a:xfrm>
                <a:off x="20047385" y="10639526"/>
                <a:ext cx="8549712" cy="1231106"/>
              </a:xfrm>
              <a:prstGeom prst="rect">
                <a:avLst/>
              </a:prstGeom>
              <a:blipFill>
                <a:blip r:embed="rId3"/>
                <a:stretch>
                  <a:fillRect/>
                </a:stretch>
              </a:blipFill>
            </p:spPr>
            <p:txBody>
              <a:bodyPr/>
              <a:lstStyle/>
              <a:p>
                <a:r>
                  <a:rPr lang="en-US">
                    <a:noFill/>
                  </a:rPr>
                  <a:t> </a:t>
                </a:r>
              </a:p>
            </p:txBody>
          </p:sp>
        </mc:Fallback>
      </mc:AlternateContent>
      <p:sp>
        <p:nvSpPr>
          <p:cNvPr id="19" name="Right Triangle 18">
            <a:extLst>
              <a:ext uri="{FF2B5EF4-FFF2-40B4-BE49-F238E27FC236}">
                <a16:creationId xmlns:a16="http://schemas.microsoft.com/office/drawing/2014/main" id="{4A69690A-2398-A1DE-CCB2-DAA18E7732A9}"/>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Rectangle 20">
            <a:extLst>
              <a:ext uri="{FF2B5EF4-FFF2-40B4-BE49-F238E27FC236}">
                <a16:creationId xmlns:a16="http://schemas.microsoft.com/office/drawing/2014/main" id="{832A9D4F-F068-CAF7-17EC-3FA8918ED024}"/>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9327F33D-8938-4932-ABB2-A045A8F4D10A}"/>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8C9E081-8A3E-B4B5-882D-08D59BD2E793}"/>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30" name="Rectangle 29">
                <a:extLst>
                  <a:ext uri="{FF2B5EF4-FFF2-40B4-BE49-F238E27FC236}">
                    <a16:creationId xmlns:a16="http://schemas.microsoft.com/office/drawing/2014/main" id="{38C9E081-8A3E-B4B5-882D-08D59BD2E793}"/>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5"/>
                <a:stretch>
                  <a:fillRect/>
                </a:stretch>
              </a:blipFill>
              <a:ln w="57150">
                <a:solidFill>
                  <a:schemeClr val="tx2">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B655CE2-16DC-0085-3B27-170950F4D065}"/>
                  </a:ext>
                </a:extLst>
              </p:cNvPr>
              <p:cNvSpPr txBox="1"/>
              <p:nvPr/>
            </p:nvSpPr>
            <p:spPr>
              <a:xfrm>
                <a:off x="20047385" y="7804405"/>
                <a:ext cx="12957714" cy="178651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e>
                              </m:d>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5" name="TextBox 4">
                <a:extLst>
                  <a:ext uri="{FF2B5EF4-FFF2-40B4-BE49-F238E27FC236}">
                    <a16:creationId xmlns:a16="http://schemas.microsoft.com/office/drawing/2014/main" id="{BB655CE2-16DC-0085-3B27-170950F4D065}"/>
                  </a:ext>
                </a:extLst>
              </p:cNvPr>
              <p:cNvSpPr txBox="1">
                <a:spLocks noRot="1" noChangeAspect="1" noMove="1" noResize="1" noEditPoints="1" noAdjustHandles="1" noChangeArrowheads="1" noChangeShapeType="1" noTextEdit="1"/>
              </p:cNvSpPr>
              <p:nvPr/>
            </p:nvSpPr>
            <p:spPr>
              <a:xfrm>
                <a:off x="20047385" y="7804405"/>
                <a:ext cx="12957714" cy="1786515"/>
              </a:xfrm>
              <a:prstGeom prst="rect">
                <a:avLst/>
              </a:prstGeom>
              <a:blipFill>
                <a:blip r:embed="rId6"/>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27DF529-00A3-2305-9BCA-F1CF03051956}"/>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829D68B-9213-3893-FC4C-DA7C46BAACB1}"/>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Arc 7">
            <a:extLst>
              <a:ext uri="{FF2B5EF4-FFF2-40B4-BE49-F238E27FC236}">
                <a16:creationId xmlns:a16="http://schemas.microsoft.com/office/drawing/2014/main" id="{873FB013-99B6-A8CF-B9D2-5326D724F392}"/>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04F1542F-1D2A-8CD8-1157-A1174934D87A}"/>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p:sp>
        <p:nvSpPr>
          <p:cNvPr id="10" name="Rectangle 9">
            <a:extLst>
              <a:ext uri="{FF2B5EF4-FFF2-40B4-BE49-F238E27FC236}">
                <a16:creationId xmlns:a16="http://schemas.microsoft.com/office/drawing/2014/main" id="{C9608A21-3409-5B22-E5D5-FF26D0CFBC49}"/>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1874938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CFFA5-A73F-FCEB-B08E-B6BB36505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5014A-E0EE-B751-A37B-8A7E492D75E0}"/>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C669CFCA-8AAC-6ADD-7A71-E10EEBA78378}"/>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FC23ED0E-0024-97C9-B9D6-24166110DCE4}"/>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Rectangle 20">
            <a:extLst>
              <a:ext uri="{FF2B5EF4-FFF2-40B4-BE49-F238E27FC236}">
                <a16:creationId xmlns:a16="http://schemas.microsoft.com/office/drawing/2014/main" id="{46AEAC21-F8AA-8F08-F868-18D895C54A73}"/>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365FE9BA-099E-433F-10B0-637A3DB46FA0}"/>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8B81BB0-4E8F-3252-E3AA-723C91FB6CD9}"/>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9" name="Rectangle 8">
                <a:extLst>
                  <a:ext uri="{FF2B5EF4-FFF2-40B4-BE49-F238E27FC236}">
                    <a16:creationId xmlns:a16="http://schemas.microsoft.com/office/drawing/2014/main" id="{68B81BB0-4E8F-3252-E3AA-723C91FB6CD9}"/>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7"/>
                <a:stretch>
                  <a:fillRect/>
                </a:stretch>
              </a:blipFill>
              <a:ln w="57150">
                <a:solidFill>
                  <a:schemeClr val="tx2">
                    <a:lumMod val="75000"/>
                  </a:schemeClr>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9D244CAF-6B3A-630C-F1C0-E77DCAC0F847}"/>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7E6919E-663D-4B9D-F3BE-C4175F32F2A6}"/>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Arc 9">
            <a:extLst>
              <a:ext uri="{FF2B5EF4-FFF2-40B4-BE49-F238E27FC236}">
                <a16:creationId xmlns:a16="http://schemas.microsoft.com/office/drawing/2014/main" id="{A74F81B5-7EEF-98DD-70FC-7C87D24954C9}"/>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CDEA314A-8BCB-71E6-9BC6-345F394AC597}"/>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804874F-8CD2-52E6-3F93-C2A2B099CD92}"/>
                  </a:ext>
                </a:extLst>
              </p:cNvPr>
              <p:cNvSpPr txBox="1"/>
              <p:nvPr/>
            </p:nvSpPr>
            <p:spPr>
              <a:xfrm>
                <a:off x="20047385" y="7804405"/>
                <a:ext cx="12957714" cy="178651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e>
                              </m:d>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7" name="TextBox 16">
                <a:extLst>
                  <a:ext uri="{FF2B5EF4-FFF2-40B4-BE49-F238E27FC236}">
                    <a16:creationId xmlns:a16="http://schemas.microsoft.com/office/drawing/2014/main" id="{3804874F-8CD2-52E6-3F93-C2A2B099CD92}"/>
                  </a:ext>
                </a:extLst>
              </p:cNvPr>
              <p:cNvSpPr txBox="1">
                <a:spLocks noRot="1" noChangeAspect="1" noMove="1" noResize="1" noEditPoints="1" noAdjustHandles="1" noChangeArrowheads="1" noChangeShapeType="1" noTextEdit="1"/>
              </p:cNvSpPr>
              <p:nvPr/>
            </p:nvSpPr>
            <p:spPr>
              <a:xfrm>
                <a:off x="20047385" y="7804405"/>
                <a:ext cx="12957714" cy="1786515"/>
              </a:xfrm>
              <a:prstGeom prst="rect">
                <a:avLst/>
              </a:prstGeom>
              <a:blipFill>
                <a:blip r:embed="rId8"/>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1D50892C-46BF-48AF-A23B-6667410C0330}"/>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E139115-BE3A-44EE-FD92-FFC27D92EAD3}"/>
                  </a:ext>
                </a:extLst>
              </p:cNvPr>
              <p:cNvSpPr txBox="1"/>
              <p:nvPr/>
            </p:nvSpPr>
            <p:spPr>
              <a:xfrm>
                <a:off x="20047385" y="10615838"/>
                <a:ext cx="3665812" cy="125893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31" name="TextBox 30">
                <a:extLst>
                  <a:ext uri="{FF2B5EF4-FFF2-40B4-BE49-F238E27FC236}">
                    <a16:creationId xmlns:a16="http://schemas.microsoft.com/office/drawing/2014/main" id="{8E139115-BE3A-44EE-FD92-FFC27D92EAD3}"/>
                  </a:ext>
                </a:extLst>
              </p:cNvPr>
              <p:cNvSpPr txBox="1">
                <a:spLocks noRot="1" noChangeAspect="1" noMove="1" noResize="1" noEditPoints="1" noAdjustHandles="1" noChangeArrowheads="1" noChangeShapeType="1" noTextEdit="1"/>
              </p:cNvSpPr>
              <p:nvPr/>
            </p:nvSpPr>
            <p:spPr>
              <a:xfrm>
                <a:off x="20047385" y="10615838"/>
                <a:ext cx="3665812" cy="125893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2CAE7C7-A31F-4040-BF7C-AEE9FE9E9A22}"/>
                  </a:ext>
                </a:extLst>
              </p:cNvPr>
              <p:cNvSpPr txBox="1"/>
              <p:nvPr/>
            </p:nvSpPr>
            <p:spPr>
              <a:xfrm>
                <a:off x="20047385" y="13171688"/>
                <a:ext cx="14160480" cy="1527982"/>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cs typeface="NVIDIA Sans" panose="020B0503020203020204" pitchFamily="34" charset="0"/>
                        </a:rPr>
                        <m:t>1</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 −1</m:t>
                                  </m:r>
                                </m:e>
                              </m:d>
                            </m:num>
                            <m:den>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2.23</m:t>
                              </m:r>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32" name="TextBox 31">
                <a:extLst>
                  <a:ext uri="{FF2B5EF4-FFF2-40B4-BE49-F238E27FC236}">
                    <a16:creationId xmlns:a16="http://schemas.microsoft.com/office/drawing/2014/main" id="{12CAE7C7-A31F-4040-BF7C-AEE9FE9E9A22}"/>
                  </a:ext>
                </a:extLst>
              </p:cNvPr>
              <p:cNvSpPr txBox="1">
                <a:spLocks noRot="1" noChangeAspect="1" noMove="1" noResize="1" noEditPoints="1" noAdjustHandles="1" noChangeArrowheads="1" noChangeShapeType="1" noTextEdit="1"/>
              </p:cNvSpPr>
              <p:nvPr/>
            </p:nvSpPr>
            <p:spPr>
              <a:xfrm>
                <a:off x="20047385" y="13171688"/>
                <a:ext cx="14160480" cy="152798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0084422-F79A-FD97-C8D4-5058A589D561}"/>
                  </a:ext>
                </a:extLst>
              </p:cNvPr>
              <p:cNvSpPr txBox="1"/>
              <p:nvPr/>
            </p:nvSpPr>
            <p:spPr>
              <a:xfrm>
                <a:off x="20047385" y="15990366"/>
                <a:ext cx="10015370" cy="12311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cs typeface="NVIDIA Sans" panose="020B0503020203020204" pitchFamily="34" charset="0"/>
                            </a:rPr>
                            <m:t>−.41, −.20</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p:sp>
            <p:nvSpPr>
              <p:cNvPr id="33" name="TextBox 32">
                <a:extLst>
                  <a:ext uri="{FF2B5EF4-FFF2-40B4-BE49-F238E27FC236}">
                    <a16:creationId xmlns:a16="http://schemas.microsoft.com/office/drawing/2014/main" id="{80084422-F79A-FD97-C8D4-5058A589D561}"/>
                  </a:ext>
                </a:extLst>
              </p:cNvPr>
              <p:cNvSpPr txBox="1">
                <a:spLocks noRot="1" noChangeAspect="1" noMove="1" noResize="1" noEditPoints="1" noAdjustHandles="1" noChangeArrowheads="1" noChangeShapeType="1" noTextEdit="1"/>
              </p:cNvSpPr>
              <p:nvPr/>
            </p:nvSpPr>
            <p:spPr>
              <a:xfrm>
                <a:off x="20047385" y="15990366"/>
                <a:ext cx="10015370" cy="1231106"/>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0197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974F3-AED4-6C56-1788-6D6642BC072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303A7782-A0A9-BCA8-1FC1-9E636A4CCA99}"/>
                  </a:ext>
                </a:extLst>
              </p:cNvPr>
              <p:cNvSpPr txBox="1"/>
              <p:nvPr/>
            </p:nvSpPr>
            <p:spPr>
              <a:xfrm>
                <a:off x="20047385" y="7804405"/>
                <a:ext cx="12957714" cy="178651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e>
                              </m:d>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28" name="TextBox 27">
                <a:extLst>
                  <a:ext uri="{FF2B5EF4-FFF2-40B4-BE49-F238E27FC236}">
                    <a16:creationId xmlns:a16="http://schemas.microsoft.com/office/drawing/2014/main" id="{303A7782-A0A9-BCA8-1FC1-9E636A4CCA99}"/>
                  </a:ext>
                </a:extLst>
              </p:cNvPr>
              <p:cNvSpPr txBox="1">
                <a:spLocks noRot="1" noChangeAspect="1" noMove="1" noResize="1" noEditPoints="1" noAdjustHandles="1" noChangeArrowheads="1" noChangeShapeType="1" noTextEdit="1"/>
              </p:cNvSpPr>
              <p:nvPr/>
            </p:nvSpPr>
            <p:spPr>
              <a:xfrm>
                <a:off x="20047385" y="7804405"/>
                <a:ext cx="12957714" cy="178651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C321347-797A-0FD9-A5CA-980EC425306F}"/>
                  </a:ext>
                </a:extLst>
              </p:cNvPr>
              <p:cNvSpPr txBox="1"/>
              <p:nvPr/>
            </p:nvSpPr>
            <p:spPr>
              <a:xfrm>
                <a:off x="20047385" y="10615838"/>
                <a:ext cx="3665812" cy="125893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29" name="TextBox 28">
                <a:extLst>
                  <a:ext uri="{FF2B5EF4-FFF2-40B4-BE49-F238E27FC236}">
                    <a16:creationId xmlns:a16="http://schemas.microsoft.com/office/drawing/2014/main" id="{9C321347-797A-0FD9-A5CA-980EC425306F}"/>
                  </a:ext>
                </a:extLst>
              </p:cNvPr>
              <p:cNvSpPr txBox="1">
                <a:spLocks noRot="1" noChangeAspect="1" noMove="1" noResize="1" noEditPoints="1" noAdjustHandles="1" noChangeArrowheads="1" noChangeShapeType="1" noTextEdit="1"/>
              </p:cNvSpPr>
              <p:nvPr/>
            </p:nvSpPr>
            <p:spPr>
              <a:xfrm>
                <a:off x="20047385" y="10615838"/>
                <a:ext cx="3665812" cy="125893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8EF6E5B-2596-A629-A17E-81C9955969B3}"/>
                  </a:ext>
                </a:extLst>
              </p:cNvPr>
              <p:cNvSpPr txBox="1"/>
              <p:nvPr/>
            </p:nvSpPr>
            <p:spPr>
              <a:xfrm>
                <a:off x="20047385" y="13171688"/>
                <a:ext cx="14160480" cy="1527982"/>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cs typeface="NVIDIA Sans" panose="020B0503020203020204" pitchFamily="34" charset="0"/>
                        </a:rPr>
                        <m:t>1</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 −1</m:t>
                                  </m:r>
                                </m:e>
                              </m:d>
                            </m:num>
                            <m:den>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2.23</m:t>
                              </m:r>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30" name="TextBox 29">
                <a:extLst>
                  <a:ext uri="{FF2B5EF4-FFF2-40B4-BE49-F238E27FC236}">
                    <a16:creationId xmlns:a16="http://schemas.microsoft.com/office/drawing/2014/main" id="{18EF6E5B-2596-A629-A17E-81C9955969B3}"/>
                  </a:ext>
                </a:extLst>
              </p:cNvPr>
              <p:cNvSpPr txBox="1">
                <a:spLocks noRot="1" noChangeAspect="1" noMove="1" noResize="1" noEditPoints="1" noAdjustHandles="1" noChangeArrowheads="1" noChangeShapeType="1" noTextEdit="1"/>
              </p:cNvSpPr>
              <p:nvPr/>
            </p:nvSpPr>
            <p:spPr>
              <a:xfrm>
                <a:off x="20047385" y="13171688"/>
                <a:ext cx="14160480" cy="1527982"/>
              </a:xfrm>
              <a:prstGeom prst="rect">
                <a:avLst/>
              </a:prstGeom>
              <a:blipFill>
                <a:blip r:embed="rId5"/>
                <a:stretch>
                  <a:fillRect/>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7B3D442D-1DDF-4D3E-FEE1-FD45EF4A3B88}"/>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0389D887-378F-D2CC-F13D-0DF0FE1B2426}"/>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3F12D044-157E-879E-F5A5-B8D2AE83EF02}"/>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Rectangle 20">
            <a:extLst>
              <a:ext uri="{FF2B5EF4-FFF2-40B4-BE49-F238E27FC236}">
                <a16:creationId xmlns:a16="http://schemas.microsoft.com/office/drawing/2014/main" id="{0CCDF639-C106-322E-1A0E-22A152208D60}"/>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5642C789-2500-1B5F-0267-52CFEA16C07C}"/>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6" name="Rectangle 5">
            <a:extLst>
              <a:ext uri="{FF2B5EF4-FFF2-40B4-BE49-F238E27FC236}">
                <a16:creationId xmlns:a16="http://schemas.microsoft.com/office/drawing/2014/main" id="{15B3E3EB-AE4A-9631-B8AC-CA307766F305}"/>
              </a:ext>
            </a:extLst>
          </p:cNvPr>
          <p:cNvSpPr/>
          <p:nvPr/>
        </p:nvSpPr>
        <p:spPr>
          <a:xfrm>
            <a:off x="27066240" y="7498080"/>
            <a:ext cx="1865369" cy="2304288"/>
          </a:xfrm>
          <a:prstGeom prst="rect">
            <a:avLst/>
          </a:prstGeom>
          <a:noFill/>
          <a:ln w="146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9A00372-E9E7-3EDE-FB14-41EE50715EE7}"/>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15" name="Rectangle 14">
                <a:extLst>
                  <a:ext uri="{FF2B5EF4-FFF2-40B4-BE49-F238E27FC236}">
                    <a16:creationId xmlns:a16="http://schemas.microsoft.com/office/drawing/2014/main" id="{F9A00372-E9E7-3EDE-FB14-41EE50715EE7}"/>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7"/>
                <a:stretch>
                  <a:fillRect/>
                </a:stretch>
              </a:blipFill>
              <a:ln w="57150">
                <a:solidFill>
                  <a:schemeClr val="tx2">
                    <a:lumMod val="75000"/>
                  </a:schemeClr>
                </a:solidFill>
              </a:ln>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5E247AC2-5FA1-053A-BE10-4985028FC7B6}"/>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1AB2045-ACF5-33F0-08C3-536B9EEF470D}"/>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229136D-E2BA-25E0-5908-1D26EB120A53}"/>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p:sp>
        <p:nvSpPr>
          <p:cNvPr id="11" name="Arc 10">
            <a:extLst>
              <a:ext uri="{FF2B5EF4-FFF2-40B4-BE49-F238E27FC236}">
                <a16:creationId xmlns:a16="http://schemas.microsoft.com/office/drawing/2014/main" id="{F5A5C812-30DF-E2FE-7139-74E31EA36FAD}"/>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D14C5B6C-1284-15AF-0140-971C91ED86A5}"/>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6DFA517-A3A9-3F7C-8D29-9AA3A355E561}"/>
                  </a:ext>
                </a:extLst>
              </p:cNvPr>
              <p:cNvSpPr txBox="1"/>
              <p:nvPr/>
            </p:nvSpPr>
            <p:spPr>
              <a:xfrm>
                <a:off x="20047387" y="15990366"/>
                <a:ext cx="10015370" cy="12311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r>
                            <a:rPr lang="en-US" sz="8000" b="0" i="1" smtClean="0">
                              <a:solidFill>
                                <a:schemeClr val="bg1"/>
                              </a:solidFill>
                              <a:latin typeface="Cambria Math" panose="02040503050406030204" pitchFamily="18" charset="0"/>
                              <a:cs typeface="NVIDIA Sans" panose="020B0503020203020204" pitchFamily="34" charset="0"/>
                            </a:rPr>
                            <m:t>−.41, −.20</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3" name="TextBox 2">
                <a:extLst>
                  <a:ext uri="{FF2B5EF4-FFF2-40B4-BE49-F238E27FC236}">
                    <a16:creationId xmlns:a16="http://schemas.microsoft.com/office/drawing/2014/main" id="{46DFA517-A3A9-3F7C-8D29-9AA3A355E561}"/>
                  </a:ext>
                </a:extLst>
              </p:cNvPr>
              <p:cNvSpPr txBox="1">
                <a:spLocks noRot="1" noChangeAspect="1" noMove="1" noResize="1" noEditPoints="1" noAdjustHandles="1" noChangeArrowheads="1" noChangeShapeType="1" noTextEdit="1"/>
              </p:cNvSpPr>
              <p:nvPr/>
            </p:nvSpPr>
            <p:spPr>
              <a:xfrm>
                <a:off x="20047387" y="15990366"/>
                <a:ext cx="10015370" cy="1231106"/>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24038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8EEAF-1A6C-211E-64DF-7A293DCF8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A069F-E608-7BA9-6FCF-B29B4DB3B6D7}"/>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7877C6F6-E1DF-0482-AAD2-4C277BF5B216}"/>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7D9AD1C0-AD13-03CC-1F3A-6B223A8D84AF}"/>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Rectangle 20">
            <a:extLst>
              <a:ext uri="{FF2B5EF4-FFF2-40B4-BE49-F238E27FC236}">
                <a16:creationId xmlns:a16="http://schemas.microsoft.com/office/drawing/2014/main" id="{5DF81115-7920-DA1C-FA73-737046B1C161}"/>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5EF7158E-3ABE-6D60-48DD-117001C1A4EF}"/>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6" name="Rectangle 5">
            <a:extLst>
              <a:ext uri="{FF2B5EF4-FFF2-40B4-BE49-F238E27FC236}">
                <a16:creationId xmlns:a16="http://schemas.microsoft.com/office/drawing/2014/main" id="{06C8007E-C06F-97BF-11E7-3581C7BDA5C5}"/>
              </a:ext>
            </a:extLst>
          </p:cNvPr>
          <p:cNvSpPr/>
          <p:nvPr/>
        </p:nvSpPr>
        <p:spPr>
          <a:xfrm>
            <a:off x="28472019" y="12780425"/>
            <a:ext cx="5919421" cy="2304288"/>
          </a:xfrm>
          <a:prstGeom prst="rect">
            <a:avLst/>
          </a:prstGeom>
          <a:noFill/>
          <a:ln w="146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F8446C1-FBB8-0256-AE72-278F8877840F}"/>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15" name="Rectangle 14">
                <a:extLst>
                  <a:ext uri="{FF2B5EF4-FFF2-40B4-BE49-F238E27FC236}">
                    <a16:creationId xmlns:a16="http://schemas.microsoft.com/office/drawing/2014/main" id="{8F8446C1-FBB8-0256-AE72-278F8877840F}"/>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7"/>
                <a:stretch>
                  <a:fillRect/>
                </a:stretch>
              </a:blipFill>
              <a:ln w="57150">
                <a:solidFill>
                  <a:schemeClr val="tx2">
                    <a:lumMod val="75000"/>
                  </a:schemeClr>
                </a:solidFill>
              </a:ln>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F982507B-5AD1-78E5-62EA-93C07441E516}"/>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407EAF3-E0BC-F872-A805-A8484D8FE9FD}"/>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D032998-F45E-33F0-48AF-801312EECED2}"/>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p:sp>
        <p:nvSpPr>
          <p:cNvPr id="9" name="Arc 8">
            <a:extLst>
              <a:ext uri="{FF2B5EF4-FFF2-40B4-BE49-F238E27FC236}">
                <a16:creationId xmlns:a16="http://schemas.microsoft.com/office/drawing/2014/main" id="{B145F711-3BAF-F32A-BE9F-BF939F9BFB78}"/>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00E5B5-3590-A582-5FBE-8FAEADE6ED53}"/>
                  </a:ext>
                </a:extLst>
              </p:cNvPr>
              <p:cNvSpPr txBox="1"/>
              <p:nvPr/>
            </p:nvSpPr>
            <p:spPr>
              <a:xfrm>
                <a:off x="20047385" y="7804405"/>
                <a:ext cx="12957714" cy="178651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e>
                              </m:d>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7" name="TextBox 16">
                <a:extLst>
                  <a:ext uri="{FF2B5EF4-FFF2-40B4-BE49-F238E27FC236}">
                    <a16:creationId xmlns:a16="http://schemas.microsoft.com/office/drawing/2014/main" id="{8200E5B5-3590-A582-5FBE-8FAEADE6ED53}"/>
                  </a:ext>
                </a:extLst>
              </p:cNvPr>
              <p:cNvSpPr txBox="1">
                <a:spLocks noRot="1" noChangeAspect="1" noMove="1" noResize="1" noEditPoints="1" noAdjustHandles="1" noChangeArrowheads="1" noChangeShapeType="1" noTextEdit="1"/>
              </p:cNvSpPr>
              <p:nvPr/>
            </p:nvSpPr>
            <p:spPr>
              <a:xfrm>
                <a:off x="20047385" y="7804405"/>
                <a:ext cx="12957714" cy="1786515"/>
              </a:xfrm>
              <a:prstGeom prst="rect">
                <a:avLst/>
              </a:prstGeom>
              <a:blipFill>
                <a:blip r:embed="rId8"/>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BECD3506-2CA6-CBD1-E891-15E7DF1C879B}"/>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74E6EFB-C90E-8CEA-59D5-F85E662D451B}"/>
                  </a:ext>
                </a:extLst>
              </p:cNvPr>
              <p:cNvSpPr txBox="1"/>
              <p:nvPr/>
            </p:nvSpPr>
            <p:spPr>
              <a:xfrm>
                <a:off x="20047385" y="10615838"/>
                <a:ext cx="3665812" cy="1258934"/>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28" name="TextBox 27">
                <a:extLst>
                  <a:ext uri="{FF2B5EF4-FFF2-40B4-BE49-F238E27FC236}">
                    <a16:creationId xmlns:a16="http://schemas.microsoft.com/office/drawing/2014/main" id="{774E6EFB-C90E-8CEA-59D5-F85E662D451B}"/>
                  </a:ext>
                </a:extLst>
              </p:cNvPr>
              <p:cNvSpPr txBox="1">
                <a:spLocks noRot="1" noChangeAspect="1" noMove="1" noResize="1" noEditPoints="1" noAdjustHandles="1" noChangeArrowheads="1" noChangeShapeType="1" noTextEdit="1"/>
              </p:cNvSpPr>
              <p:nvPr/>
            </p:nvSpPr>
            <p:spPr>
              <a:xfrm>
                <a:off x="20047385" y="10615838"/>
                <a:ext cx="3665812" cy="125893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B0587F4-CC57-536C-3B6B-0BF9E20DCA23}"/>
                  </a:ext>
                </a:extLst>
              </p:cNvPr>
              <p:cNvSpPr txBox="1"/>
              <p:nvPr/>
            </p:nvSpPr>
            <p:spPr>
              <a:xfrm>
                <a:off x="20047385" y="13171688"/>
                <a:ext cx="14160480" cy="1527982"/>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cs typeface="NVIDIA Sans" panose="020B0503020203020204" pitchFamily="34" charset="0"/>
                        </a:rPr>
                        <m:t>1</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 −1</m:t>
                                  </m:r>
                                </m:e>
                              </m:d>
                            </m:num>
                            <m:den>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2.23</m:t>
                              </m:r>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sSup>
                            <m:sSup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sSup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63</m:t>
                              </m:r>
                            </m:e>
                            <m:sup>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sup>
                          </m:sSup>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29" name="TextBox 28">
                <a:extLst>
                  <a:ext uri="{FF2B5EF4-FFF2-40B4-BE49-F238E27FC236}">
                    <a16:creationId xmlns:a16="http://schemas.microsoft.com/office/drawing/2014/main" id="{2B0587F4-CC57-536C-3B6B-0BF9E20DCA23}"/>
                  </a:ext>
                </a:extLst>
              </p:cNvPr>
              <p:cNvSpPr txBox="1">
                <a:spLocks noRot="1" noChangeAspect="1" noMove="1" noResize="1" noEditPoints="1" noAdjustHandles="1" noChangeArrowheads="1" noChangeShapeType="1" noTextEdit="1"/>
              </p:cNvSpPr>
              <p:nvPr/>
            </p:nvSpPr>
            <p:spPr>
              <a:xfrm>
                <a:off x="20047385" y="13171688"/>
                <a:ext cx="14160480" cy="152798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61CF13-4BCB-BC73-0C39-536248274D8E}"/>
                  </a:ext>
                </a:extLst>
              </p:cNvPr>
              <p:cNvSpPr txBox="1"/>
              <p:nvPr/>
            </p:nvSpPr>
            <p:spPr>
              <a:xfrm>
                <a:off x="20047387" y="15990366"/>
                <a:ext cx="10015370" cy="12311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i="1">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r>
                            <a:rPr lang="en-US" sz="8000" b="0" i="1" smtClean="0">
                              <a:solidFill>
                                <a:schemeClr val="bg1"/>
                              </a:solidFill>
                              <a:latin typeface="Cambria Math" panose="02040503050406030204" pitchFamily="18" charset="0"/>
                              <a:cs typeface="NVIDIA Sans" panose="020B0503020203020204" pitchFamily="34" charset="0"/>
                            </a:rPr>
                            <m:t>−.41, −.20</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8" name="TextBox 7">
                <a:extLst>
                  <a:ext uri="{FF2B5EF4-FFF2-40B4-BE49-F238E27FC236}">
                    <a16:creationId xmlns:a16="http://schemas.microsoft.com/office/drawing/2014/main" id="{7661CF13-4BCB-BC73-0C39-536248274D8E}"/>
                  </a:ext>
                </a:extLst>
              </p:cNvPr>
              <p:cNvSpPr txBox="1">
                <a:spLocks noRot="1" noChangeAspect="1" noMove="1" noResize="1" noEditPoints="1" noAdjustHandles="1" noChangeArrowheads="1" noChangeShapeType="1" noTextEdit="1"/>
              </p:cNvSpPr>
              <p:nvPr/>
            </p:nvSpPr>
            <p:spPr>
              <a:xfrm>
                <a:off x="20047387" y="15990366"/>
                <a:ext cx="10015370" cy="1231106"/>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0738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6020B-D2F1-1945-8A31-AD9FC5A12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1D200-245A-47C4-A26A-32F987EE25B1}"/>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E3170A78-D9A6-46EE-CD2D-611214C0DD56}"/>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D5D5D00D-A6DF-4384-031D-ADF5ECC02427}"/>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1" name="Rectangle 20">
            <a:extLst>
              <a:ext uri="{FF2B5EF4-FFF2-40B4-BE49-F238E27FC236}">
                <a16:creationId xmlns:a16="http://schemas.microsoft.com/office/drawing/2014/main" id="{A169EDA5-538D-D481-DD21-B611E1A967C6}"/>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0, -1</a:t>
            </a:r>
            <a:endParaRPr lang="en-US" sz="32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B98CF6B3-B304-0E51-31D6-9348F06683A7}"/>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955D0EC-F257-A0B2-5EB7-ACB9E995DDD1}"/>
                  </a:ext>
                </a:extLst>
              </p:cNvPr>
              <p:cNvSpPr txBox="1"/>
              <p:nvPr/>
            </p:nvSpPr>
            <p:spPr>
              <a:xfrm>
                <a:off x="20047385" y="11672170"/>
                <a:ext cx="8499185" cy="276620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a:solidFill>
                                <a:schemeClr val="bg1"/>
                              </a:solidFill>
                              <a:latin typeface="Cambria Math" panose="02040503050406030204" pitchFamily="18" charset="0"/>
                              <a:cs typeface="NVIDIA Sans" panose="020B0503020203020204" pitchFamily="34" charset="0"/>
                            </a:rPr>
                          </m:ctrlPr>
                        </m:sSubPr>
                        <m:e>
                          <m:r>
                            <a:rPr lang="en-US" sz="8000" i="1">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i="1">
                              <a:solidFill>
                                <a:schemeClr val="bg1"/>
                              </a:solidFill>
                              <a:latin typeface="Cambria Math" panose="02040503050406030204" pitchFamily="18" charset="0"/>
                              <a:cs typeface="NVIDIA Sans" panose="020B0503020203020204" pitchFamily="34" charset="0"/>
                            </a:rPr>
                          </m:ctrlPr>
                        </m:accPr>
                        <m:e>
                          <m:r>
                            <a:rPr lang="en-US" sz="8000" i="1">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ctrlPr>
                            <a:rPr lang="en-US" sz="8000" b="0" i="1" smtClean="0">
                              <a:solidFill>
                                <a:schemeClr val="bg1"/>
                              </a:solidFill>
                              <a:latin typeface="Cambria Math" panose="02040503050406030204" pitchFamily="18" charset="0"/>
                              <a:cs typeface="NVIDIA Sans" panose="020B0503020203020204" pitchFamily="34" charset="0"/>
                            </a:rPr>
                          </m:ctrlPr>
                        </m:dPr>
                        <m:e>
                          <m:f>
                            <m:fPr>
                              <m:ctrlPr>
                                <a:rPr lang="en-US" sz="8000" b="0" i="1" smtClean="0">
                                  <a:solidFill>
                                    <a:schemeClr val="bg1"/>
                                  </a:solidFill>
                                  <a:latin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acc>
                                <m:accPr>
                                  <m:chr m:val="⃗"/>
                                  <m:ctrlPr>
                                    <a:rPr lang="en-US" sz="8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r>
                                <a:rPr lang="en-US" sz="8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acc>
                                <m:accPr>
                                  <m:chr m:val="⃗"/>
                                  <m:ctrlPr>
                                    <a:rPr lang="en-US" sz="800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den>
                          </m:f>
                        </m:e>
                      </m:d>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3" name="TextBox 2">
                <a:extLst>
                  <a:ext uri="{FF2B5EF4-FFF2-40B4-BE49-F238E27FC236}">
                    <a16:creationId xmlns:a16="http://schemas.microsoft.com/office/drawing/2014/main" id="{A955D0EC-F257-A0B2-5EB7-ACB9E995DDD1}"/>
                  </a:ext>
                </a:extLst>
              </p:cNvPr>
              <p:cNvSpPr txBox="1">
                <a:spLocks noRot="1" noChangeAspect="1" noMove="1" noResize="1" noEditPoints="1" noAdjustHandles="1" noChangeArrowheads="1" noChangeShapeType="1" noTextEdit="1"/>
              </p:cNvSpPr>
              <p:nvPr/>
            </p:nvSpPr>
            <p:spPr>
              <a:xfrm>
                <a:off x="20047385" y="11672170"/>
                <a:ext cx="8499185" cy="276620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1FAADF5-ACAE-1EBA-BD63-EF1F80C33F1A}"/>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8" name="Rectangle 7">
                <a:extLst>
                  <a:ext uri="{FF2B5EF4-FFF2-40B4-BE49-F238E27FC236}">
                    <a16:creationId xmlns:a16="http://schemas.microsoft.com/office/drawing/2014/main" id="{41FAADF5-ACAE-1EBA-BD63-EF1F80C33F1A}"/>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5"/>
                <a:stretch>
                  <a:fillRect/>
                </a:stretch>
              </a:blipFill>
              <a:ln w="57150">
                <a:solidFill>
                  <a:schemeClr val="tx2">
                    <a:lumMod val="75000"/>
                  </a:schemeClr>
                </a:solidFill>
              </a:ln>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56CD71F-D9A9-5494-60F2-9C9DB2055F27}"/>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5566EB-B9E2-49F3-3BC0-5DFDE5EBAB1F}"/>
              </a:ext>
            </a:extLst>
          </p:cNvPr>
          <p:cNvCxnSpPr>
            <a:cxnSpLocks/>
          </p:cNvCxnSpPr>
          <p:nvPr/>
        </p:nvCxnSpPr>
        <p:spPr>
          <a:xfrm flipH="1">
            <a:off x="7146803" y="609361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CD6BD31-F3AF-082E-B9EE-89667A1CBB51}"/>
              </a:ext>
            </a:extLst>
          </p:cNvPr>
          <p:cNvSpPr/>
          <p:nvPr/>
        </p:nvSpPr>
        <p:spPr>
          <a:xfrm>
            <a:off x="10610530" y="8037577"/>
            <a:ext cx="1318438"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l-GR" sz="6000" dirty="0">
                <a:solidFill>
                  <a:schemeClr val="bg1"/>
                </a:solidFill>
                <a:latin typeface="Trebuchet MS" panose="020B0603020202020204" pitchFamily="34" charset="0"/>
              </a:rPr>
              <a:t>θ</a:t>
            </a:r>
            <a:endParaRPr lang="en-US" sz="6000" dirty="0">
              <a:solidFill>
                <a:schemeClr val="bg1"/>
              </a:solidFill>
              <a:latin typeface="Trebuchet MS" panose="020B0603020202020204" pitchFamily="34" charset="0"/>
            </a:endParaRPr>
          </a:p>
        </p:txBody>
      </p:sp>
      <p:sp>
        <p:nvSpPr>
          <p:cNvPr id="11" name="Arc 10">
            <a:extLst>
              <a:ext uri="{FF2B5EF4-FFF2-40B4-BE49-F238E27FC236}">
                <a16:creationId xmlns:a16="http://schemas.microsoft.com/office/drawing/2014/main" id="{0F6A8950-6F6E-E2FA-3BB6-EF6A7FC3D5EC}"/>
              </a:ext>
            </a:extLst>
          </p:cNvPr>
          <p:cNvSpPr/>
          <p:nvPr/>
        </p:nvSpPr>
        <p:spPr>
          <a:xfrm>
            <a:off x="11039192" y="4258057"/>
            <a:ext cx="3671120" cy="3671120"/>
          </a:xfrm>
          <a:prstGeom prst="arc">
            <a:avLst>
              <a:gd name="adj1" fmla="val 5827239"/>
              <a:gd name="adj2" fmla="val 9367892"/>
            </a:avLst>
          </a:prstGeom>
          <a:ln w="1270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90EC3D5-0EA6-254B-551F-5CB0524B8F7E}"/>
                  </a:ext>
                </a:extLst>
              </p:cNvPr>
              <p:cNvSpPr txBox="1"/>
              <p:nvPr/>
            </p:nvSpPr>
            <p:spPr>
              <a:xfrm>
                <a:off x="20047385" y="7804405"/>
                <a:ext cx="12957714" cy="1786515"/>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8000" i="1" smtClean="0">
                              <a:solidFill>
                                <a:schemeClr val="bg1"/>
                              </a:solidFill>
                              <a:latin typeface="Cambria Math" panose="02040503050406030204" pitchFamily="18" charset="0"/>
                              <a:cs typeface="NVIDIA Sans" panose="020B0503020203020204" pitchFamily="34" charset="0"/>
                            </a:rPr>
                          </m:ctrlPr>
                        </m:sSubPr>
                        <m:e>
                          <m:r>
                            <a:rPr lang="en-US" sz="80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r>
                        <a:rPr lang="en-US" sz="8000" b="0" i="1" smtClean="0">
                          <a:solidFill>
                            <a:schemeClr val="bg1"/>
                          </a:solidFill>
                          <a:latin typeface="Cambria Math" panose="02040503050406030204" pitchFamily="18" charset="0"/>
                          <a:cs typeface="NVIDIA Sans" panose="020B0503020203020204" pitchFamily="34" charset="0"/>
                        </a:rPr>
                        <m:t>=</m:t>
                      </m:r>
                      <m:d>
                        <m:dPr>
                          <m:begChr m:val="‖"/>
                          <m:endChr m:val="‖"/>
                          <m:ctrlPr>
                            <a:rPr lang="en-US" sz="8000" b="0" i="1" smtClean="0">
                              <a:solidFill>
                                <a:schemeClr val="bg1"/>
                              </a:solidFill>
                              <a:latin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cs typeface="NVIDIA Sans" panose="020B0503020203020204" pitchFamily="34" charset="0"/>
                                </a:rPr>
                                <m:t>𝑢</m:t>
                              </m:r>
                            </m:e>
                          </m:acc>
                        </m:e>
                      </m:d>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box>
                        <m:box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boxPr>
                        <m:e>
                          <m:argPr>
                            <m:argSz m:val="-1"/>
                          </m:argPr>
                          <m:f>
                            <m:f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fPr>
                            <m:num>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num>
                            <m:den>
                              <m:d>
                                <m:dPr>
                                  <m:begChr m:val="‖"/>
                                  <m:end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acc>
                                    <m:accPr>
                                      <m:chr m:val="⃗"/>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accPr>
                                    <m:e>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𝑣</m:t>
                                      </m:r>
                                    </m:e>
                                  </m:acc>
                                </m:e>
                              </m:d>
                            </m:den>
                          </m:f>
                        </m:e>
                      </m:box>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m:t>
                      </m:r>
                      <m: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t>𝑐𝑜𝑠</m:t>
                      </m:r>
                      <m:d>
                        <m:dPr>
                          <m:ctrlPr>
                            <a:rPr lang="en-US" sz="8000" b="0" i="1" smtClean="0">
                              <a:solidFill>
                                <a:schemeClr val="bg1"/>
                              </a:solidFill>
                              <a:latin typeface="Cambria Math" panose="02040503050406030204" pitchFamily="18" charset="0"/>
                              <a:ea typeface="Cambria Math" panose="02040503050406030204" pitchFamily="18" charset="0"/>
                              <a:cs typeface="NVIDIA Sans" panose="020B0503020203020204" pitchFamily="34" charset="0"/>
                            </a:rPr>
                          </m:ctrlPr>
                        </m:dPr>
                        <m:e>
                          <m:r>
                            <a:rPr lang="en-US" sz="8000" i="1">
                              <a:solidFill>
                                <a:schemeClr val="bg1"/>
                              </a:solidFill>
                              <a:latin typeface="Cambria Math" panose="02040503050406030204" pitchFamily="18" charset="0"/>
                              <a:ea typeface="Cambria Math" panose="02040503050406030204" pitchFamily="18" charset="0"/>
                              <a:cs typeface="NVIDIA Sans" panose="020B0503020203020204" pitchFamily="34" charset="0"/>
                            </a:rPr>
                            <m:t>𝜃</m:t>
                          </m:r>
                        </m:e>
                      </m:d>
                    </m:oMath>
                  </m:oMathPara>
                </a14:m>
                <a:endParaRPr lang="en-US" sz="80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2" name="TextBox 11">
                <a:extLst>
                  <a:ext uri="{FF2B5EF4-FFF2-40B4-BE49-F238E27FC236}">
                    <a16:creationId xmlns:a16="http://schemas.microsoft.com/office/drawing/2014/main" id="{990EC3D5-0EA6-254B-551F-5CB0524B8F7E}"/>
                  </a:ext>
                </a:extLst>
              </p:cNvPr>
              <p:cNvSpPr txBox="1">
                <a:spLocks noRot="1" noChangeAspect="1" noMove="1" noResize="1" noEditPoints="1" noAdjustHandles="1" noChangeArrowheads="1" noChangeShapeType="1" noTextEdit="1"/>
              </p:cNvSpPr>
              <p:nvPr/>
            </p:nvSpPr>
            <p:spPr>
              <a:xfrm>
                <a:off x="20047385" y="7804405"/>
                <a:ext cx="12957714" cy="1786515"/>
              </a:xfrm>
              <a:prstGeom prst="rect">
                <a:avLst/>
              </a:prstGeom>
              <a:blipFill>
                <a:blip r:embed="rId6"/>
                <a:stretch>
                  <a:fillRect/>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184952DC-4AAD-6AA6-AA89-23B44E094A6D}"/>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-2, -1</a:t>
            </a:r>
            <a:endParaRPr lang="en-US" sz="3200" dirty="0">
              <a:solidFill>
                <a:schemeClr val="bg1"/>
              </a:solidFill>
              <a:latin typeface="Trebuchet MS" panose="020B0603020202020204" pitchFamily="34" charset="0"/>
            </a:endParaRPr>
          </a:p>
        </p:txBody>
      </p:sp>
    </p:spTree>
    <p:extLst>
      <p:ext uri="{BB962C8B-B14F-4D97-AF65-F5344CB8AC3E}">
        <p14:creationId xmlns:p14="http://schemas.microsoft.com/office/powerpoint/2010/main" val="3898801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E3CE-F939-E3F2-9205-4CBF4DAC9BD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DB3D20A-52C3-C413-C132-E0E94B4A7A79}"/>
              </a:ext>
            </a:extLst>
          </p:cNvPr>
          <p:cNvSpPr>
            <a:spLocks noGrp="1"/>
          </p:cNvSpPr>
          <p:nvPr>
            <p:ph type="body" sz="quarter" idx="13"/>
          </p:nvPr>
        </p:nvSpPr>
        <p:spPr>
          <a:xfrm>
            <a:off x="1473200" y="1865313"/>
            <a:ext cx="18476913" cy="5943600"/>
          </a:xfrm>
        </p:spPr>
        <p:txBody>
          <a:bodyPr/>
          <a:lstStyle/>
          <a:p>
            <a:r>
              <a:rPr lang="en-US" dirty="0"/>
              <a:t>Projection in</a:t>
            </a:r>
          </a:p>
          <a:p>
            <a:r>
              <a:rPr lang="en-US" dirty="0"/>
              <a:t>Visual Instruction Tuning</a:t>
            </a:r>
          </a:p>
        </p:txBody>
      </p:sp>
    </p:spTree>
    <p:extLst>
      <p:ext uri="{BB962C8B-B14F-4D97-AF65-F5344CB8AC3E}">
        <p14:creationId xmlns:p14="http://schemas.microsoft.com/office/powerpoint/2010/main" val="2734800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EE069-80DA-CDBF-F8AB-6CD0F428A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DD17D-9F1D-4593-282E-41FB7DCBE1C0}"/>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0AE08BB8-6901-A8C6-18A0-C27E9E75E674}"/>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3BAA4339-C4B2-D9D5-A0B6-A389375E6022}"/>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20" name="Straight Arrow Connector 19">
            <a:extLst>
              <a:ext uri="{FF2B5EF4-FFF2-40B4-BE49-F238E27FC236}">
                <a16:creationId xmlns:a16="http://schemas.microsoft.com/office/drawing/2014/main" id="{B85FED6A-E750-1804-2EA8-41E3657B2EFD}"/>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9867DEA-FB81-7E2D-78D3-44E716D07AEF}"/>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Gravity (u)</a:t>
            </a:r>
          </a:p>
          <a:p>
            <a:pPr algn="ctr">
              <a:lnSpc>
                <a:spcPct val="90000"/>
              </a:lnSpc>
            </a:pPr>
            <a:endParaRPr lang="en-US" sz="48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528564FB-193E-4B3B-CE60-F6CD0EA30982}"/>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23" name="Rectangle 22">
            <a:extLst>
              <a:ext uri="{FF2B5EF4-FFF2-40B4-BE49-F238E27FC236}">
                <a16:creationId xmlns:a16="http://schemas.microsoft.com/office/drawing/2014/main" id="{0F34FBFB-9606-A807-90F7-21065E1265CA}"/>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latin typeface="Trebuchet MS" panose="020B0603020202020204" pitchFamily="34" charset="0"/>
              </a:rPr>
              <a:t>Slope (v)</a:t>
            </a:r>
          </a:p>
          <a:p>
            <a:pPr algn="ctr">
              <a:lnSpc>
                <a:spcPct val="90000"/>
              </a:lnSpc>
            </a:pPr>
            <a:endParaRPr lang="en-US" sz="3200" dirty="0">
              <a:solidFill>
                <a:schemeClr val="bg1"/>
              </a:solidFill>
              <a:latin typeface="Trebuchet MS" panose="020B0603020202020204" pitchFamily="34" charset="0"/>
            </a:endParaRPr>
          </a:p>
        </p:txBody>
      </p:sp>
      <p:cxnSp>
        <p:nvCxnSpPr>
          <p:cNvPr id="26" name="Straight Arrow Connector 25">
            <a:extLst>
              <a:ext uri="{FF2B5EF4-FFF2-40B4-BE49-F238E27FC236}">
                <a16:creationId xmlns:a16="http://schemas.microsoft.com/office/drawing/2014/main" id="{D44ECBD7-E3AA-874D-9B65-E41749681C77}"/>
              </a:ext>
            </a:extLst>
          </p:cNvPr>
          <p:cNvCxnSpPr>
            <a:cxnSpLocks/>
          </p:cNvCxnSpPr>
          <p:nvPr/>
        </p:nvCxnSpPr>
        <p:spPr>
          <a:xfrm flipH="1">
            <a:off x="7171296" y="1241793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536057B-83F0-BC9C-7751-080D62489040}"/>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8" name="Rectangle 7">
                <a:extLst>
                  <a:ext uri="{FF2B5EF4-FFF2-40B4-BE49-F238E27FC236}">
                    <a16:creationId xmlns:a16="http://schemas.microsoft.com/office/drawing/2014/main" id="{41FAADF5-ACAE-1EBA-BD63-EF1F80C33F1A}"/>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5"/>
                <a:stretch>
                  <a:fillRect/>
                </a:stretch>
              </a:blipFill>
              <a:ln w="57150">
                <a:solidFill>
                  <a:schemeClr val="tx2">
                    <a:lumMod val="75000"/>
                  </a:schemeClr>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6075E6C7-4137-19B6-CB28-1629FA37836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120008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91F97-D833-3672-3191-EEC56E041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7A164-205A-F625-14DC-DFA7A06C5DC7}"/>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CC8BD8BF-4820-E60E-B1C3-4A9514AF19B6}"/>
              </a:ext>
            </a:extLst>
          </p:cNvPr>
          <p:cNvSpPr>
            <a:spLocks noGrp="1"/>
          </p:cNvSpPr>
          <p:nvPr>
            <p:ph type="body" sz="quarter" idx="10"/>
          </p:nvPr>
        </p:nvSpPr>
        <p:spPr>
          <a:xfrm>
            <a:off x="2514600" y="2487168"/>
            <a:ext cx="31546800" cy="1408176"/>
          </a:xfrm>
        </p:spPr>
        <p:txBody>
          <a:bodyPr/>
          <a:lstStyle/>
          <a:p>
            <a:r>
              <a:rPr lang="en-US" dirty="0"/>
              <a:t>Marble Physics</a:t>
            </a:r>
          </a:p>
        </p:txBody>
      </p:sp>
      <p:sp>
        <p:nvSpPr>
          <p:cNvPr id="19" name="Right Triangle 18">
            <a:extLst>
              <a:ext uri="{FF2B5EF4-FFF2-40B4-BE49-F238E27FC236}">
                <a16:creationId xmlns:a16="http://schemas.microsoft.com/office/drawing/2014/main" id="{D3680A1A-5C54-0899-70CD-DF86C5801608}"/>
              </a:ext>
            </a:extLst>
          </p:cNvPr>
          <p:cNvSpPr/>
          <p:nvPr/>
        </p:nvSpPr>
        <p:spPr>
          <a:xfrm flipH="1">
            <a:off x="3547872" y="10826496"/>
            <a:ext cx="15105888" cy="5700336"/>
          </a:xfrm>
          <a:prstGeom prst="rtTriangl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cxnSp>
        <p:nvCxnSpPr>
          <p:cNvPr id="20" name="Straight Arrow Connector 19">
            <a:extLst>
              <a:ext uri="{FF2B5EF4-FFF2-40B4-BE49-F238E27FC236}">
                <a16:creationId xmlns:a16="http://schemas.microsoft.com/office/drawing/2014/main" id="{F37D0A3B-E5F7-F08F-659E-B67124E6CE26}"/>
              </a:ext>
            </a:extLst>
          </p:cNvPr>
          <p:cNvCxnSpPr>
            <a:cxnSpLocks/>
          </p:cNvCxnSpPr>
          <p:nvPr/>
        </p:nvCxnSpPr>
        <p:spPr>
          <a:xfrm>
            <a:off x="12874752" y="5852160"/>
            <a:ext cx="0" cy="7008876"/>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A6CC9BC-56D8-1FBC-8643-01BCF09F1A43}"/>
              </a:ext>
            </a:extLst>
          </p:cNvPr>
          <p:cNvSpPr/>
          <p:nvPr/>
        </p:nvSpPr>
        <p:spPr>
          <a:xfrm>
            <a:off x="13447884" y="6825997"/>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strike="sngStrike" dirty="0">
                <a:solidFill>
                  <a:schemeClr val="bg1"/>
                </a:solidFill>
                <a:latin typeface="Trebuchet MS" panose="020B0603020202020204" pitchFamily="34" charset="0"/>
              </a:rPr>
              <a:t>Gravity (u)</a:t>
            </a:r>
          </a:p>
          <a:p>
            <a:pPr algn="ctr">
              <a:lnSpc>
                <a:spcPct val="90000"/>
              </a:lnSpc>
            </a:pPr>
            <a:r>
              <a:rPr lang="en-US" sz="4800" dirty="0">
                <a:solidFill>
                  <a:schemeClr val="bg1"/>
                </a:solidFill>
                <a:latin typeface="Trebuchet MS" panose="020B0603020202020204" pitchFamily="34" charset="0"/>
              </a:rPr>
              <a:t>Image </a:t>
            </a:r>
            <a:r>
              <a:rPr lang="en-US" sz="4800" dirty="0" err="1">
                <a:solidFill>
                  <a:schemeClr val="bg1"/>
                </a:solidFill>
                <a:latin typeface="Trebuchet MS" panose="020B0603020202020204" pitchFamily="34" charset="0"/>
              </a:rPr>
              <a:t>Emb</a:t>
            </a:r>
            <a:endParaRPr lang="en-US" sz="4800" dirty="0">
              <a:solidFill>
                <a:schemeClr val="bg1"/>
              </a:solidFill>
              <a:latin typeface="Trebuchet MS" panose="020B0603020202020204" pitchFamily="34" charset="0"/>
            </a:endParaRPr>
          </a:p>
        </p:txBody>
      </p:sp>
      <p:sp>
        <p:nvSpPr>
          <p:cNvPr id="22" name="Rectangle 21">
            <a:extLst>
              <a:ext uri="{FF2B5EF4-FFF2-40B4-BE49-F238E27FC236}">
                <a16:creationId xmlns:a16="http://schemas.microsoft.com/office/drawing/2014/main" id="{99365055-760C-7830-8B88-D400DBB7C813}"/>
              </a:ext>
            </a:extLst>
          </p:cNvPr>
          <p:cNvSpPr/>
          <p:nvPr/>
        </p:nvSpPr>
        <p:spPr>
          <a:xfrm>
            <a:off x="13941594" y="12861036"/>
            <a:ext cx="3411105" cy="1408176"/>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6000" dirty="0">
                <a:solidFill>
                  <a:schemeClr val="bg1"/>
                </a:solidFill>
                <a:latin typeface="Trebuchet MS" panose="020B0603020202020204" pitchFamily="34" charset="0"/>
              </a:rPr>
              <a:t>x</a:t>
            </a:r>
            <a:r>
              <a:rPr lang="en-US" sz="6000" baseline="-25000" dirty="0">
                <a:solidFill>
                  <a:schemeClr val="bg1"/>
                </a:solidFill>
                <a:latin typeface="Trebuchet MS" panose="020B0603020202020204" pitchFamily="34" charset="0"/>
              </a:rPr>
              <a:t>0</a:t>
            </a:r>
            <a:r>
              <a:rPr lang="en-US" sz="6000" dirty="0">
                <a:solidFill>
                  <a:schemeClr val="bg1"/>
                </a:solidFill>
                <a:latin typeface="Trebuchet MS" panose="020B0603020202020204" pitchFamily="34" charset="0"/>
              </a:rPr>
              <a:t>, y</a:t>
            </a:r>
            <a:r>
              <a:rPr lang="en-US" sz="6000" baseline="-25000" dirty="0">
                <a:solidFill>
                  <a:schemeClr val="bg1"/>
                </a:solidFill>
                <a:latin typeface="Trebuchet MS" panose="020B0603020202020204" pitchFamily="34" charset="0"/>
              </a:rPr>
              <a:t>0</a:t>
            </a:r>
            <a:endParaRPr lang="en-US" sz="4000" dirty="0">
              <a:solidFill>
                <a:schemeClr val="bg1"/>
              </a:solidFill>
              <a:latin typeface="Trebuchet MS" panose="020B0603020202020204" pitchFamily="34" charset="0"/>
            </a:endParaRPr>
          </a:p>
        </p:txBody>
      </p:sp>
      <p:sp>
        <p:nvSpPr>
          <p:cNvPr id="23" name="Rectangle 22">
            <a:extLst>
              <a:ext uri="{FF2B5EF4-FFF2-40B4-BE49-F238E27FC236}">
                <a16:creationId xmlns:a16="http://schemas.microsoft.com/office/drawing/2014/main" id="{314146D7-19E3-E61D-6601-E62B50C1FAA1}"/>
              </a:ext>
            </a:extLst>
          </p:cNvPr>
          <p:cNvSpPr/>
          <p:nvPr/>
        </p:nvSpPr>
        <p:spPr>
          <a:xfrm>
            <a:off x="1842319" y="12723876"/>
            <a:ext cx="3411105" cy="1956816"/>
          </a:xfrm>
          <a:prstGeom prst="rect">
            <a:avLst/>
          </a:prstGeom>
          <a:no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strike="sngStrike" dirty="0">
                <a:solidFill>
                  <a:schemeClr val="bg1"/>
                </a:solidFill>
                <a:latin typeface="Trebuchet MS" panose="020B0603020202020204" pitchFamily="34" charset="0"/>
              </a:rPr>
              <a:t>Slope (v)</a:t>
            </a:r>
          </a:p>
          <a:p>
            <a:pPr algn="ctr">
              <a:lnSpc>
                <a:spcPct val="90000"/>
              </a:lnSpc>
            </a:pPr>
            <a:r>
              <a:rPr lang="en-US" sz="4800" dirty="0">
                <a:solidFill>
                  <a:schemeClr val="bg1"/>
                </a:solidFill>
                <a:latin typeface="Trebuchet MS" panose="020B0603020202020204" pitchFamily="34" charset="0"/>
              </a:rPr>
              <a:t>Text </a:t>
            </a:r>
            <a:r>
              <a:rPr lang="en-US" sz="4800" dirty="0" err="1">
                <a:solidFill>
                  <a:schemeClr val="bg1"/>
                </a:solidFill>
                <a:latin typeface="Trebuchet MS" panose="020B0603020202020204" pitchFamily="34" charset="0"/>
              </a:rPr>
              <a:t>Emb</a:t>
            </a:r>
            <a:endParaRPr lang="en-US" sz="3200" dirty="0">
              <a:solidFill>
                <a:schemeClr val="bg1"/>
              </a:solidFill>
              <a:latin typeface="Trebuchet MS" panose="020B0603020202020204" pitchFamily="34" charset="0"/>
            </a:endParaRPr>
          </a:p>
        </p:txBody>
      </p:sp>
      <p:cxnSp>
        <p:nvCxnSpPr>
          <p:cNvPr id="26" name="Straight Arrow Connector 25">
            <a:extLst>
              <a:ext uri="{FF2B5EF4-FFF2-40B4-BE49-F238E27FC236}">
                <a16:creationId xmlns:a16="http://schemas.microsoft.com/office/drawing/2014/main" id="{B0AA5971-C66E-4B24-B9F2-8111B59EC322}"/>
              </a:ext>
            </a:extLst>
          </p:cNvPr>
          <p:cNvCxnSpPr>
            <a:cxnSpLocks/>
          </p:cNvCxnSpPr>
          <p:nvPr/>
        </p:nvCxnSpPr>
        <p:spPr>
          <a:xfrm flipH="1">
            <a:off x="7171296" y="12417937"/>
            <a:ext cx="5374274" cy="2123128"/>
          </a:xfrm>
          <a:prstGeom prst="straightConnector1">
            <a:avLst/>
          </a:prstGeom>
          <a:ln w="1270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4399E64-6234-03F6-0FCE-6CB125781AF0}"/>
                  </a:ext>
                </a:extLst>
              </p:cNvPr>
              <p:cNvSpPr/>
              <p:nvPr/>
            </p:nvSpPr>
            <p:spPr>
              <a:xfrm>
                <a:off x="10145792" y="14612112"/>
                <a:ext cx="3411105" cy="1338351"/>
              </a:xfrm>
              <a:prstGeom prst="rect">
                <a:avLst/>
              </a:prstGeom>
              <a:solidFill>
                <a:schemeClr val="tx1"/>
              </a:solidFill>
              <a:ln w="571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14:m>
                  <m:oMathPara xmlns:m="http://schemas.openxmlformats.org/officeDocument/2006/math">
                    <m:oMathParaPr>
                      <m:jc m:val="centerGroup"/>
                    </m:oMathParaPr>
                    <m:oMath xmlns:m="http://schemas.openxmlformats.org/officeDocument/2006/math">
                      <m:sSub>
                        <m:sSubPr>
                          <m:ctrlPr>
                            <a:rPr lang="en-US" sz="4800" i="1" smtClean="0">
                              <a:solidFill>
                                <a:schemeClr val="bg1"/>
                              </a:solidFill>
                              <a:latin typeface="Cambria Math" panose="02040503050406030204" pitchFamily="18" charset="0"/>
                              <a:cs typeface="NVIDIA Sans" panose="020B0503020203020204" pitchFamily="34" charset="0"/>
                            </a:rPr>
                          </m:ctrlPr>
                        </m:sSubPr>
                        <m:e>
                          <m:r>
                            <a:rPr lang="en-US" sz="4800" b="0" i="1" smtClean="0">
                              <a:solidFill>
                                <a:schemeClr val="bg1"/>
                              </a:solidFill>
                              <a:latin typeface="Cambria Math" panose="02040503050406030204" pitchFamily="18" charset="0"/>
                              <a:cs typeface="NVIDIA Sans" panose="020B0503020203020204" pitchFamily="34" charset="0"/>
                            </a:rPr>
                            <m:t>𝑝𝑟𝑜𝑗</m:t>
                          </m:r>
                        </m:e>
                        <m: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𝑣</m:t>
                              </m:r>
                            </m:e>
                          </m:acc>
                        </m:sub>
                      </m:sSub>
                      <m:acc>
                        <m:accPr>
                          <m:chr m:val="⃗"/>
                          <m:ctrlPr>
                            <a:rPr lang="en-US" sz="4800" b="0" i="1" smtClean="0">
                              <a:solidFill>
                                <a:schemeClr val="bg1"/>
                              </a:solidFill>
                              <a:latin typeface="Cambria Math" panose="02040503050406030204" pitchFamily="18" charset="0"/>
                              <a:cs typeface="NVIDIA Sans" panose="020B0503020203020204" pitchFamily="34" charset="0"/>
                            </a:rPr>
                          </m:ctrlPr>
                        </m:accPr>
                        <m:e>
                          <m:r>
                            <a:rPr lang="en-US" sz="4800" b="0" i="1" smtClean="0">
                              <a:solidFill>
                                <a:schemeClr val="bg1"/>
                              </a:solidFill>
                              <a:latin typeface="Cambria Math" panose="02040503050406030204" pitchFamily="18" charset="0"/>
                              <a:cs typeface="NVIDIA Sans" panose="020B0503020203020204" pitchFamily="34" charset="0"/>
                            </a:rPr>
                            <m:t>𝑢</m:t>
                          </m:r>
                        </m:e>
                      </m:acc>
                    </m:oMath>
                  </m:oMathPara>
                </a14:m>
                <a:endParaRPr lang="en-US" sz="3200" dirty="0">
                  <a:solidFill>
                    <a:schemeClr val="bg1"/>
                  </a:solidFill>
                  <a:latin typeface="Trebuchet MS" panose="020B0603020202020204" pitchFamily="34" charset="0"/>
                </a:endParaRPr>
              </a:p>
            </p:txBody>
          </p:sp>
        </mc:Choice>
        <mc:Fallback xmlns="">
          <p:sp>
            <p:nvSpPr>
              <p:cNvPr id="8" name="Rectangle 7">
                <a:extLst>
                  <a:ext uri="{FF2B5EF4-FFF2-40B4-BE49-F238E27FC236}">
                    <a16:creationId xmlns:a16="http://schemas.microsoft.com/office/drawing/2014/main" id="{14399E64-6234-03F6-0FCE-6CB125781AF0}"/>
                  </a:ext>
                </a:extLst>
              </p:cNvPr>
              <p:cNvSpPr>
                <a:spLocks noRot="1" noChangeAspect="1" noMove="1" noResize="1" noEditPoints="1" noAdjustHandles="1" noChangeArrowheads="1" noChangeShapeType="1" noTextEdit="1"/>
              </p:cNvSpPr>
              <p:nvPr/>
            </p:nvSpPr>
            <p:spPr>
              <a:xfrm>
                <a:off x="10145792" y="14612112"/>
                <a:ext cx="3411105" cy="1338351"/>
              </a:xfrm>
              <a:prstGeom prst="rect">
                <a:avLst/>
              </a:prstGeom>
              <a:blipFill>
                <a:blip r:embed="rId3"/>
                <a:stretch>
                  <a:fillRect/>
                </a:stretch>
              </a:blipFill>
              <a:ln w="57150">
                <a:solidFill>
                  <a:schemeClr val="tx2">
                    <a:lumMod val="75000"/>
                  </a:schemeClr>
                </a:solid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id="{73E71A66-A714-7BA9-7359-5657CDD8FA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562" t="24748" r="1" b="22669"/>
          <a:stretch/>
        </p:blipFill>
        <p:spPr bwMode="auto">
          <a:xfrm>
            <a:off x="19462743" y="5577840"/>
            <a:ext cx="14598657" cy="10948992"/>
          </a:xfrm>
          <a:prstGeom prst="rect">
            <a:avLst/>
          </a:prstGeom>
          <a:solidFill>
            <a:schemeClr val="tx2">
              <a:lumMod val="20000"/>
              <a:lumOff val="80000"/>
            </a:schemeClr>
          </a:solidFill>
          <a:ln w="28575">
            <a:solidFill>
              <a:schemeClr val="bg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385445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FAF41-8962-F570-7932-8C1D79420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C9E6B-992B-B174-C55C-8CAC7ADAC4C4}"/>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0AF1A0B3-06C4-31D3-5E51-4CB500FC35A5}"/>
              </a:ext>
            </a:extLst>
          </p:cNvPr>
          <p:cNvSpPr>
            <a:spLocks noGrp="1"/>
          </p:cNvSpPr>
          <p:nvPr>
            <p:ph type="body" sz="quarter" idx="10"/>
          </p:nvPr>
        </p:nvSpPr>
        <p:spPr>
          <a:xfrm>
            <a:off x="2514600" y="2487168"/>
            <a:ext cx="31546800" cy="1408176"/>
          </a:xfrm>
        </p:spPr>
        <p:txBody>
          <a:bodyPr/>
          <a:lstStyle/>
          <a:p>
            <a:r>
              <a:rPr lang="en-US" dirty="0"/>
              <a:t>Matrix Multiplication</a:t>
            </a:r>
          </a:p>
        </p:txBody>
      </p:sp>
      <p:graphicFrame>
        <p:nvGraphicFramePr>
          <p:cNvPr id="3" name="Table 2">
            <a:extLst>
              <a:ext uri="{FF2B5EF4-FFF2-40B4-BE49-F238E27FC236}">
                <a16:creationId xmlns:a16="http://schemas.microsoft.com/office/drawing/2014/main" id="{33820C4E-ACCA-02D7-7F1E-516D70E3C3C7}"/>
              </a:ext>
            </a:extLst>
          </p:cNvPr>
          <p:cNvGraphicFramePr>
            <a:graphicFrameLocks noGrp="1"/>
          </p:cNvGraphicFramePr>
          <p:nvPr>
            <p:extLst>
              <p:ext uri="{D42A27DB-BD31-4B8C-83A1-F6EECF244321}">
                <p14:modId xmlns:p14="http://schemas.microsoft.com/office/powerpoint/2010/main" val="161308883"/>
              </p:ext>
            </p:extLst>
          </p:nvPr>
        </p:nvGraphicFramePr>
        <p:xfrm>
          <a:off x="3364992" y="6382512"/>
          <a:ext cx="12728448" cy="181051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t>x</a:t>
                      </a:r>
                      <a:r>
                        <a:rPr lang="en-US" sz="5400" b="0" baseline="-25000" dirty="0"/>
                        <a:t>1</a:t>
                      </a:r>
                      <a:endParaRPr lang="en-US" sz="5400" b="0" baseline="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2</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3</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4</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bl>
          </a:graphicData>
        </a:graphic>
      </p:graphicFrame>
      <p:graphicFrame>
        <p:nvGraphicFramePr>
          <p:cNvPr id="5" name="Table 4">
            <a:extLst>
              <a:ext uri="{FF2B5EF4-FFF2-40B4-BE49-F238E27FC236}">
                <a16:creationId xmlns:a16="http://schemas.microsoft.com/office/drawing/2014/main" id="{2B2D11C8-27B0-82F7-FD60-E52652C586E0}"/>
              </a:ext>
            </a:extLst>
          </p:cNvPr>
          <p:cNvGraphicFramePr>
            <a:graphicFrameLocks noGrp="1"/>
          </p:cNvGraphicFramePr>
          <p:nvPr>
            <p:extLst>
              <p:ext uri="{D42A27DB-BD31-4B8C-83A1-F6EECF244321}">
                <p14:modId xmlns:p14="http://schemas.microsoft.com/office/powerpoint/2010/main" val="998063409"/>
              </p:ext>
            </p:extLst>
          </p:nvPr>
        </p:nvGraphicFramePr>
        <p:xfrm>
          <a:off x="3364992" y="9022080"/>
          <a:ext cx="12728448"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solidFill>
                            <a:schemeClr val="bg1"/>
                          </a:solidFill>
                        </a:rPr>
                        <a:t>w</a:t>
                      </a:r>
                      <a:r>
                        <a:rPr lang="en-US" sz="5400" b="0" baseline="-25000" dirty="0">
                          <a:solidFill>
                            <a:schemeClr val="bg1"/>
                          </a:solidFill>
                        </a:rPr>
                        <a:t>11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r h="1810512">
                <a:tc>
                  <a:txBody>
                    <a:bodyPr/>
                    <a:lstStyle/>
                    <a:p>
                      <a:pPr algn="ctr"/>
                      <a:r>
                        <a:rPr lang="en-US" sz="5400" b="0" baseline="0" dirty="0">
                          <a:solidFill>
                            <a:schemeClr val="bg1"/>
                          </a:solidFill>
                        </a:rPr>
                        <a:t>w</a:t>
                      </a:r>
                      <a:r>
                        <a:rPr lang="en-US" sz="5400" b="0" baseline="-25000" dirty="0">
                          <a:solidFill>
                            <a:schemeClr val="bg1"/>
                          </a:solidFill>
                        </a:rPr>
                        <a:t>21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783683"/>
                  </a:ext>
                </a:extLst>
              </a:tr>
              <a:tr h="1810512">
                <a:tc>
                  <a:txBody>
                    <a:bodyPr/>
                    <a:lstStyle/>
                    <a:p>
                      <a:pPr algn="ctr"/>
                      <a:r>
                        <a:rPr lang="en-US" sz="5400" b="0" baseline="0" dirty="0">
                          <a:solidFill>
                            <a:schemeClr val="bg1"/>
                          </a:solidFill>
                        </a:rPr>
                        <a:t>w</a:t>
                      </a:r>
                      <a:r>
                        <a:rPr lang="en-US" sz="5400" b="0" baseline="-25000" dirty="0">
                          <a:solidFill>
                            <a:schemeClr val="bg1"/>
                          </a:solidFill>
                        </a:rPr>
                        <a:t>31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056506"/>
                  </a:ext>
                </a:extLst>
              </a:tr>
            </a:tbl>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10EB01F-F5DA-5851-A140-5F5DC45EE8A0}"/>
                  </a:ext>
                </a:extLst>
              </p:cNvPr>
              <p:cNvGraphicFramePr>
                <a:graphicFrameLocks noGrp="1"/>
              </p:cNvGraphicFramePr>
              <p:nvPr>
                <p:extLst>
                  <p:ext uri="{D42A27DB-BD31-4B8C-83A1-F6EECF244321}">
                    <p14:modId xmlns:p14="http://schemas.microsoft.com/office/powerpoint/2010/main" val="16992108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218397"/>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849679"/>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6583288"/>
                      </a:ext>
                    </a:extLst>
                  </a:tr>
                </a:tbl>
              </a:graphicData>
            </a:graphic>
          </p:graphicFrame>
        </mc:Choice>
        <mc:Fallback xmlns="">
          <p:graphicFrame>
            <p:nvGraphicFramePr>
              <p:cNvPr id="6" name="Table 5">
                <a:extLst>
                  <a:ext uri="{FF2B5EF4-FFF2-40B4-BE49-F238E27FC236}">
                    <a16:creationId xmlns:a16="http://schemas.microsoft.com/office/drawing/2014/main" id="{810EB01F-F5DA-5851-A140-5F5DC45EE8A0}"/>
                  </a:ext>
                </a:extLst>
              </p:cNvPr>
              <p:cNvGraphicFramePr>
                <a:graphicFrameLocks noGrp="1"/>
              </p:cNvGraphicFramePr>
              <p:nvPr>
                <p:extLst>
                  <p:ext uri="{D42A27DB-BD31-4B8C-83A1-F6EECF244321}">
                    <p14:modId xmlns:p14="http://schemas.microsoft.com/office/powerpoint/2010/main" val="16992108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83" t="-673" r="-575" b="-201010"/>
                          </a:stretch>
                        </a:blipFill>
                      </a:tcPr>
                    </a:tc>
                    <a:extLst>
                      <a:ext uri="{0D108BD9-81ED-4DB2-BD59-A6C34878D82A}">
                        <a16:rowId xmlns:a16="http://schemas.microsoft.com/office/drawing/2014/main" val="2807218397"/>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83" t="-100673" r="-575" b="-101010"/>
                          </a:stretch>
                        </a:blipFill>
                      </a:tcPr>
                    </a:tc>
                    <a:extLst>
                      <a:ext uri="{0D108BD9-81ED-4DB2-BD59-A6C34878D82A}">
                        <a16:rowId xmlns:a16="http://schemas.microsoft.com/office/drawing/2014/main" val="2780849679"/>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83" t="-200673" r="-575" b="-1010"/>
                          </a:stretch>
                        </a:blipFill>
                      </a:tcPr>
                    </a:tc>
                    <a:extLst>
                      <a:ext uri="{0D108BD9-81ED-4DB2-BD59-A6C34878D82A}">
                        <a16:rowId xmlns:a16="http://schemas.microsoft.com/office/drawing/2014/main" val="3976583288"/>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0DAAD51-BA5F-D015-A4EC-414BE0183666}"/>
                  </a:ext>
                </a:extLst>
              </p:cNvPr>
              <p:cNvSpPr txBox="1"/>
              <p:nvPr/>
            </p:nvSpPr>
            <p:spPr>
              <a:xfrm>
                <a:off x="24893581" y="6733770"/>
                <a:ext cx="3369962" cy="110799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cs typeface="NVIDIA Sans" panose="020B0503020203020204" pitchFamily="34" charset="0"/>
                            </a:rPr>
                          </m:ctrlPr>
                        </m:accPr>
                        <m:e>
                          <m:r>
                            <a:rPr lang="en-US" sz="7200" b="0" i="1" smtClean="0">
                              <a:solidFill>
                                <a:schemeClr val="bg1"/>
                              </a:solidFill>
                              <a:latin typeface="Cambria Math" panose="02040503050406030204" pitchFamily="18" charset="0"/>
                              <a:cs typeface="NVIDIA Sans" panose="020B0503020203020204" pitchFamily="34" charset="0"/>
                            </a:rPr>
                            <m:t>𝑦</m:t>
                          </m:r>
                        </m:e>
                      </m:acc>
                      <m:r>
                        <a:rPr lang="en-US" sz="7200" b="0" i="1" smtClean="0">
                          <a:solidFill>
                            <a:schemeClr val="bg1"/>
                          </a:solidFill>
                          <a:latin typeface="Cambria Math" panose="02040503050406030204" pitchFamily="18" charset="0"/>
                          <a:cs typeface="NVIDIA Sans" panose="020B0503020203020204" pitchFamily="34" charset="0"/>
                        </a:rPr>
                        <m:t>=</m:t>
                      </m:r>
                      <m:r>
                        <a:rPr lang="en-US" sz="7200" b="0" i="1" smtClean="0">
                          <a:solidFill>
                            <a:schemeClr val="bg1"/>
                          </a:solidFill>
                          <a:latin typeface="Cambria Math" panose="02040503050406030204" pitchFamily="18" charset="0"/>
                          <a:cs typeface="NVIDIA Sans" panose="020B0503020203020204" pitchFamily="34" charset="0"/>
                        </a:rPr>
                        <m:t>𝑊𝑥</m:t>
                      </m:r>
                    </m:oMath>
                  </m:oMathPara>
                </a14:m>
                <a:endParaRPr lang="en-US" sz="72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8" name="TextBox 7">
                <a:extLst>
                  <a:ext uri="{FF2B5EF4-FFF2-40B4-BE49-F238E27FC236}">
                    <a16:creationId xmlns:a16="http://schemas.microsoft.com/office/drawing/2014/main" id="{B0DAAD51-BA5F-D015-A4EC-414BE0183666}"/>
                  </a:ext>
                </a:extLst>
              </p:cNvPr>
              <p:cNvSpPr txBox="1">
                <a:spLocks noRot="1" noChangeAspect="1" noMove="1" noResize="1" noEditPoints="1" noAdjustHandles="1" noChangeArrowheads="1" noChangeShapeType="1" noTextEdit="1"/>
              </p:cNvSpPr>
              <p:nvPr/>
            </p:nvSpPr>
            <p:spPr>
              <a:xfrm>
                <a:off x="24893581" y="6733770"/>
                <a:ext cx="3369962" cy="110799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1071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397DB-B3BD-0B02-EE8B-34E2A950E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FC132-6C7D-4CB9-3256-72E6080FD677}"/>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2E093331-4D2F-AF1A-80F2-D8E7FE02F49E}"/>
              </a:ext>
            </a:extLst>
          </p:cNvPr>
          <p:cNvSpPr>
            <a:spLocks noGrp="1"/>
          </p:cNvSpPr>
          <p:nvPr>
            <p:ph type="body" sz="quarter" idx="10"/>
          </p:nvPr>
        </p:nvSpPr>
        <p:spPr>
          <a:xfrm>
            <a:off x="2514600" y="2487168"/>
            <a:ext cx="31546800" cy="1408176"/>
          </a:xfrm>
        </p:spPr>
        <p:txBody>
          <a:bodyPr/>
          <a:lstStyle/>
          <a:p>
            <a:r>
              <a:rPr lang="en-US" dirty="0"/>
              <a:t>Matrix Multiplication</a:t>
            </a:r>
          </a:p>
        </p:txBody>
      </p:sp>
      <p:graphicFrame>
        <p:nvGraphicFramePr>
          <p:cNvPr id="3" name="Table 2">
            <a:extLst>
              <a:ext uri="{FF2B5EF4-FFF2-40B4-BE49-F238E27FC236}">
                <a16:creationId xmlns:a16="http://schemas.microsoft.com/office/drawing/2014/main" id="{24EA5EB3-6C6F-0CF5-0D45-2B41BBAFA30D}"/>
              </a:ext>
            </a:extLst>
          </p:cNvPr>
          <p:cNvGraphicFramePr>
            <a:graphicFrameLocks noGrp="1"/>
          </p:cNvGraphicFramePr>
          <p:nvPr/>
        </p:nvGraphicFramePr>
        <p:xfrm>
          <a:off x="3364992" y="6382512"/>
          <a:ext cx="12728448" cy="181051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t>x</a:t>
                      </a:r>
                      <a:r>
                        <a:rPr lang="en-US" sz="5400" b="0" baseline="-25000" dirty="0"/>
                        <a:t>1</a:t>
                      </a:r>
                      <a:endParaRPr lang="en-US" sz="5400" b="0" baseline="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2</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3</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4</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bl>
          </a:graphicData>
        </a:graphic>
      </p:graphicFrame>
      <p:graphicFrame>
        <p:nvGraphicFramePr>
          <p:cNvPr id="5" name="Table 4">
            <a:extLst>
              <a:ext uri="{FF2B5EF4-FFF2-40B4-BE49-F238E27FC236}">
                <a16:creationId xmlns:a16="http://schemas.microsoft.com/office/drawing/2014/main" id="{61F9D211-EA8D-08AB-2C3F-08A420B56AE1}"/>
              </a:ext>
            </a:extLst>
          </p:cNvPr>
          <p:cNvGraphicFramePr>
            <a:graphicFrameLocks noGrp="1"/>
          </p:cNvGraphicFramePr>
          <p:nvPr>
            <p:extLst>
              <p:ext uri="{D42A27DB-BD31-4B8C-83A1-F6EECF244321}">
                <p14:modId xmlns:p14="http://schemas.microsoft.com/office/powerpoint/2010/main" val="1519000210"/>
              </p:ext>
            </p:extLst>
          </p:nvPr>
        </p:nvGraphicFramePr>
        <p:xfrm>
          <a:off x="3364992" y="9022080"/>
          <a:ext cx="12728448"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solidFill>
                            <a:schemeClr val="bg1"/>
                          </a:solidFill>
                        </a:rPr>
                        <a:t>w</a:t>
                      </a:r>
                      <a:r>
                        <a:rPr lang="en-US" sz="5400" b="0" baseline="-25000" dirty="0">
                          <a:solidFill>
                            <a:schemeClr val="bg1"/>
                          </a:solidFill>
                        </a:rPr>
                        <a:t>11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12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13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14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3073759560"/>
                  </a:ext>
                </a:extLst>
              </a:tr>
              <a:tr h="1810512">
                <a:tc>
                  <a:txBody>
                    <a:bodyPr/>
                    <a:lstStyle/>
                    <a:p>
                      <a:pPr algn="ctr"/>
                      <a:r>
                        <a:rPr lang="en-US" sz="5400" b="0" baseline="0" dirty="0">
                          <a:solidFill>
                            <a:schemeClr val="bg1"/>
                          </a:solidFill>
                        </a:rPr>
                        <a:t>w</a:t>
                      </a:r>
                      <a:r>
                        <a:rPr lang="en-US" sz="5400" b="0" baseline="-25000" dirty="0">
                          <a:solidFill>
                            <a:schemeClr val="bg1"/>
                          </a:solidFill>
                        </a:rPr>
                        <a:t>21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783683"/>
                  </a:ext>
                </a:extLst>
              </a:tr>
              <a:tr h="1810512">
                <a:tc>
                  <a:txBody>
                    <a:bodyPr/>
                    <a:lstStyle/>
                    <a:p>
                      <a:pPr algn="ctr"/>
                      <a:r>
                        <a:rPr lang="en-US" sz="5400" b="0" baseline="0" dirty="0">
                          <a:solidFill>
                            <a:schemeClr val="bg1"/>
                          </a:solidFill>
                        </a:rPr>
                        <a:t>w</a:t>
                      </a:r>
                      <a:r>
                        <a:rPr lang="en-US" sz="5400" b="0" baseline="-25000" dirty="0">
                          <a:solidFill>
                            <a:schemeClr val="bg1"/>
                          </a:solidFill>
                        </a:rPr>
                        <a:t>31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056506"/>
                  </a:ext>
                </a:extLst>
              </a:tr>
            </a:tbl>
          </a:graphicData>
        </a:graphic>
      </p:graphicFrame>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2A72B2F-088F-65CE-D363-51FD4FC4CC94}"/>
                  </a:ext>
                </a:extLst>
              </p:cNvPr>
              <p:cNvGraphicFramePr>
                <a:graphicFrameLocks noGrp="1"/>
              </p:cNvGraphicFramePr>
              <p:nvPr>
                <p:extLst>
                  <p:ext uri="{D42A27DB-BD31-4B8C-83A1-F6EECF244321}">
                    <p14:modId xmlns:p14="http://schemas.microsoft.com/office/powerpoint/2010/main" val="30291182"/>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2807218397"/>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849679"/>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6583288"/>
                      </a:ext>
                    </a:extLst>
                  </a:tr>
                </a:tbl>
              </a:graphicData>
            </a:graphic>
          </p:graphicFrame>
        </mc:Choice>
        <mc:Fallback xmlns="">
          <p:graphicFrame>
            <p:nvGraphicFramePr>
              <p:cNvPr id="11" name="Table 10">
                <a:extLst>
                  <a:ext uri="{FF2B5EF4-FFF2-40B4-BE49-F238E27FC236}">
                    <a16:creationId xmlns:a16="http://schemas.microsoft.com/office/drawing/2014/main" id="{42A72B2F-088F-65CE-D363-51FD4FC4CC94}"/>
                  </a:ext>
                </a:extLst>
              </p:cNvPr>
              <p:cNvGraphicFramePr>
                <a:graphicFrameLocks noGrp="1"/>
              </p:cNvGraphicFramePr>
              <p:nvPr>
                <p:extLst>
                  <p:ext uri="{D42A27DB-BD31-4B8C-83A1-F6EECF244321}">
                    <p14:modId xmlns:p14="http://schemas.microsoft.com/office/powerpoint/2010/main" val="30291182"/>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4"/>
                          <a:stretch>
                            <a:fillRect l="-383" t="-673" r="-575" b="-201010"/>
                          </a:stretch>
                        </a:blipFill>
                      </a:tcPr>
                    </a:tc>
                    <a:extLst>
                      <a:ext uri="{0D108BD9-81ED-4DB2-BD59-A6C34878D82A}">
                        <a16:rowId xmlns:a16="http://schemas.microsoft.com/office/drawing/2014/main" val="2807218397"/>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4"/>
                          <a:stretch>
                            <a:fillRect l="-383" t="-100673" r="-575" b="-101010"/>
                          </a:stretch>
                        </a:blipFill>
                      </a:tcPr>
                    </a:tc>
                    <a:extLst>
                      <a:ext uri="{0D108BD9-81ED-4DB2-BD59-A6C34878D82A}">
                        <a16:rowId xmlns:a16="http://schemas.microsoft.com/office/drawing/2014/main" val="2780849679"/>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4"/>
                          <a:stretch>
                            <a:fillRect l="-383" t="-200673" r="-575" b="-1010"/>
                          </a:stretch>
                        </a:blipFill>
                      </a:tcPr>
                    </a:tc>
                    <a:extLst>
                      <a:ext uri="{0D108BD9-81ED-4DB2-BD59-A6C34878D82A}">
                        <a16:rowId xmlns:a16="http://schemas.microsoft.com/office/drawing/2014/main" val="397658328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CC4C70-69D6-8D82-5E53-85E9BA9E3881}"/>
                  </a:ext>
                </a:extLst>
              </p:cNvPr>
              <p:cNvSpPr txBox="1"/>
              <p:nvPr/>
            </p:nvSpPr>
            <p:spPr>
              <a:xfrm>
                <a:off x="24893581" y="6733770"/>
                <a:ext cx="3369962" cy="110799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cs typeface="NVIDIA Sans" panose="020B0503020203020204" pitchFamily="34" charset="0"/>
                            </a:rPr>
                          </m:ctrlPr>
                        </m:accPr>
                        <m:e>
                          <m:r>
                            <a:rPr lang="en-US" sz="7200" b="0" i="1" smtClean="0">
                              <a:solidFill>
                                <a:schemeClr val="bg1"/>
                              </a:solidFill>
                              <a:latin typeface="Cambria Math" panose="02040503050406030204" pitchFamily="18" charset="0"/>
                              <a:cs typeface="NVIDIA Sans" panose="020B0503020203020204" pitchFamily="34" charset="0"/>
                            </a:rPr>
                            <m:t>𝑦</m:t>
                          </m:r>
                        </m:e>
                      </m:acc>
                      <m:r>
                        <a:rPr lang="en-US" sz="7200" b="0" i="1" smtClean="0">
                          <a:solidFill>
                            <a:schemeClr val="bg1"/>
                          </a:solidFill>
                          <a:latin typeface="Cambria Math" panose="02040503050406030204" pitchFamily="18" charset="0"/>
                          <a:cs typeface="NVIDIA Sans" panose="020B0503020203020204" pitchFamily="34" charset="0"/>
                        </a:rPr>
                        <m:t>=</m:t>
                      </m:r>
                      <m:r>
                        <a:rPr lang="en-US" sz="7200" b="0" i="1" smtClean="0">
                          <a:solidFill>
                            <a:schemeClr val="bg1"/>
                          </a:solidFill>
                          <a:latin typeface="Cambria Math" panose="02040503050406030204" pitchFamily="18" charset="0"/>
                          <a:cs typeface="NVIDIA Sans" panose="020B0503020203020204" pitchFamily="34" charset="0"/>
                        </a:rPr>
                        <m:t>𝑊𝑥</m:t>
                      </m:r>
                    </m:oMath>
                  </m:oMathPara>
                </a14:m>
                <a:endParaRPr lang="en-US" sz="72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2" name="TextBox 11">
                <a:extLst>
                  <a:ext uri="{FF2B5EF4-FFF2-40B4-BE49-F238E27FC236}">
                    <a16:creationId xmlns:a16="http://schemas.microsoft.com/office/drawing/2014/main" id="{B5CC4C70-69D6-8D82-5E53-85E9BA9E3881}"/>
                  </a:ext>
                </a:extLst>
              </p:cNvPr>
              <p:cNvSpPr txBox="1">
                <a:spLocks noRot="1" noChangeAspect="1" noMove="1" noResize="1" noEditPoints="1" noAdjustHandles="1" noChangeArrowheads="1" noChangeShapeType="1" noTextEdit="1"/>
              </p:cNvSpPr>
              <p:nvPr/>
            </p:nvSpPr>
            <p:spPr>
              <a:xfrm>
                <a:off x="24893581" y="6733770"/>
                <a:ext cx="3369962" cy="110799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5FBDE5-C8EA-3A85-3EF8-600F8CEFD252}"/>
                  </a:ext>
                </a:extLst>
              </p:cNvPr>
              <p:cNvSpPr txBox="1"/>
              <p:nvPr/>
            </p:nvSpPr>
            <p:spPr>
              <a:xfrm>
                <a:off x="20578740" y="9446374"/>
                <a:ext cx="10568791"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 </m:t>
                          </m:r>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6" name="TextBox 5">
                <a:extLst>
                  <a:ext uri="{FF2B5EF4-FFF2-40B4-BE49-F238E27FC236}">
                    <a16:creationId xmlns:a16="http://schemas.microsoft.com/office/drawing/2014/main" id="{3D5FBDE5-C8EA-3A85-3EF8-600F8CEFD252}"/>
                  </a:ext>
                </a:extLst>
              </p:cNvPr>
              <p:cNvSpPr txBox="1">
                <a:spLocks noRot="1" noChangeAspect="1" noMove="1" noResize="1" noEditPoints="1" noAdjustHandles="1" noChangeArrowheads="1" noChangeShapeType="1" noTextEdit="1"/>
              </p:cNvSpPr>
              <p:nvPr/>
            </p:nvSpPr>
            <p:spPr>
              <a:xfrm>
                <a:off x="20578740" y="9446374"/>
                <a:ext cx="10568791" cy="83099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51526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3F379-572A-AB44-6007-8C9B9D98E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D7E2B-7FF6-74C3-F123-69A06577873A}"/>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B7145BED-88E1-2A0E-033C-3DDA9DA43CC6}"/>
              </a:ext>
            </a:extLst>
          </p:cNvPr>
          <p:cNvSpPr>
            <a:spLocks noGrp="1"/>
          </p:cNvSpPr>
          <p:nvPr>
            <p:ph type="body" sz="quarter" idx="10"/>
          </p:nvPr>
        </p:nvSpPr>
        <p:spPr>
          <a:xfrm>
            <a:off x="2514600" y="2487168"/>
            <a:ext cx="31546800" cy="1408176"/>
          </a:xfrm>
        </p:spPr>
        <p:txBody>
          <a:bodyPr/>
          <a:lstStyle/>
          <a:p>
            <a:r>
              <a:rPr lang="en-US" dirty="0"/>
              <a:t>Matrix Multiplication</a:t>
            </a:r>
          </a:p>
        </p:txBody>
      </p:sp>
      <p:graphicFrame>
        <p:nvGraphicFramePr>
          <p:cNvPr id="3" name="Table 2">
            <a:extLst>
              <a:ext uri="{FF2B5EF4-FFF2-40B4-BE49-F238E27FC236}">
                <a16:creationId xmlns:a16="http://schemas.microsoft.com/office/drawing/2014/main" id="{31FC3D9D-DE67-CCA6-2AEF-4FF7E8738AC5}"/>
              </a:ext>
            </a:extLst>
          </p:cNvPr>
          <p:cNvGraphicFramePr>
            <a:graphicFrameLocks noGrp="1"/>
          </p:cNvGraphicFramePr>
          <p:nvPr/>
        </p:nvGraphicFramePr>
        <p:xfrm>
          <a:off x="3364992" y="6382512"/>
          <a:ext cx="12728448" cy="181051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t>x</a:t>
                      </a:r>
                      <a:r>
                        <a:rPr lang="en-US" sz="5400" b="0" baseline="-25000" dirty="0"/>
                        <a:t>1</a:t>
                      </a:r>
                      <a:endParaRPr lang="en-US" sz="5400" b="0" baseline="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2</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3</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4</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bl>
          </a:graphicData>
        </a:graphic>
      </p:graphicFrame>
      <p:graphicFrame>
        <p:nvGraphicFramePr>
          <p:cNvPr id="5" name="Table 4">
            <a:extLst>
              <a:ext uri="{FF2B5EF4-FFF2-40B4-BE49-F238E27FC236}">
                <a16:creationId xmlns:a16="http://schemas.microsoft.com/office/drawing/2014/main" id="{C7805734-8CFA-819A-AB48-601A7F7D5CD7}"/>
              </a:ext>
            </a:extLst>
          </p:cNvPr>
          <p:cNvGraphicFramePr>
            <a:graphicFrameLocks noGrp="1"/>
          </p:cNvGraphicFramePr>
          <p:nvPr>
            <p:extLst>
              <p:ext uri="{D42A27DB-BD31-4B8C-83A1-F6EECF244321}">
                <p14:modId xmlns:p14="http://schemas.microsoft.com/office/powerpoint/2010/main" val="1859726837"/>
              </p:ext>
            </p:extLst>
          </p:nvPr>
        </p:nvGraphicFramePr>
        <p:xfrm>
          <a:off x="3364992" y="9022080"/>
          <a:ext cx="12728448"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solidFill>
                            <a:schemeClr val="bg1"/>
                          </a:solidFill>
                        </a:rPr>
                        <a:t>w</a:t>
                      </a:r>
                      <a:r>
                        <a:rPr lang="en-US" sz="5400" b="0" baseline="-25000" dirty="0">
                          <a:solidFill>
                            <a:schemeClr val="bg1"/>
                          </a:solidFill>
                        </a:rPr>
                        <a:t>11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r h="1810512">
                <a:tc>
                  <a:txBody>
                    <a:bodyPr/>
                    <a:lstStyle/>
                    <a:p>
                      <a:pPr algn="ctr"/>
                      <a:r>
                        <a:rPr lang="en-US" sz="5400" b="0" baseline="0" dirty="0">
                          <a:solidFill>
                            <a:schemeClr val="bg1"/>
                          </a:solidFill>
                        </a:rPr>
                        <a:t>w</a:t>
                      </a:r>
                      <a:r>
                        <a:rPr lang="en-US" sz="5400" b="0" baseline="-25000" dirty="0">
                          <a:solidFill>
                            <a:schemeClr val="bg1"/>
                          </a:solidFill>
                        </a:rPr>
                        <a:t>21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22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23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24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2258783683"/>
                  </a:ext>
                </a:extLst>
              </a:tr>
              <a:tr h="1810512">
                <a:tc>
                  <a:txBody>
                    <a:bodyPr/>
                    <a:lstStyle/>
                    <a:p>
                      <a:pPr algn="ctr"/>
                      <a:r>
                        <a:rPr lang="en-US" sz="5400" b="0" baseline="0" dirty="0">
                          <a:solidFill>
                            <a:schemeClr val="bg1"/>
                          </a:solidFill>
                        </a:rPr>
                        <a:t>w</a:t>
                      </a:r>
                      <a:r>
                        <a:rPr lang="en-US" sz="5400" b="0" baseline="-25000" dirty="0">
                          <a:solidFill>
                            <a:schemeClr val="bg1"/>
                          </a:solidFill>
                        </a:rPr>
                        <a:t>31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34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056506"/>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6AC16F8-40C2-668C-D84E-FCD9C95690CB}"/>
                  </a:ext>
                </a:extLst>
              </p:cNvPr>
              <p:cNvSpPr txBox="1"/>
              <p:nvPr/>
            </p:nvSpPr>
            <p:spPr>
              <a:xfrm>
                <a:off x="20578740" y="9446374"/>
                <a:ext cx="10568791"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 </m:t>
                          </m:r>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9" name="TextBox 8">
                <a:extLst>
                  <a:ext uri="{FF2B5EF4-FFF2-40B4-BE49-F238E27FC236}">
                    <a16:creationId xmlns:a16="http://schemas.microsoft.com/office/drawing/2014/main" id="{B6AC16F8-40C2-668C-D84E-FCD9C95690CB}"/>
                  </a:ext>
                </a:extLst>
              </p:cNvPr>
              <p:cNvSpPr txBox="1">
                <a:spLocks noRot="1" noChangeAspect="1" noMove="1" noResize="1" noEditPoints="1" noAdjustHandles="1" noChangeArrowheads="1" noChangeShapeType="1" noTextEdit="1"/>
              </p:cNvSpPr>
              <p:nvPr/>
            </p:nvSpPr>
            <p:spPr>
              <a:xfrm>
                <a:off x="20578740" y="9446374"/>
                <a:ext cx="10568791" cy="8309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EBC734D-BFF3-B23A-9854-731C1C3DFF1E}"/>
                  </a:ext>
                </a:extLst>
              </p:cNvPr>
              <p:cNvSpPr txBox="1"/>
              <p:nvPr/>
            </p:nvSpPr>
            <p:spPr>
              <a:xfrm>
                <a:off x="20622822" y="11317534"/>
                <a:ext cx="10480626"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0" name="TextBox 9">
                <a:extLst>
                  <a:ext uri="{FF2B5EF4-FFF2-40B4-BE49-F238E27FC236}">
                    <a16:creationId xmlns:a16="http://schemas.microsoft.com/office/drawing/2014/main" id="{9EBC734D-BFF3-B23A-9854-731C1C3DFF1E}"/>
                  </a:ext>
                </a:extLst>
              </p:cNvPr>
              <p:cNvSpPr txBox="1">
                <a:spLocks noRot="1" noChangeAspect="1" noMove="1" noResize="1" noEditPoints="1" noAdjustHandles="1" noChangeArrowheads="1" noChangeShapeType="1" noTextEdit="1"/>
              </p:cNvSpPr>
              <p:nvPr/>
            </p:nvSpPr>
            <p:spPr>
              <a:xfrm>
                <a:off x="20622822" y="11317534"/>
                <a:ext cx="10480626" cy="83099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96962E1F-1CF2-9415-9FD8-DA0D74729AEC}"/>
                  </a:ext>
                </a:extLst>
              </p:cNvPr>
              <p:cNvGraphicFramePr>
                <a:graphicFrameLocks noGrp="1"/>
              </p:cNvGraphicFramePr>
              <p:nvPr>
                <p:extLst>
                  <p:ext uri="{D42A27DB-BD31-4B8C-83A1-F6EECF244321}">
                    <p14:modId xmlns:p14="http://schemas.microsoft.com/office/powerpoint/2010/main" val="2327355785"/>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218397"/>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2780849679"/>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6583288"/>
                      </a:ext>
                    </a:extLst>
                  </a:tr>
                </a:tbl>
              </a:graphicData>
            </a:graphic>
          </p:graphicFrame>
        </mc:Choice>
        <mc:Fallback xmlns="">
          <p:graphicFrame>
            <p:nvGraphicFramePr>
              <p:cNvPr id="12" name="Table 11">
                <a:extLst>
                  <a:ext uri="{FF2B5EF4-FFF2-40B4-BE49-F238E27FC236}">
                    <a16:creationId xmlns:a16="http://schemas.microsoft.com/office/drawing/2014/main" id="{96962E1F-1CF2-9415-9FD8-DA0D74729AEC}"/>
                  </a:ext>
                </a:extLst>
              </p:cNvPr>
              <p:cNvGraphicFramePr>
                <a:graphicFrameLocks noGrp="1"/>
              </p:cNvGraphicFramePr>
              <p:nvPr>
                <p:extLst>
                  <p:ext uri="{D42A27DB-BD31-4B8C-83A1-F6EECF244321}">
                    <p14:modId xmlns:p14="http://schemas.microsoft.com/office/powerpoint/2010/main" val="2327355785"/>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383" t="-673" r="-575" b="-201010"/>
                          </a:stretch>
                        </a:blipFill>
                      </a:tcPr>
                    </a:tc>
                    <a:extLst>
                      <a:ext uri="{0D108BD9-81ED-4DB2-BD59-A6C34878D82A}">
                        <a16:rowId xmlns:a16="http://schemas.microsoft.com/office/drawing/2014/main" val="2807218397"/>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383" t="-100673" r="-575" b="-101010"/>
                          </a:stretch>
                        </a:blipFill>
                      </a:tcPr>
                    </a:tc>
                    <a:extLst>
                      <a:ext uri="{0D108BD9-81ED-4DB2-BD59-A6C34878D82A}">
                        <a16:rowId xmlns:a16="http://schemas.microsoft.com/office/drawing/2014/main" val="2780849679"/>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5"/>
                          <a:stretch>
                            <a:fillRect l="-383" t="-200673" r="-575" b="-1010"/>
                          </a:stretch>
                        </a:blipFill>
                      </a:tcPr>
                    </a:tc>
                    <a:extLst>
                      <a:ext uri="{0D108BD9-81ED-4DB2-BD59-A6C34878D82A}">
                        <a16:rowId xmlns:a16="http://schemas.microsoft.com/office/drawing/2014/main" val="3976583288"/>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4DB6EC9-1D9E-3356-3A62-BDBE5F4F377F}"/>
                  </a:ext>
                </a:extLst>
              </p:cNvPr>
              <p:cNvSpPr txBox="1"/>
              <p:nvPr/>
            </p:nvSpPr>
            <p:spPr>
              <a:xfrm>
                <a:off x="24893581" y="6733770"/>
                <a:ext cx="3369962" cy="110799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cs typeface="NVIDIA Sans" panose="020B0503020203020204" pitchFamily="34" charset="0"/>
                            </a:rPr>
                          </m:ctrlPr>
                        </m:accPr>
                        <m:e>
                          <m:r>
                            <a:rPr lang="en-US" sz="7200" b="0" i="1" smtClean="0">
                              <a:solidFill>
                                <a:schemeClr val="bg1"/>
                              </a:solidFill>
                              <a:latin typeface="Cambria Math" panose="02040503050406030204" pitchFamily="18" charset="0"/>
                              <a:cs typeface="NVIDIA Sans" panose="020B0503020203020204" pitchFamily="34" charset="0"/>
                            </a:rPr>
                            <m:t>𝑦</m:t>
                          </m:r>
                        </m:e>
                      </m:acc>
                      <m:r>
                        <a:rPr lang="en-US" sz="7200" b="0" i="1" smtClean="0">
                          <a:solidFill>
                            <a:schemeClr val="bg1"/>
                          </a:solidFill>
                          <a:latin typeface="Cambria Math" panose="02040503050406030204" pitchFamily="18" charset="0"/>
                          <a:cs typeface="NVIDIA Sans" panose="020B0503020203020204" pitchFamily="34" charset="0"/>
                        </a:rPr>
                        <m:t>=</m:t>
                      </m:r>
                      <m:r>
                        <a:rPr lang="en-US" sz="7200" b="0" i="1" smtClean="0">
                          <a:solidFill>
                            <a:schemeClr val="bg1"/>
                          </a:solidFill>
                          <a:latin typeface="Cambria Math" panose="02040503050406030204" pitchFamily="18" charset="0"/>
                          <a:cs typeface="NVIDIA Sans" panose="020B0503020203020204" pitchFamily="34" charset="0"/>
                        </a:rPr>
                        <m:t>𝑊𝑥</m:t>
                      </m:r>
                    </m:oMath>
                  </m:oMathPara>
                </a14:m>
                <a:endParaRPr lang="en-US" sz="72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3" name="TextBox 12">
                <a:extLst>
                  <a:ext uri="{FF2B5EF4-FFF2-40B4-BE49-F238E27FC236}">
                    <a16:creationId xmlns:a16="http://schemas.microsoft.com/office/drawing/2014/main" id="{44DB6EC9-1D9E-3356-3A62-BDBE5F4F377F}"/>
                  </a:ext>
                </a:extLst>
              </p:cNvPr>
              <p:cNvSpPr txBox="1">
                <a:spLocks noRot="1" noChangeAspect="1" noMove="1" noResize="1" noEditPoints="1" noAdjustHandles="1" noChangeArrowheads="1" noChangeShapeType="1" noTextEdit="1"/>
              </p:cNvSpPr>
              <p:nvPr/>
            </p:nvSpPr>
            <p:spPr>
              <a:xfrm>
                <a:off x="24893581" y="6733770"/>
                <a:ext cx="3369962" cy="110799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9558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DD34-BDF1-22C3-7534-CE7BDF264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CCF10-9E5B-5C41-E23F-A5708A85DE3F}"/>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42932B76-6917-BF15-7B97-9AB599ABEE35}"/>
              </a:ext>
            </a:extLst>
          </p:cNvPr>
          <p:cNvSpPr>
            <a:spLocks noGrp="1"/>
          </p:cNvSpPr>
          <p:nvPr>
            <p:ph type="body" sz="quarter" idx="10"/>
          </p:nvPr>
        </p:nvSpPr>
        <p:spPr>
          <a:xfrm>
            <a:off x="2514600" y="2487168"/>
            <a:ext cx="31546800" cy="1408176"/>
          </a:xfrm>
        </p:spPr>
        <p:txBody>
          <a:bodyPr/>
          <a:lstStyle/>
          <a:p>
            <a:r>
              <a:rPr lang="en-US" dirty="0"/>
              <a:t>Matrix Multiplication</a:t>
            </a:r>
          </a:p>
        </p:txBody>
      </p:sp>
      <p:graphicFrame>
        <p:nvGraphicFramePr>
          <p:cNvPr id="3" name="Table 2">
            <a:extLst>
              <a:ext uri="{FF2B5EF4-FFF2-40B4-BE49-F238E27FC236}">
                <a16:creationId xmlns:a16="http://schemas.microsoft.com/office/drawing/2014/main" id="{164F0D97-D6AA-AE36-1A6A-A071FF7FE439}"/>
              </a:ext>
            </a:extLst>
          </p:cNvPr>
          <p:cNvGraphicFramePr>
            <a:graphicFrameLocks noGrp="1"/>
          </p:cNvGraphicFramePr>
          <p:nvPr/>
        </p:nvGraphicFramePr>
        <p:xfrm>
          <a:off x="3364992" y="6382512"/>
          <a:ext cx="12728448" cy="181051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t>x</a:t>
                      </a:r>
                      <a:r>
                        <a:rPr lang="en-US" sz="5400" b="0" baseline="-25000" dirty="0"/>
                        <a:t>1</a:t>
                      </a:r>
                      <a:endParaRPr lang="en-US" sz="5400" b="0" baseline="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2</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3</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4</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bl>
          </a:graphicData>
        </a:graphic>
      </p:graphicFrame>
      <p:graphicFrame>
        <p:nvGraphicFramePr>
          <p:cNvPr id="5" name="Table 4">
            <a:extLst>
              <a:ext uri="{FF2B5EF4-FFF2-40B4-BE49-F238E27FC236}">
                <a16:creationId xmlns:a16="http://schemas.microsoft.com/office/drawing/2014/main" id="{1EB6ABA6-291B-BFB3-C65A-870D8C57037C}"/>
              </a:ext>
            </a:extLst>
          </p:cNvPr>
          <p:cNvGraphicFramePr>
            <a:graphicFrameLocks noGrp="1"/>
          </p:cNvGraphicFramePr>
          <p:nvPr>
            <p:extLst>
              <p:ext uri="{D42A27DB-BD31-4B8C-83A1-F6EECF244321}">
                <p14:modId xmlns:p14="http://schemas.microsoft.com/office/powerpoint/2010/main" val="4244898250"/>
              </p:ext>
            </p:extLst>
          </p:nvPr>
        </p:nvGraphicFramePr>
        <p:xfrm>
          <a:off x="3364992" y="9022080"/>
          <a:ext cx="12728448"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solidFill>
                            <a:schemeClr val="bg1"/>
                          </a:solidFill>
                        </a:rPr>
                        <a:t>w</a:t>
                      </a:r>
                      <a:r>
                        <a:rPr lang="en-US" sz="5400" b="0" baseline="-25000" dirty="0">
                          <a:solidFill>
                            <a:schemeClr val="bg1"/>
                          </a:solidFill>
                        </a:rPr>
                        <a:t>11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14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r h="1810512">
                <a:tc>
                  <a:txBody>
                    <a:bodyPr/>
                    <a:lstStyle/>
                    <a:p>
                      <a:pPr algn="ctr"/>
                      <a:r>
                        <a:rPr lang="en-US" sz="5400" b="0" baseline="0" dirty="0">
                          <a:solidFill>
                            <a:schemeClr val="bg1"/>
                          </a:solidFill>
                        </a:rPr>
                        <a:t>w</a:t>
                      </a:r>
                      <a:r>
                        <a:rPr lang="en-US" sz="5400" b="0" baseline="-25000" dirty="0">
                          <a:solidFill>
                            <a:schemeClr val="bg1"/>
                          </a:solidFill>
                        </a:rPr>
                        <a:t>21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solidFill>
                            <a:schemeClr val="bg1"/>
                          </a:solidFill>
                        </a:rPr>
                        <a:t>w</a:t>
                      </a:r>
                      <a:r>
                        <a:rPr lang="en-US" sz="5400" b="0" baseline="-25000" dirty="0">
                          <a:solidFill>
                            <a:schemeClr val="bg1"/>
                          </a:solidFill>
                        </a:rPr>
                        <a:t>24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8783683"/>
                  </a:ext>
                </a:extLst>
              </a:tr>
              <a:tr h="1810512">
                <a:tc>
                  <a:txBody>
                    <a:bodyPr/>
                    <a:lstStyle/>
                    <a:p>
                      <a:pPr algn="ctr"/>
                      <a:r>
                        <a:rPr lang="en-US" sz="5400" b="0" baseline="0" dirty="0">
                          <a:solidFill>
                            <a:schemeClr val="bg1"/>
                          </a:solidFill>
                        </a:rPr>
                        <a:t>w</a:t>
                      </a:r>
                      <a:r>
                        <a:rPr lang="en-US" sz="5400" b="0" baseline="-25000" dirty="0">
                          <a:solidFill>
                            <a:schemeClr val="bg1"/>
                          </a:solidFill>
                        </a:rPr>
                        <a:t>31</a:t>
                      </a:r>
                      <a:endParaRPr lang="en-US" sz="5400" b="0" baseline="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32</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33</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tc>
                  <a:txBody>
                    <a:bodyPr/>
                    <a:lstStyle/>
                    <a:p>
                      <a:pPr algn="ctr"/>
                      <a:r>
                        <a:rPr lang="en-US" sz="5400" b="0" dirty="0">
                          <a:solidFill>
                            <a:schemeClr val="bg1"/>
                          </a:solidFill>
                        </a:rPr>
                        <a:t>w</a:t>
                      </a:r>
                      <a:r>
                        <a:rPr lang="en-US" sz="5400" b="0" baseline="-25000" dirty="0">
                          <a:solidFill>
                            <a:schemeClr val="bg1"/>
                          </a:solidFill>
                        </a:rPr>
                        <a:t>34</a:t>
                      </a:r>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3179056506"/>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AE5C58-C893-3CF5-D7CC-A795DA3DCFA6}"/>
                  </a:ext>
                </a:extLst>
              </p:cNvPr>
              <p:cNvSpPr txBox="1"/>
              <p:nvPr/>
            </p:nvSpPr>
            <p:spPr>
              <a:xfrm>
                <a:off x="20622822" y="13188694"/>
                <a:ext cx="10480626"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8" name="TextBox 7">
                <a:extLst>
                  <a:ext uri="{FF2B5EF4-FFF2-40B4-BE49-F238E27FC236}">
                    <a16:creationId xmlns:a16="http://schemas.microsoft.com/office/drawing/2014/main" id="{68AE5C58-C893-3CF5-D7CC-A795DA3DCFA6}"/>
                  </a:ext>
                </a:extLst>
              </p:cNvPr>
              <p:cNvSpPr txBox="1">
                <a:spLocks noRot="1" noChangeAspect="1" noMove="1" noResize="1" noEditPoints="1" noAdjustHandles="1" noChangeArrowheads="1" noChangeShapeType="1" noTextEdit="1"/>
              </p:cNvSpPr>
              <p:nvPr/>
            </p:nvSpPr>
            <p:spPr>
              <a:xfrm>
                <a:off x="20622822" y="13188694"/>
                <a:ext cx="10480626" cy="8309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EA665C63-E8EA-9BFD-3CE1-DF703A3430A5}"/>
                  </a:ext>
                </a:extLst>
              </p:cNvPr>
              <p:cNvGraphicFramePr>
                <a:graphicFrameLocks noGrp="1"/>
              </p:cNvGraphicFramePr>
              <p:nvPr>
                <p:extLst>
                  <p:ext uri="{D42A27DB-BD31-4B8C-83A1-F6EECF244321}">
                    <p14:modId xmlns:p14="http://schemas.microsoft.com/office/powerpoint/2010/main" val="379203634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218397"/>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849679"/>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FD1"/>
                        </a:solidFill>
                      </a:tcPr>
                    </a:tc>
                    <a:extLst>
                      <a:ext uri="{0D108BD9-81ED-4DB2-BD59-A6C34878D82A}">
                        <a16:rowId xmlns:a16="http://schemas.microsoft.com/office/drawing/2014/main" val="3976583288"/>
                      </a:ext>
                    </a:extLst>
                  </a:tr>
                </a:tbl>
              </a:graphicData>
            </a:graphic>
          </p:graphicFrame>
        </mc:Choice>
        <mc:Fallback xmlns="">
          <p:graphicFrame>
            <p:nvGraphicFramePr>
              <p:cNvPr id="9" name="Table 8">
                <a:extLst>
                  <a:ext uri="{FF2B5EF4-FFF2-40B4-BE49-F238E27FC236}">
                    <a16:creationId xmlns:a16="http://schemas.microsoft.com/office/drawing/2014/main" id="{EA665C63-E8EA-9BFD-3CE1-DF703A3430A5}"/>
                  </a:ext>
                </a:extLst>
              </p:cNvPr>
              <p:cNvGraphicFramePr>
                <a:graphicFrameLocks noGrp="1"/>
              </p:cNvGraphicFramePr>
              <p:nvPr>
                <p:extLst>
                  <p:ext uri="{D42A27DB-BD31-4B8C-83A1-F6EECF244321}">
                    <p14:modId xmlns:p14="http://schemas.microsoft.com/office/powerpoint/2010/main" val="379203634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673" r="-575" b="-201010"/>
                          </a:stretch>
                        </a:blipFill>
                      </a:tcPr>
                    </a:tc>
                    <a:extLst>
                      <a:ext uri="{0D108BD9-81ED-4DB2-BD59-A6C34878D82A}">
                        <a16:rowId xmlns:a16="http://schemas.microsoft.com/office/drawing/2014/main" val="2807218397"/>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100673" r="-575" b="-101010"/>
                          </a:stretch>
                        </a:blipFill>
                      </a:tcPr>
                    </a:tc>
                    <a:extLst>
                      <a:ext uri="{0D108BD9-81ED-4DB2-BD59-A6C34878D82A}">
                        <a16:rowId xmlns:a16="http://schemas.microsoft.com/office/drawing/2014/main" val="2780849679"/>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200673" r="-575" b="-1010"/>
                          </a:stretch>
                        </a:blipFill>
                      </a:tcPr>
                    </a:tc>
                    <a:extLst>
                      <a:ext uri="{0D108BD9-81ED-4DB2-BD59-A6C34878D82A}">
                        <a16:rowId xmlns:a16="http://schemas.microsoft.com/office/drawing/2014/main" val="3976583288"/>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70DC34-E4F5-1852-6A64-77741851902D}"/>
                  </a:ext>
                </a:extLst>
              </p:cNvPr>
              <p:cNvSpPr txBox="1"/>
              <p:nvPr/>
            </p:nvSpPr>
            <p:spPr>
              <a:xfrm>
                <a:off x="24893581" y="6733770"/>
                <a:ext cx="3369962" cy="110799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cs typeface="NVIDIA Sans" panose="020B0503020203020204" pitchFamily="34" charset="0"/>
                            </a:rPr>
                          </m:ctrlPr>
                        </m:accPr>
                        <m:e>
                          <m:r>
                            <a:rPr lang="en-US" sz="7200" b="0" i="1" smtClean="0">
                              <a:solidFill>
                                <a:schemeClr val="bg1"/>
                              </a:solidFill>
                              <a:latin typeface="Cambria Math" panose="02040503050406030204" pitchFamily="18" charset="0"/>
                              <a:cs typeface="NVIDIA Sans" panose="020B0503020203020204" pitchFamily="34" charset="0"/>
                            </a:rPr>
                            <m:t>𝑦</m:t>
                          </m:r>
                        </m:e>
                      </m:acc>
                      <m:r>
                        <a:rPr lang="en-US" sz="7200" b="0" i="1" smtClean="0">
                          <a:solidFill>
                            <a:schemeClr val="bg1"/>
                          </a:solidFill>
                          <a:latin typeface="Cambria Math" panose="02040503050406030204" pitchFamily="18" charset="0"/>
                          <a:cs typeface="NVIDIA Sans" panose="020B0503020203020204" pitchFamily="34" charset="0"/>
                        </a:rPr>
                        <m:t>=</m:t>
                      </m:r>
                      <m:r>
                        <a:rPr lang="en-US" sz="7200" b="0" i="1" smtClean="0">
                          <a:solidFill>
                            <a:schemeClr val="bg1"/>
                          </a:solidFill>
                          <a:latin typeface="Cambria Math" panose="02040503050406030204" pitchFamily="18" charset="0"/>
                          <a:cs typeface="NVIDIA Sans" panose="020B0503020203020204" pitchFamily="34" charset="0"/>
                        </a:rPr>
                        <m:t>𝑊𝑥</m:t>
                      </m:r>
                    </m:oMath>
                  </m:oMathPara>
                </a14:m>
                <a:endParaRPr lang="en-US" sz="72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0" name="TextBox 9">
                <a:extLst>
                  <a:ext uri="{FF2B5EF4-FFF2-40B4-BE49-F238E27FC236}">
                    <a16:creationId xmlns:a16="http://schemas.microsoft.com/office/drawing/2014/main" id="{3070DC34-E4F5-1852-6A64-77741851902D}"/>
                  </a:ext>
                </a:extLst>
              </p:cNvPr>
              <p:cNvSpPr txBox="1">
                <a:spLocks noRot="1" noChangeAspect="1" noMove="1" noResize="1" noEditPoints="1" noAdjustHandles="1" noChangeArrowheads="1" noChangeShapeType="1" noTextEdit="1"/>
              </p:cNvSpPr>
              <p:nvPr/>
            </p:nvSpPr>
            <p:spPr>
              <a:xfrm>
                <a:off x="24893581" y="6733770"/>
                <a:ext cx="3369962" cy="110799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D3652C8-B624-6CFE-19A1-853D40E4F8D8}"/>
                  </a:ext>
                </a:extLst>
              </p:cNvPr>
              <p:cNvSpPr txBox="1"/>
              <p:nvPr/>
            </p:nvSpPr>
            <p:spPr>
              <a:xfrm>
                <a:off x="20578740" y="9446374"/>
                <a:ext cx="10568791"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 </m:t>
                          </m:r>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1" name="TextBox 10">
                <a:extLst>
                  <a:ext uri="{FF2B5EF4-FFF2-40B4-BE49-F238E27FC236}">
                    <a16:creationId xmlns:a16="http://schemas.microsoft.com/office/drawing/2014/main" id="{3D3652C8-B624-6CFE-19A1-853D40E4F8D8}"/>
                  </a:ext>
                </a:extLst>
              </p:cNvPr>
              <p:cNvSpPr txBox="1">
                <a:spLocks noRot="1" noChangeAspect="1" noMove="1" noResize="1" noEditPoints="1" noAdjustHandles="1" noChangeArrowheads="1" noChangeShapeType="1" noTextEdit="1"/>
              </p:cNvSpPr>
              <p:nvPr/>
            </p:nvSpPr>
            <p:spPr>
              <a:xfrm>
                <a:off x="20578740" y="9446374"/>
                <a:ext cx="10568791" cy="83099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5C0B806-77AD-50C7-71A5-7012165FDE20}"/>
                  </a:ext>
                </a:extLst>
              </p:cNvPr>
              <p:cNvSpPr txBox="1"/>
              <p:nvPr/>
            </p:nvSpPr>
            <p:spPr>
              <a:xfrm>
                <a:off x="20622822" y="11317534"/>
                <a:ext cx="10480626"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2" name="TextBox 11">
                <a:extLst>
                  <a:ext uri="{FF2B5EF4-FFF2-40B4-BE49-F238E27FC236}">
                    <a16:creationId xmlns:a16="http://schemas.microsoft.com/office/drawing/2014/main" id="{B5C0B806-77AD-50C7-71A5-7012165FDE20}"/>
                  </a:ext>
                </a:extLst>
              </p:cNvPr>
              <p:cNvSpPr txBox="1">
                <a:spLocks noRot="1" noChangeAspect="1" noMove="1" noResize="1" noEditPoints="1" noAdjustHandles="1" noChangeArrowheads="1" noChangeShapeType="1" noTextEdit="1"/>
              </p:cNvSpPr>
              <p:nvPr/>
            </p:nvSpPr>
            <p:spPr>
              <a:xfrm>
                <a:off x="20622822" y="11317534"/>
                <a:ext cx="10480626" cy="830997"/>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30972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CEB7-A46D-C285-745B-066749712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32BEA-9047-111F-1DA4-5FE481E33F42}"/>
              </a:ext>
            </a:extLst>
          </p:cNvPr>
          <p:cNvSpPr>
            <a:spLocks noGrp="1"/>
          </p:cNvSpPr>
          <p:nvPr>
            <p:ph type="title"/>
          </p:nvPr>
        </p:nvSpPr>
        <p:spPr/>
        <p:txBody>
          <a:bodyPr/>
          <a:lstStyle/>
          <a:p>
            <a:r>
              <a:rPr lang="en-US" dirty="0"/>
              <a:t>The Projection Matrix</a:t>
            </a:r>
          </a:p>
        </p:txBody>
      </p:sp>
      <p:sp>
        <p:nvSpPr>
          <p:cNvPr id="4" name="Text Placeholder 2">
            <a:extLst>
              <a:ext uri="{FF2B5EF4-FFF2-40B4-BE49-F238E27FC236}">
                <a16:creationId xmlns:a16="http://schemas.microsoft.com/office/drawing/2014/main" id="{796898AE-85CE-D51F-DE93-22D1C5532A67}"/>
              </a:ext>
            </a:extLst>
          </p:cNvPr>
          <p:cNvSpPr>
            <a:spLocks noGrp="1"/>
          </p:cNvSpPr>
          <p:nvPr>
            <p:ph type="body" sz="quarter" idx="10"/>
          </p:nvPr>
        </p:nvSpPr>
        <p:spPr>
          <a:xfrm>
            <a:off x="2514600" y="2487168"/>
            <a:ext cx="31546800" cy="1408176"/>
          </a:xfrm>
        </p:spPr>
        <p:txBody>
          <a:bodyPr/>
          <a:lstStyle/>
          <a:p>
            <a:r>
              <a:rPr lang="en-US" dirty="0"/>
              <a:t>Matrix Multiplication</a:t>
            </a:r>
          </a:p>
        </p:txBody>
      </p:sp>
      <p:graphicFrame>
        <p:nvGraphicFramePr>
          <p:cNvPr id="3" name="Table 2">
            <a:extLst>
              <a:ext uri="{FF2B5EF4-FFF2-40B4-BE49-F238E27FC236}">
                <a16:creationId xmlns:a16="http://schemas.microsoft.com/office/drawing/2014/main" id="{F483D2C7-42D0-40AC-8484-73AAF67F52A4}"/>
              </a:ext>
            </a:extLst>
          </p:cNvPr>
          <p:cNvGraphicFramePr>
            <a:graphicFrameLocks noGrp="1"/>
          </p:cNvGraphicFramePr>
          <p:nvPr/>
        </p:nvGraphicFramePr>
        <p:xfrm>
          <a:off x="3364992" y="6382512"/>
          <a:ext cx="12728448" cy="1810512"/>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855410332"/>
                    </a:ext>
                  </a:extLst>
                </a:gridCol>
                <a:gridCol w="3182112">
                  <a:extLst>
                    <a:ext uri="{9D8B030D-6E8A-4147-A177-3AD203B41FA5}">
                      <a16:colId xmlns:a16="http://schemas.microsoft.com/office/drawing/2014/main" val="761696980"/>
                    </a:ext>
                  </a:extLst>
                </a:gridCol>
                <a:gridCol w="3182112">
                  <a:extLst>
                    <a:ext uri="{9D8B030D-6E8A-4147-A177-3AD203B41FA5}">
                      <a16:colId xmlns:a16="http://schemas.microsoft.com/office/drawing/2014/main" val="3394227376"/>
                    </a:ext>
                  </a:extLst>
                </a:gridCol>
                <a:gridCol w="3182112">
                  <a:extLst>
                    <a:ext uri="{9D8B030D-6E8A-4147-A177-3AD203B41FA5}">
                      <a16:colId xmlns:a16="http://schemas.microsoft.com/office/drawing/2014/main" val="921811567"/>
                    </a:ext>
                  </a:extLst>
                </a:gridCol>
              </a:tblGrid>
              <a:tr h="1810512">
                <a:tc>
                  <a:txBody>
                    <a:bodyPr/>
                    <a:lstStyle/>
                    <a:p>
                      <a:pPr algn="ctr"/>
                      <a:r>
                        <a:rPr lang="en-US" sz="5400" b="0" baseline="0" dirty="0"/>
                        <a:t>x</a:t>
                      </a:r>
                      <a:r>
                        <a:rPr lang="en-US" sz="5400" b="0" baseline="-25000" dirty="0"/>
                        <a:t>1</a:t>
                      </a:r>
                      <a:endParaRPr lang="en-US" sz="5400" b="0" baseline="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2</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3</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b="0" dirty="0"/>
                        <a:t>x</a:t>
                      </a:r>
                      <a:r>
                        <a:rPr lang="en-US" sz="5400" b="0" baseline="-25000" dirty="0"/>
                        <a:t>4</a:t>
                      </a:r>
                      <a:endParaRPr lang="en-US" sz="5400" b="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3759560"/>
                  </a:ext>
                </a:extLst>
              </a:tr>
            </a:tbl>
          </a:graphicData>
        </a:graphic>
      </p:graphicFrame>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D1B1654-B62F-DB34-305F-EFC3986BE195}"/>
                  </a:ext>
                </a:extLst>
              </p:cNvPr>
              <p:cNvGraphicFramePr>
                <a:graphicFrameLocks noGrp="1"/>
              </p:cNvGraphicFramePr>
              <p:nvPr>
                <p:extLst>
                  <p:ext uri="{D42A27DB-BD31-4B8C-83A1-F6EECF244321}">
                    <p14:modId xmlns:p14="http://schemas.microsoft.com/office/powerpoint/2010/main" val="39254152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218397"/>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849679"/>
                      </a:ext>
                    </a:extLst>
                  </a:tr>
                  <a:tr h="1810512">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6583288"/>
                      </a:ext>
                    </a:extLst>
                  </a:tr>
                </a:tbl>
              </a:graphicData>
            </a:graphic>
          </p:graphicFrame>
        </mc:Choice>
        <mc:Fallback xmlns="">
          <p:graphicFrame>
            <p:nvGraphicFramePr>
              <p:cNvPr id="9" name="Table 8">
                <a:extLst>
                  <a:ext uri="{FF2B5EF4-FFF2-40B4-BE49-F238E27FC236}">
                    <a16:creationId xmlns:a16="http://schemas.microsoft.com/office/drawing/2014/main" id="{9D1B1654-B62F-DB34-305F-EFC3986BE195}"/>
                  </a:ext>
                </a:extLst>
              </p:cNvPr>
              <p:cNvGraphicFramePr>
                <a:graphicFrameLocks noGrp="1"/>
              </p:cNvGraphicFramePr>
              <p:nvPr>
                <p:extLst>
                  <p:ext uri="{D42A27DB-BD31-4B8C-83A1-F6EECF244321}">
                    <p14:modId xmlns:p14="http://schemas.microsoft.com/office/powerpoint/2010/main" val="392541528"/>
                  </p:ext>
                </p:extLst>
              </p:nvPr>
            </p:nvGraphicFramePr>
            <p:xfrm>
              <a:off x="16696944" y="9022080"/>
              <a:ext cx="3182112" cy="5431536"/>
            </p:xfrm>
            <a:graphic>
              <a:graphicData uri="http://schemas.openxmlformats.org/drawingml/2006/table">
                <a:tbl>
                  <a:tblPr firstRow="1" bandRow="1">
                    <a:tableStyleId>{5C22544A-7EE6-4342-B048-85BDC9FD1C3A}</a:tableStyleId>
                  </a:tblPr>
                  <a:tblGrid>
                    <a:gridCol w="3182112">
                      <a:extLst>
                        <a:ext uri="{9D8B030D-6E8A-4147-A177-3AD203B41FA5}">
                          <a16:colId xmlns:a16="http://schemas.microsoft.com/office/drawing/2014/main" val="235934930"/>
                        </a:ext>
                      </a:extLst>
                    </a:gridCol>
                  </a:tblGrid>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673" r="-575" b="-201010"/>
                          </a:stretch>
                        </a:blipFill>
                      </a:tcPr>
                    </a:tc>
                    <a:extLst>
                      <a:ext uri="{0D108BD9-81ED-4DB2-BD59-A6C34878D82A}">
                        <a16:rowId xmlns:a16="http://schemas.microsoft.com/office/drawing/2014/main" val="2807218397"/>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100673" r="-575" b="-101010"/>
                          </a:stretch>
                        </a:blipFill>
                      </a:tcPr>
                    </a:tc>
                    <a:extLst>
                      <a:ext uri="{0D108BD9-81ED-4DB2-BD59-A6C34878D82A}">
                        <a16:rowId xmlns:a16="http://schemas.microsoft.com/office/drawing/2014/main" val="2780849679"/>
                      </a:ext>
                    </a:extLst>
                  </a:tr>
                  <a:tr h="1810512">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6"/>
                          <a:stretch>
                            <a:fillRect l="-383" t="-200673" r="-575" b="-1010"/>
                          </a:stretch>
                        </a:blipFill>
                      </a:tcPr>
                    </a:tc>
                    <a:extLst>
                      <a:ext uri="{0D108BD9-81ED-4DB2-BD59-A6C34878D82A}">
                        <a16:rowId xmlns:a16="http://schemas.microsoft.com/office/drawing/2014/main" val="3976583288"/>
                      </a:ext>
                    </a:extLst>
                  </a:tr>
                </a:tbl>
              </a:graphicData>
            </a:graphic>
          </p:graphicFrame>
        </mc:Fallback>
      </mc:AlternateContent>
      <p:cxnSp>
        <p:nvCxnSpPr>
          <p:cNvPr id="14" name="Straight Connector 13">
            <a:extLst>
              <a:ext uri="{FF2B5EF4-FFF2-40B4-BE49-F238E27FC236}">
                <a16:creationId xmlns:a16="http://schemas.microsoft.com/office/drawing/2014/main" id="{28EC7B38-F033-FAB5-B402-861F7D2DAA2D}"/>
              </a:ext>
            </a:extLst>
          </p:cNvPr>
          <p:cNvCxnSpPr>
            <a:stCxn id="10" idx="0"/>
          </p:cNvCxnSpPr>
          <p:nvPr/>
        </p:nvCxnSpPr>
        <p:spPr>
          <a:xfrm flipH="1" flipV="1">
            <a:off x="4974336" y="8193024"/>
            <a:ext cx="1263210"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F9FA7-F37A-06C2-1453-98CF7A3378D3}"/>
              </a:ext>
            </a:extLst>
          </p:cNvPr>
          <p:cNvCxnSpPr>
            <a:cxnSpLocks/>
            <a:stCxn id="11" idx="0"/>
          </p:cNvCxnSpPr>
          <p:nvPr/>
        </p:nvCxnSpPr>
        <p:spPr>
          <a:xfrm flipH="1" flipV="1">
            <a:off x="4922146" y="8193024"/>
            <a:ext cx="4363399"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16D0A3D-23A1-CF8C-EC5B-73F23DC797D1}"/>
              </a:ext>
            </a:extLst>
          </p:cNvPr>
          <p:cNvCxnSpPr>
            <a:cxnSpLocks/>
            <a:stCxn id="12" idx="0"/>
          </p:cNvCxnSpPr>
          <p:nvPr/>
        </p:nvCxnSpPr>
        <p:spPr>
          <a:xfrm flipH="1" flipV="1">
            <a:off x="4974336" y="8193024"/>
            <a:ext cx="7359209"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9B314F-654F-CBF6-0D9F-BA229746235F}"/>
              </a:ext>
            </a:extLst>
          </p:cNvPr>
          <p:cNvCxnSpPr>
            <a:cxnSpLocks/>
            <a:stCxn id="10" idx="0"/>
          </p:cNvCxnSpPr>
          <p:nvPr/>
        </p:nvCxnSpPr>
        <p:spPr>
          <a:xfrm flipV="1">
            <a:off x="6237546" y="8193024"/>
            <a:ext cx="1906617"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7AB43C6-C9B5-767C-82D8-DB3F5D1E2B19}"/>
              </a:ext>
            </a:extLst>
          </p:cNvPr>
          <p:cNvCxnSpPr>
            <a:cxnSpLocks/>
            <a:stCxn id="11" idx="0"/>
          </p:cNvCxnSpPr>
          <p:nvPr/>
        </p:nvCxnSpPr>
        <p:spPr>
          <a:xfrm flipH="1" flipV="1">
            <a:off x="8074152" y="8193024"/>
            <a:ext cx="1211393"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BF06FC0-43A5-AFC4-0133-88932395BDD1}"/>
              </a:ext>
            </a:extLst>
          </p:cNvPr>
          <p:cNvCxnSpPr>
            <a:cxnSpLocks/>
            <a:stCxn id="12" idx="0"/>
          </p:cNvCxnSpPr>
          <p:nvPr/>
        </p:nvCxnSpPr>
        <p:spPr>
          <a:xfrm flipH="1" flipV="1">
            <a:off x="8131302" y="8193024"/>
            <a:ext cx="4202243"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963A537-ACF0-41AE-2FC3-CC7565C0110B}"/>
              </a:ext>
            </a:extLst>
          </p:cNvPr>
          <p:cNvCxnSpPr>
            <a:cxnSpLocks/>
            <a:stCxn id="10" idx="0"/>
          </p:cNvCxnSpPr>
          <p:nvPr/>
        </p:nvCxnSpPr>
        <p:spPr>
          <a:xfrm flipV="1">
            <a:off x="6237546" y="8193024"/>
            <a:ext cx="5050721"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7548799-BDC6-3D66-0468-AAFA6DA3E2DE}"/>
              </a:ext>
            </a:extLst>
          </p:cNvPr>
          <p:cNvCxnSpPr>
            <a:cxnSpLocks/>
            <a:stCxn id="11" idx="0"/>
          </p:cNvCxnSpPr>
          <p:nvPr/>
        </p:nvCxnSpPr>
        <p:spPr>
          <a:xfrm flipV="1">
            <a:off x="9285545" y="8193024"/>
            <a:ext cx="2002722"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BF3C2EC-4E63-0834-7D0A-180B0B8A66F5}"/>
              </a:ext>
            </a:extLst>
          </p:cNvPr>
          <p:cNvCxnSpPr>
            <a:cxnSpLocks/>
            <a:stCxn id="12" idx="0"/>
          </p:cNvCxnSpPr>
          <p:nvPr/>
        </p:nvCxnSpPr>
        <p:spPr>
          <a:xfrm flipH="1" flipV="1">
            <a:off x="11288267" y="8193024"/>
            <a:ext cx="1045278"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53A03D4-95AF-3263-A8FF-60263B21DD08}"/>
              </a:ext>
            </a:extLst>
          </p:cNvPr>
          <p:cNvCxnSpPr>
            <a:cxnSpLocks/>
            <a:stCxn id="10" idx="0"/>
          </p:cNvCxnSpPr>
          <p:nvPr/>
        </p:nvCxnSpPr>
        <p:spPr>
          <a:xfrm flipV="1">
            <a:off x="6237546" y="8193024"/>
            <a:ext cx="8238743"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00C0471-9D72-02D2-F5E5-529CE39113BB}"/>
              </a:ext>
            </a:extLst>
          </p:cNvPr>
          <p:cNvCxnSpPr>
            <a:cxnSpLocks/>
            <a:stCxn id="11" idx="0"/>
          </p:cNvCxnSpPr>
          <p:nvPr/>
        </p:nvCxnSpPr>
        <p:spPr>
          <a:xfrm flipV="1">
            <a:off x="9285545" y="8193024"/>
            <a:ext cx="5216466"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5F793A-E60E-7B8B-0952-0C5C0ED30C60}"/>
              </a:ext>
            </a:extLst>
          </p:cNvPr>
          <p:cNvCxnSpPr>
            <a:cxnSpLocks/>
            <a:stCxn id="12" idx="0"/>
          </p:cNvCxnSpPr>
          <p:nvPr/>
        </p:nvCxnSpPr>
        <p:spPr>
          <a:xfrm flipV="1">
            <a:off x="12333545" y="8193024"/>
            <a:ext cx="2142744" cy="2487168"/>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63869E72-DD57-4E54-9F66-66F23D4E84D5}"/>
              </a:ext>
            </a:extLst>
          </p:cNvPr>
          <p:cNvCxnSpPr>
            <a:cxnSpLocks/>
            <a:endCxn id="10" idx="4"/>
          </p:cNvCxnSpPr>
          <p:nvPr/>
        </p:nvCxnSpPr>
        <p:spPr>
          <a:xfrm flipV="1">
            <a:off x="6237546" y="12490704"/>
            <a:ext cx="0" cy="89705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353661A-7036-9671-E230-166BC8BB4EB2}"/>
              </a:ext>
            </a:extLst>
          </p:cNvPr>
          <p:cNvCxnSpPr>
            <a:cxnSpLocks/>
          </p:cNvCxnSpPr>
          <p:nvPr/>
        </p:nvCxnSpPr>
        <p:spPr>
          <a:xfrm flipV="1">
            <a:off x="9285545" y="12490704"/>
            <a:ext cx="0" cy="89705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BD0FF3-D41F-FB73-7EF7-E216A7F3D7E4}"/>
              </a:ext>
            </a:extLst>
          </p:cNvPr>
          <p:cNvCxnSpPr>
            <a:cxnSpLocks/>
          </p:cNvCxnSpPr>
          <p:nvPr/>
        </p:nvCxnSpPr>
        <p:spPr>
          <a:xfrm flipV="1">
            <a:off x="12333545" y="12522825"/>
            <a:ext cx="0" cy="89705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58" name="Table 57">
                <a:extLst>
                  <a:ext uri="{FF2B5EF4-FFF2-40B4-BE49-F238E27FC236}">
                    <a16:creationId xmlns:a16="http://schemas.microsoft.com/office/drawing/2014/main" id="{31C0FFEB-7E33-2985-164B-342EE29E7226}"/>
                  </a:ext>
                </a:extLst>
              </p:cNvPr>
              <p:cNvGraphicFramePr>
                <a:graphicFrameLocks noGrp="1"/>
              </p:cNvGraphicFramePr>
              <p:nvPr>
                <p:extLst>
                  <p:ext uri="{D42A27DB-BD31-4B8C-83A1-F6EECF244321}">
                    <p14:modId xmlns:p14="http://schemas.microsoft.com/office/powerpoint/2010/main" val="3527844514"/>
                  </p:ext>
                </p:extLst>
              </p:nvPr>
            </p:nvGraphicFramePr>
            <p:xfrm>
              <a:off x="5000054" y="13604192"/>
              <a:ext cx="8880069" cy="914400"/>
            </p:xfrm>
            <a:graphic>
              <a:graphicData uri="http://schemas.openxmlformats.org/drawingml/2006/table">
                <a:tbl>
                  <a:tblPr firstRow="1" bandRow="1">
                    <a:tableStyleId>{5C22544A-7EE6-4342-B048-85BDC9FD1C3A}</a:tableStyleId>
                  </a:tblPr>
                  <a:tblGrid>
                    <a:gridCol w="2960023">
                      <a:extLst>
                        <a:ext uri="{9D8B030D-6E8A-4147-A177-3AD203B41FA5}">
                          <a16:colId xmlns:a16="http://schemas.microsoft.com/office/drawing/2014/main" val="218607697"/>
                        </a:ext>
                      </a:extLst>
                    </a:gridCol>
                    <a:gridCol w="2960023">
                      <a:extLst>
                        <a:ext uri="{9D8B030D-6E8A-4147-A177-3AD203B41FA5}">
                          <a16:colId xmlns:a16="http://schemas.microsoft.com/office/drawing/2014/main" val="1679132382"/>
                        </a:ext>
                      </a:extLst>
                    </a:gridCol>
                    <a:gridCol w="2960023">
                      <a:extLst>
                        <a:ext uri="{9D8B030D-6E8A-4147-A177-3AD203B41FA5}">
                          <a16:colId xmlns:a16="http://schemas.microsoft.com/office/drawing/2014/main" val="2918021295"/>
                        </a:ext>
                      </a:extLst>
                    </a:gridCol>
                  </a:tblGrid>
                  <a:tr h="897050">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1</m:t>
                                    </m:r>
                                  </m:sub>
                                </m:sSub>
                              </m:oMath>
                            </m:oMathPara>
                          </a14:m>
                          <a:endParaRPr lang="en-US" sz="5400" b="0" baseline="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2</m:t>
                                    </m:r>
                                  </m:sub>
                                </m:sSub>
                              </m:oMath>
                            </m:oMathPara>
                          </a14:m>
                          <a:endParaRPr lang="en-US" sz="5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5400" b="0" i="1" smtClean="0">
                                        <a:solidFill>
                                          <a:schemeClr val="bg1"/>
                                        </a:solidFill>
                                        <a:latin typeface="Cambria Math" panose="02040503050406030204" pitchFamily="18" charset="0"/>
                                      </a:rPr>
                                    </m:ctrlPr>
                                  </m:sSubPr>
                                  <m:e>
                                    <m:acc>
                                      <m:accPr>
                                        <m:chr m:val="̂"/>
                                        <m:ctrlPr>
                                          <a:rPr lang="en-US" sz="5400" b="0" i="1" smtClean="0">
                                            <a:solidFill>
                                              <a:schemeClr val="bg1"/>
                                            </a:solidFill>
                                            <a:latin typeface="Cambria Math" panose="02040503050406030204" pitchFamily="18" charset="0"/>
                                          </a:rPr>
                                        </m:ctrlPr>
                                      </m:accPr>
                                      <m:e>
                                        <m:r>
                                          <a:rPr lang="en-US" sz="5400" b="0" i="1" smtClean="0">
                                            <a:solidFill>
                                              <a:schemeClr val="bg1"/>
                                            </a:solidFill>
                                            <a:latin typeface="Cambria Math" panose="02040503050406030204" pitchFamily="18" charset="0"/>
                                          </a:rPr>
                                          <m:t>𝑦</m:t>
                                        </m:r>
                                      </m:e>
                                    </m:acc>
                                  </m:e>
                                  <m:sub>
                                    <m:r>
                                      <a:rPr lang="en-US" sz="5400" b="0" i="1" smtClean="0">
                                        <a:solidFill>
                                          <a:schemeClr val="bg1"/>
                                        </a:solidFill>
                                        <a:latin typeface="Cambria Math" panose="02040503050406030204" pitchFamily="18" charset="0"/>
                                      </a:rPr>
                                      <m:t>3</m:t>
                                    </m:r>
                                  </m:sub>
                                </m:sSub>
                              </m:oMath>
                            </m:oMathPara>
                          </a14:m>
                          <a:endParaRPr lang="en-US" sz="54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576032"/>
                      </a:ext>
                    </a:extLst>
                  </a:tr>
                </a:tbl>
              </a:graphicData>
            </a:graphic>
          </p:graphicFrame>
        </mc:Choice>
        <mc:Fallback xmlns="">
          <p:graphicFrame>
            <p:nvGraphicFramePr>
              <p:cNvPr id="58" name="Table 57">
                <a:extLst>
                  <a:ext uri="{FF2B5EF4-FFF2-40B4-BE49-F238E27FC236}">
                    <a16:creationId xmlns:a16="http://schemas.microsoft.com/office/drawing/2014/main" id="{31C0FFEB-7E33-2985-164B-342EE29E7226}"/>
                  </a:ext>
                </a:extLst>
              </p:cNvPr>
              <p:cNvGraphicFramePr>
                <a:graphicFrameLocks noGrp="1"/>
              </p:cNvGraphicFramePr>
              <p:nvPr>
                <p:extLst>
                  <p:ext uri="{D42A27DB-BD31-4B8C-83A1-F6EECF244321}">
                    <p14:modId xmlns:p14="http://schemas.microsoft.com/office/powerpoint/2010/main" val="3527844514"/>
                  </p:ext>
                </p:extLst>
              </p:nvPr>
            </p:nvGraphicFramePr>
            <p:xfrm>
              <a:off x="5000054" y="13604192"/>
              <a:ext cx="8880069" cy="914400"/>
            </p:xfrm>
            <a:graphic>
              <a:graphicData uri="http://schemas.openxmlformats.org/drawingml/2006/table">
                <a:tbl>
                  <a:tblPr firstRow="1" bandRow="1">
                    <a:tableStyleId>{5C22544A-7EE6-4342-B048-85BDC9FD1C3A}</a:tableStyleId>
                  </a:tblPr>
                  <a:tblGrid>
                    <a:gridCol w="2960023">
                      <a:extLst>
                        <a:ext uri="{9D8B030D-6E8A-4147-A177-3AD203B41FA5}">
                          <a16:colId xmlns:a16="http://schemas.microsoft.com/office/drawing/2014/main" val="218607697"/>
                        </a:ext>
                      </a:extLst>
                    </a:gridCol>
                    <a:gridCol w="2960023">
                      <a:extLst>
                        <a:ext uri="{9D8B030D-6E8A-4147-A177-3AD203B41FA5}">
                          <a16:colId xmlns:a16="http://schemas.microsoft.com/office/drawing/2014/main" val="1679132382"/>
                        </a:ext>
                      </a:extLst>
                    </a:gridCol>
                    <a:gridCol w="2960023">
                      <a:extLst>
                        <a:ext uri="{9D8B030D-6E8A-4147-A177-3AD203B41FA5}">
                          <a16:colId xmlns:a16="http://schemas.microsoft.com/office/drawing/2014/main" val="2918021295"/>
                        </a:ext>
                      </a:extLst>
                    </a:gridCol>
                  </a:tblGrid>
                  <a:tr h="914400">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r="-19979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l="-100206" r="-100206"/>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l="-199794"/>
                          </a:stretch>
                        </a:blipFill>
                      </a:tcPr>
                    </a:tc>
                    <a:extLst>
                      <a:ext uri="{0D108BD9-81ED-4DB2-BD59-A6C34878D82A}">
                        <a16:rowId xmlns:a16="http://schemas.microsoft.com/office/drawing/2014/main" val="1441576032"/>
                      </a:ext>
                    </a:extLst>
                  </a:tr>
                </a:tbl>
              </a:graphicData>
            </a:graphic>
          </p:graphicFrame>
        </mc:Fallback>
      </mc:AlternateContent>
      <p:sp>
        <p:nvSpPr>
          <p:cNvPr id="10" name="Oval 9">
            <a:extLst>
              <a:ext uri="{FF2B5EF4-FFF2-40B4-BE49-F238E27FC236}">
                <a16:creationId xmlns:a16="http://schemas.microsoft.com/office/drawing/2014/main" id="{7FF94071-FB86-1188-5B31-DE591613CE8B}"/>
              </a:ext>
            </a:extLst>
          </p:cNvPr>
          <p:cNvSpPr/>
          <p:nvPr/>
        </p:nvSpPr>
        <p:spPr>
          <a:xfrm>
            <a:off x="5332290" y="10680192"/>
            <a:ext cx="1810512" cy="1810512"/>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1" name="Oval 10">
            <a:extLst>
              <a:ext uri="{FF2B5EF4-FFF2-40B4-BE49-F238E27FC236}">
                <a16:creationId xmlns:a16="http://schemas.microsoft.com/office/drawing/2014/main" id="{F60428A5-6BFD-33FD-8F0A-EC8BAC320D15}"/>
              </a:ext>
            </a:extLst>
          </p:cNvPr>
          <p:cNvSpPr/>
          <p:nvPr/>
        </p:nvSpPr>
        <p:spPr>
          <a:xfrm>
            <a:off x="8380289" y="10680192"/>
            <a:ext cx="1810512" cy="1810512"/>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2" name="Oval 11">
            <a:extLst>
              <a:ext uri="{FF2B5EF4-FFF2-40B4-BE49-F238E27FC236}">
                <a16:creationId xmlns:a16="http://schemas.microsoft.com/office/drawing/2014/main" id="{FE919003-2C3F-30D1-7075-81EC775D5BD7}"/>
              </a:ext>
            </a:extLst>
          </p:cNvPr>
          <p:cNvSpPr/>
          <p:nvPr/>
        </p:nvSpPr>
        <p:spPr>
          <a:xfrm>
            <a:off x="11428289" y="10680192"/>
            <a:ext cx="1810512" cy="1810512"/>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534AF5-2E76-A27D-DEB1-FE8E09D8D390}"/>
                  </a:ext>
                </a:extLst>
              </p:cNvPr>
              <p:cNvSpPr txBox="1"/>
              <p:nvPr/>
            </p:nvSpPr>
            <p:spPr>
              <a:xfrm>
                <a:off x="24893581" y="6733770"/>
                <a:ext cx="3369962" cy="1107996"/>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7200" i="1" smtClean="0">
                              <a:solidFill>
                                <a:schemeClr val="bg1"/>
                              </a:solidFill>
                              <a:latin typeface="Cambria Math" panose="02040503050406030204" pitchFamily="18" charset="0"/>
                              <a:cs typeface="NVIDIA Sans" panose="020B0503020203020204" pitchFamily="34" charset="0"/>
                            </a:rPr>
                          </m:ctrlPr>
                        </m:accPr>
                        <m:e>
                          <m:r>
                            <a:rPr lang="en-US" sz="7200" b="0" i="1" smtClean="0">
                              <a:solidFill>
                                <a:schemeClr val="bg1"/>
                              </a:solidFill>
                              <a:latin typeface="Cambria Math" panose="02040503050406030204" pitchFamily="18" charset="0"/>
                              <a:cs typeface="NVIDIA Sans" panose="020B0503020203020204" pitchFamily="34" charset="0"/>
                            </a:rPr>
                            <m:t>𝑦</m:t>
                          </m:r>
                        </m:e>
                      </m:acc>
                      <m:r>
                        <a:rPr lang="en-US" sz="7200" b="0" i="1" smtClean="0">
                          <a:solidFill>
                            <a:schemeClr val="bg1"/>
                          </a:solidFill>
                          <a:latin typeface="Cambria Math" panose="02040503050406030204" pitchFamily="18" charset="0"/>
                          <a:cs typeface="NVIDIA Sans" panose="020B0503020203020204" pitchFamily="34" charset="0"/>
                        </a:rPr>
                        <m:t>=</m:t>
                      </m:r>
                      <m:r>
                        <a:rPr lang="en-US" sz="7200" b="0" i="1" smtClean="0">
                          <a:solidFill>
                            <a:schemeClr val="bg1"/>
                          </a:solidFill>
                          <a:latin typeface="Cambria Math" panose="02040503050406030204" pitchFamily="18" charset="0"/>
                          <a:cs typeface="NVIDIA Sans" panose="020B0503020203020204" pitchFamily="34" charset="0"/>
                        </a:rPr>
                        <m:t>𝑊𝑥</m:t>
                      </m:r>
                    </m:oMath>
                  </m:oMathPara>
                </a14:m>
                <a:endParaRPr lang="en-US" sz="72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59" name="TextBox 58">
                <a:extLst>
                  <a:ext uri="{FF2B5EF4-FFF2-40B4-BE49-F238E27FC236}">
                    <a16:creationId xmlns:a16="http://schemas.microsoft.com/office/drawing/2014/main" id="{A9534AF5-2E76-A27D-DEB1-FE8E09D8D390}"/>
                  </a:ext>
                </a:extLst>
              </p:cNvPr>
              <p:cNvSpPr txBox="1">
                <a:spLocks noRot="1" noChangeAspect="1" noMove="1" noResize="1" noEditPoints="1" noAdjustHandles="1" noChangeArrowheads="1" noChangeShapeType="1" noTextEdit="1"/>
              </p:cNvSpPr>
              <p:nvPr/>
            </p:nvSpPr>
            <p:spPr>
              <a:xfrm>
                <a:off x="24893581" y="6733770"/>
                <a:ext cx="3369962" cy="110799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849140-2B7C-05D5-4832-A306ADB9620C}"/>
                  </a:ext>
                </a:extLst>
              </p:cNvPr>
              <p:cNvSpPr txBox="1"/>
              <p:nvPr/>
            </p:nvSpPr>
            <p:spPr>
              <a:xfrm>
                <a:off x="20622822" y="13188694"/>
                <a:ext cx="10480626"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34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5" name="TextBox 4">
                <a:extLst>
                  <a:ext uri="{FF2B5EF4-FFF2-40B4-BE49-F238E27FC236}">
                    <a16:creationId xmlns:a16="http://schemas.microsoft.com/office/drawing/2014/main" id="{4A849140-2B7C-05D5-4832-A306ADB9620C}"/>
                  </a:ext>
                </a:extLst>
              </p:cNvPr>
              <p:cNvSpPr txBox="1">
                <a:spLocks noRot="1" noChangeAspect="1" noMove="1" noResize="1" noEditPoints="1" noAdjustHandles="1" noChangeArrowheads="1" noChangeShapeType="1" noTextEdit="1"/>
              </p:cNvSpPr>
              <p:nvPr/>
            </p:nvSpPr>
            <p:spPr>
              <a:xfrm>
                <a:off x="20622822" y="13188694"/>
                <a:ext cx="10480626" cy="83099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DCE5BBB-B972-561F-086F-1C3A99195696}"/>
                  </a:ext>
                </a:extLst>
              </p:cNvPr>
              <p:cNvSpPr txBox="1"/>
              <p:nvPr/>
            </p:nvSpPr>
            <p:spPr>
              <a:xfrm>
                <a:off x="20578740" y="9446374"/>
                <a:ext cx="10568791"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 </m:t>
                          </m:r>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14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3" name="TextBox 12">
                <a:extLst>
                  <a:ext uri="{FF2B5EF4-FFF2-40B4-BE49-F238E27FC236}">
                    <a16:creationId xmlns:a16="http://schemas.microsoft.com/office/drawing/2014/main" id="{2DCE5BBB-B972-561F-086F-1C3A99195696}"/>
                  </a:ext>
                </a:extLst>
              </p:cNvPr>
              <p:cNvSpPr txBox="1">
                <a:spLocks noRot="1" noChangeAspect="1" noMove="1" noResize="1" noEditPoints="1" noAdjustHandles="1" noChangeArrowheads="1" noChangeShapeType="1" noTextEdit="1"/>
              </p:cNvSpPr>
              <p:nvPr/>
            </p:nvSpPr>
            <p:spPr>
              <a:xfrm>
                <a:off x="20578740" y="9446374"/>
                <a:ext cx="10568791" cy="83099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0126360-F809-A7A3-8B60-845C20DCA5A7}"/>
                  </a:ext>
                </a:extLst>
              </p:cNvPr>
              <p:cNvSpPr txBox="1"/>
              <p:nvPr/>
            </p:nvSpPr>
            <p:spPr>
              <a:xfrm>
                <a:off x="20622822" y="11317534"/>
                <a:ext cx="10480626" cy="83099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1</m:t>
                          </m:r>
                        </m:sub>
                      </m:sSub>
                      <m:sSub>
                        <m:sSubPr>
                          <m:ctrlPr>
                            <a:rPr lang="en-US" sz="540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21</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2</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22</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3</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23</m:t>
                          </m:r>
                        </m:sub>
                      </m:sSub>
                      <m:r>
                        <a:rPr lang="en-US" sz="5400" b="0" i="1" smtClean="0">
                          <a:solidFill>
                            <a:schemeClr val="bg1"/>
                          </a:solidFill>
                          <a:latin typeface="Cambria Math" panose="02040503050406030204" pitchFamily="18" charset="0"/>
                          <a:cs typeface="NVIDIA Sans" panose="020B0503020203020204" pitchFamily="34" charset="0"/>
                        </a:rPr>
                        <m:t>+</m:t>
                      </m:r>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𝑥</m:t>
                          </m:r>
                        </m:e>
                        <m:sub>
                          <m:r>
                            <a:rPr lang="en-US" sz="5400" b="0" i="1" smtClean="0">
                              <a:solidFill>
                                <a:schemeClr val="bg1"/>
                              </a:solidFill>
                              <a:latin typeface="Cambria Math" panose="02040503050406030204" pitchFamily="18" charset="0"/>
                              <a:cs typeface="NVIDIA Sans" panose="020B0503020203020204" pitchFamily="34" charset="0"/>
                            </a:rPr>
                            <m:t>4</m:t>
                          </m:r>
                        </m:sub>
                      </m:sSub>
                      <m:sSub>
                        <m:sSubPr>
                          <m:ctrlPr>
                            <a:rPr lang="en-US" sz="5400" b="0" i="1" smtClean="0">
                              <a:solidFill>
                                <a:schemeClr val="bg1"/>
                              </a:solidFill>
                              <a:latin typeface="Cambria Math" panose="02040503050406030204" pitchFamily="18" charset="0"/>
                              <a:cs typeface="NVIDIA Sans" panose="020B0503020203020204" pitchFamily="34" charset="0"/>
                            </a:rPr>
                          </m:ctrlPr>
                        </m:sSubPr>
                        <m:e>
                          <m:r>
                            <a:rPr lang="en-US" sz="5400" b="0" i="1" smtClean="0">
                              <a:solidFill>
                                <a:schemeClr val="bg1"/>
                              </a:solidFill>
                              <a:latin typeface="Cambria Math" panose="02040503050406030204" pitchFamily="18" charset="0"/>
                              <a:cs typeface="NVIDIA Sans" panose="020B0503020203020204" pitchFamily="34" charset="0"/>
                            </a:rPr>
                            <m:t>𝑤</m:t>
                          </m:r>
                        </m:e>
                        <m:sub>
                          <m:r>
                            <a:rPr lang="en-US" sz="5400" b="0" i="1" smtClean="0">
                              <a:solidFill>
                                <a:schemeClr val="bg1"/>
                              </a:solidFill>
                              <a:latin typeface="Cambria Math" panose="02040503050406030204" pitchFamily="18" charset="0"/>
                              <a:cs typeface="NVIDIA Sans" panose="020B0503020203020204" pitchFamily="34" charset="0"/>
                            </a:rPr>
                            <m:t>24</m:t>
                          </m:r>
                        </m:sub>
                      </m:sSub>
                    </m:oMath>
                  </m:oMathPara>
                </a14:m>
                <a:endParaRPr lang="en-US" sz="5400" dirty="0" err="1">
                  <a:solidFill>
                    <a:schemeClr val="bg1"/>
                  </a:solidFill>
                  <a:latin typeface="NVIDIA Sans" panose="020B0503020203020204" pitchFamily="34" charset="0"/>
                  <a:cs typeface="NVIDIA Sans" panose="020B0503020203020204" pitchFamily="34" charset="0"/>
                </a:endParaRPr>
              </a:p>
            </p:txBody>
          </p:sp>
        </mc:Choice>
        <mc:Fallback xmlns="">
          <p:sp>
            <p:nvSpPr>
              <p:cNvPr id="16" name="TextBox 15">
                <a:extLst>
                  <a:ext uri="{FF2B5EF4-FFF2-40B4-BE49-F238E27FC236}">
                    <a16:creationId xmlns:a16="http://schemas.microsoft.com/office/drawing/2014/main" id="{A0126360-F809-A7A3-8B60-845C20DCA5A7}"/>
                  </a:ext>
                </a:extLst>
              </p:cNvPr>
              <p:cNvSpPr txBox="1">
                <a:spLocks noRot="1" noChangeAspect="1" noMove="1" noResize="1" noEditPoints="1" noAdjustHandles="1" noChangeArrowheads="1" noChangeShapeType="1" noTextEdit="1"/>
              </p:cNvSpPr>
              <p:nvPr/>
            </p:nvSpPr>
            <p:spPr>
              <a:xfrm>
                <a:off x="20622822" y="11317534"/>
                <a:ext cx="10480626" cy="830997"/>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18938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D5C9-B13E-8813-764F-6D971D585DC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5FE96E-A4AE-1612-CA9E-E8AC1D601868}"/>
              </a:ext>
            </a:extLst>
          </p:cNvPr>
          <p:cNvSpPr>
            <a:spLocks noGrp="1"/>
          </p:cNvSpPr>
          <p:nvPr>
            <p:ph type="body" sz="quarter" idx="13"/>
          </p:nvPr>
        </p:nvSpPr>
        <p:spPr>
          <a:xfrm>
            <a:off x="1473200" y="1865313"/>
            <a:ext cx="18476913" cy="5943600"/>
          </a:xfrm>
        </p:spPr>
        <p:txBody>
          <a:bodyPr/>
          <a:lstStyle/>
          <a:p>
            <a:r>
              <a:rPr lang="en-US" dirty="0"/>
              <a:t>Visual Instruction Tuning</a:t>
            </a:r>
          </a:p>
          <a:p>
            <a:r>
              <a:rPr lang="en-US" dirty="0"/>
              <a:t>in Practice</a:t>
            </a:r>
          </a:p>
        </p:txBody>
      </p:sp>
    </p:spTree>
    <p:extLst>
      <p:ext uri="{BB962C8B-B14F-4D97-AF65-F5344CB8AC3E}">
        <p14:creationId xmlns:p14="http://schemas.microsoft.com/office/powerpoint/2010/main" val="3764044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3F18-F327-FAF0-2124-8D874E4EF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5748F-DEA0-3901-F621-8422AAD9A91C}"/>
              </a:ext>
            </a:extLst>
          </p:cNvPr>
          <p:cNvSpPr>
            <a:spLocks noGrp="1"/>
          </p:cNvSpPr>
          <p:nvPr>
            <p:ph type="title"/>
          </p:nvPr>
        </p:nvSpPr>
        <p:spPr/>
        <p:txBody>
          <a:bodyPr/>
          <a:lstStyle/>
          <a:p>
            <a:r>
              <a:rPr lang="en-US" dirty="0" err="1"/>
              <a:t>LlaVA</a:t>
            </a:r>
            <a:r>
              <a:rPr lang="en-US" dirty="0"/>
              <a:t> Architecture</a:t>
            </a:r>
          </a:p>
        </p:txBody>
      </p:sp>
      <p:sp>
        <p:nvSpPr>
          <p:cNvPr id="3" name="Rectangle 2">
            <a:extLst>
              <a:ext uri="{FF2B5EF4-FFF2-40B4-BE49-F238E27FC236}">
                <a16:creationId xmlns:a16="http://schemas.microsoft.com/office/drawing/2014/main" id="{089419DF-8630-4336-74D2-6DAD1608FEF4}"/>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sp>
        <p:nvSpPr>
          <p:cNvPr id="7" name="Rectangle 6">
            <a:extLst>
              <a:ext uri="{FF2B5EF4-FFF2-40B4-BE49-F238E27FC236}">
                <a16:creationId xmlns:a16="http://schemas.microsoft.com/office/drawing/2014/main" id="{A72C388F-1CE5-DD71-8B4A-B2B65F73AB09}"/>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6" name="Text Placeholder 5">
            <a:extLst>
              <a:ext uri="{FF2B5EF4-FFF2-40B4-BE49-F238E27FC236}">
                <a16:creationId xmlns:a16="http://schemas.microsoft.com/office/drawing/2014/main" id="{C129B956-BBCA-4F58-8951-9D8A62AD65C2}"/>
              </a:ext>
            </a:extLst>
          </p:cNvPr>
          <p:cNvSpPr>
            <a:spLocks noGrp="1"/>
          </p:cNvSpPr>
          <p:nvPr>
            <p:ph type="body" sz="quarter" idx="10"/>
          </p:nvPr>
        </p:nvSpPr>
        <p:spPr/>
        <p:txBody>
          <a:bodyPr/>
          <a:lstStyle/>
          <a:p>
            <a:endParaRPr lang="en-US"/>
          </a:p>
        </p:txBody>
      </p:sp>
      <p:graphicFrame>
        <p:nvGraphicFramePr>
          <p:cNvPr id="8" name="Table 7">
            <a:extLst>
              <a:ext uri="{FF2B5EF4-FFF2-40B4-BE49-F238E27FC236}">
                <a16:creationId xmlns:a16="http://schemas.microsoft.com/office/drawing/2014/main" id="{5B48190D-FE32-477C-A024-49CB70513266}"/>
              </a:ext>
            </a:extLst>
          </p:cNvPr>
          <p:cNvGraphicFramePr>
            <a:graphicFrameLocks noGrp="1"/>
          </p:cNvGraphicFramePr>
          <p:nvPr>
            <p:extLst>
              <p:ext uri="{D42A27DB-BD31-4B8C-83A1-F6EECF244321}">
                <p14:modId xmlns:p14="http://schemas.microsoft.com/office/powerpoint/2010/main" val="811234452"/>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3573425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5233-5F9B-7611-40F5-02F06FCC0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38DAF-8227-6805-CA05-AD79C0714FC4}"/>
              </a:ext>
            </a:extLst>
          </p:cNvPr>
          <p:cNvSpPr>
            <a:spLocks noGrp="1"/>
          </p:cNvSpPr>
          <p:nvPr>
            <p:ph type="title"/>
          </p:nvPr>
        </p:nvSpPr>
        <p:spPr/>
        <p:txBody>
          <a:bodyPr/>
          <a:lstStyle/>
          <a:p>
            <a:r>
              <a:rPr lang="en-US" dirty="0" err="1"/>
              <a:t>LlaVA</a:t>
            </a:r>
            <a:r>
              <a:rPr lang="en-US" dirty="0"/>
              <a:t> Architecture</a:t>
            </a:r>
          </a:p>
        </p:txBody>
      </p:sp>
      <p:pic>
        <p:nvPicPr>
          <p:cNvPr id="15" name="Graphic 14" descr="Eye with solid fill">
            <a:extLst>
              <a:ext uri="{FF2B5EF4-FFF2-40B4-BE49-F238E27FC236}">
                <a16:creationId xmlns:a16="http://schemas.microsoft.com/office/drawing/2014/main" id="{A2DC06F0-B240-47F6-4050-FCF9CDD99C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pic>
        <p:nvPicPr>
          <p:cNvPr id="12" name="Graphic 11" descr="Eye with solid fill">
            <a:extLst>
              <a:ext uri="{FF2B5EF4-FFF2-40B4-BE49-F238E27FC236}">
                <a16:creationId xmlns:a16="http://schemas.microsoft.com/office/drawing/2014/main" id="{77723C6F-0839-EAC1-96B6-C1C8223124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sp>
        <p:nvSpPr>
          <p:cNvPr id="7" name="Rectangle 6">
            <a:extLst>
              <a:ext uri="{FF2B5EF4-FFF2-40B4-BE49-F238E27FC236}">
                <a16:creationId xmlns:a16="http://schemas.microsoft.com/office/drawing/2014/main" id="{EB2D590C-82AE-C4E1-4C9E-104E31602313}"/>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17" name="Rectangle 16">
            <a:extLst>
              <a:ext uri="{FF2B5EF4-FFF2-40B4-BE49-F238E27FC236}">
                <a16:creationId xmlns:a16="http://schemas.microsoft.com/office/drawing/2014/main" id="{E7FB6C9F-990B-9FB2-C34D-F409C5C15D74}"/>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sp>
        <p:nvSpPr>
          <p:cNvPr id="20" name="Rectangle 19">
            <a:extLst>
              <a:ext uri="{FF2B5EF4-FFF2-40B4-BE49-F238E27FC236}">
                <a16:creationId xmlns:a16="http://schemas.microsoft.com/office/drawing/2014/main" id="{91172923-E0D8-61DC-1C55-D15D631F1088}"/>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431A7DD6-F06E-EFB0-970A-AD9BC225535F}"/>
              </a:ext>
            </a:extLst>
          </p:cNvPr>
          <p:cNvPicPr>
            <a:picLocks noChangeAspect="1"/>
          </p:cNvPicPr>
          <p:nvPr/>
        </p:nvPicPr>
        <p:blipFill>
          <a:blip r:embed="rId5">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9" name="Rectangle 28">
            <a:extLst>
              <a:ext uri="{FF2B5EF4-FFF2-40B4-BE49-F238E27FC236}">
                <a16:creationId xmlns:a16="http://schemas.microsoft.com/office/drawing/2014/main" id="{0ECF06D1-DF8F-7D9F-040A-8631BE1EB78D}"/>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sp>
        <p:nvSpPr>
          <p:cNvPr id="3" name="Arrow: Right 2">
            <a:extLst>
              <a:ext uri="{FF2B5EF4-FFF2-40B4-BE49-F238E27FC236}">
                <a16:creationId xmlns:a16="http://schemas.microsoft.com/office/drawing/2014/main" id="{C4B7AF1A-D88B-EC98-93DD-FC08E26C04D5}"/>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 name="Text Placeholder 5">
            <a:extLst>
              <a:ext uri="{FF2B5EF4-FFF2-40B4-BE49-F238E27FC236}">
                <a16:creationId xmlns:a16="http://schemas.microsoft.com/office/drawing/2014/main" id="{F19AE11D-ABCD-D1DD-C39E-6A9847248EC1}"/>
              </a:ext>
            </a:extLst>
          </p:cNvPr>
          <p:cNvSpPr>
            <a:spLocks noGrp="1"/>
          </p:cNvSpPr>
          <p:nvPr>
            <p:ph type="body" sz="quarter" idx="10"/>
          </p:nvPr>
        </p:nvSpPr>
        <p:spPr/>
        <p:txBody>
          <a:bodyPr/>
          <a:lstStyle/>
          <a:p>
            <a:endParaRPr lang="en-US"/>
          </a:p>
        </p:txBody>
      </p:sp>
      <p:graphicFrame>
        <p:nvGraphicFramePr>
          <p:cNvPr id="8" name="Table 7">
            <a:extLst>
              <a:ext uri="{FF2B5EF4-FFF2-40B4-BE49-F238E27FC236}">
                <a16:creationId xmlns:a16="http://schemas.microsoft.com/office/drawing/2014/main" id="{32FDE7AA-689A-62EC-4E4B-B72B58D5EC74}"/>
              </a:ext>
            </a:extLst>
          </p:cNvPr>
          <p:cNvGraphicFramePr>
            <a:graphicFrameLocks noGrp="1"/>
          </p:cNvGraphicFramePr>
          <p:nvPr>
            <p:extLst>
              <p:ext uri="{D42A27DB-BD31-4B8C-83A1-F6EECF244321}">
                <p14:modId xmlns:p14="http://schemas.microsoft.com/office/powerpoint/2010/main" val="811234452"/>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42714919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EE247-682E-A173-CBEE-341DE7439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113B5-8541-A3CC-FE8C-70A16107D30E}"/>
              </a:ext>
            </a:extLst>
          </p:cNvPr>
          <p:cNvSpPr>
            <a:spLocks noGrp="1"/>
          </p:cNvSpPr>
          <p:nvPr>
            <p:ph type="title"/>
          </p:nvPr>
        </p:nvSpPr>
        <p:spPr/>
        <p:txBody>
          <a:bodyPr/>
          <a:lstStyle/>
          <a:p>
            <a:r>
              <a:rPr lang="en-US" dirty="0" err="1"/>
              <a:t>LlaVA</a:t>
            </a:r>
            <a:r>
              <a:rPr lang="en-US" dirty="0"/>
              <a:t> Architecture</a:t>
            </a:r>
          </a:p>
        </p:txBody>
      </p:sp>
      <p:pic>
        <p:nvPicPr>
          <p:cNvPr id="15" name="Graphic 14" descr="Eye with solid fill">
            <a:extLst>
              <a:ext uri="{FF2B5EF4-FFF2-40B4-BE49-F238E27FC236}">
                <a16:creationId xmlns:a16="http://schemas.microsoft.com/office/drawing/2014/main" id="{E29049CD-2CF4-9A4B-0FF0-BF147151CA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pic>
        <p:nvPicPr>
          <p:cNvPr id="12" name="Graphic 11" descr="Eye with solid fill">
            <a:extLst>
              <a:ext uri="{FF2B5EF4-FFF2-40B4-BE49-F238E27FC236}">
                <a16:creationId xmlns:a16="http://schemas.microsoft.com/office/drawing/2014/main" id="{6369B8FA-8058-859A-E742-9184E48528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sp>
        <p:nvSpPr>
          <p:cNvPr id="5" name="Rectangle 4">
            <a:extLst>
              <a:ext uri="{FF2B5EF4-FFF2-40B4-BE49-F238E27FC236}">
                <a16:creationId xmlns:a16="http://schemas.microsoft.com/office/drawing/2014/main" id="{9AC3122F-B147-7725-55B0-A55E21D0DBEE}"/>
              </a:ext>
            </a:extLst>
          </p:cNvPr>
          <p:cNvSpPr/>
          <p:nvPr/>
        </p:nvSpPr>
        <p:spPr>
          <a:xfrm>
            <a:off x="23157832" y="4107810"/>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Llama</a:t>
            </a:r>
          </a:p>
        </p:txBody>
      </p:sp>
      <p:sp>
        <p:nvSpPr>
          <p:cNvPr id="7" name="Rectangle 6">
            <a:extLst>
              <a:ext uri="{FF2B5EF4-FFF2-40B4-BE49-F238E27FC236}">
                <a16:creationId xmlns:a16="http://schemas.microsoft.com/office/drawing/2014/main" id="{483C5699-9CE2-A06E-2F97-F4812AAAFE2B}"/>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11" name="Rectangle 10">
            <a:extLst>
              <a:ext uri="{FF2B5EF4-FFF2-40B4-BE49-F238E27FC236}">
                <a16:creationId xmlns:a16="http://schemas.microsoft.com/office/drawing/2014/main" id="{E2C72AC5-BC38-A9E7-1421-59971799BC83}"/>
              </a:ext>
            </a:extLst>
          </p:cNvPr>
          <p:cNvSpPr/>
          <p:nvPr/>
        </p:nvSpPr>
        <p:spPr>
          <a:xfrm>
            <a:off x="23157832" y="6242040"/>
            <a:ext cx="9138776" cy="533177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Llama Embeddings</a:t>
            </a:r>
          </a:p>
        </p:txBody>
      </p:sp>
      <p:graphicFrame>
        <p:nvGraphicFramePr>
          <p:cNvPr id="14" name="Table 13">
            <a:extLst>
              <a:ext uri="{FF2B5EF4-FFF2-40B4-BE49-F238E27FC236}">
                <a16:creationId xmlns:a16="http://schemas.microsoft.com/office/drawing/2014/main" id="{746548F1-9735-DD20-14AF-C1283F6F5FEB}"/>
              </a:ext>
            </a:extLst>
          </p:cNvPr>
          <p:cNvGraphicFramePr>
            <a:graphicFrameLocks noGrp="1"/>
          </p:cNvGraphicFramePr>
          <p:nvPr/>
        </p:nvGraphicFramePr>
        <p:xfrm>
          <a:off x="23450440" y="7636427"/>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17" name="Rectangle 16">
            <a:extLst>
              <a:ext uri="{FF2B5EF4-FFF2-40B4-BE49-F238E27FC236}">
                <a16:creationId xmlns:a16="http://schemas.microsoft.com/office/drawing/2014/main" id="{98FDC8C5-8840-61F3-0992-A6DA021AAC9F}"/>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sp>
        <p:nvSpPr>
          <p:cNvPr id="20" name="Rectangle 19">
            <a:extLst>
              <a:ext uri="{FF2B5EF4-FFF2-40B4-BE49-F238E27FC236}">
                <a16:creationId xmlns:a16="http://schemas.microsoft.com/office/drawing/2014/main" id="{6A13C4EB-8217-B633-CAEA-E6549BC9373C}"/>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1706DEB2-711A-5A10-ED53-9FB94C235E73}"/>
              </a:ext>
            </a:extLst>
          </p:cNvPr>
          <p:cNvPicPr>
            <a:picLocks noChangeAspect="1"/>
          </p:cNvPicPr>
          <p:nvPr/>
        </p:nvPicPr>
        <p:blipFill>
          <a:blip r:embed="rId5">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9" name="Rectangle 28">
            <a:extLst>
              <a:ext uri="{FF2B5EF4-FFF2-40B4-BE49-F238E27FC236}">
                <a16:creationId xmlns:a16="http://schemas.microsoft.com/office/drawing/2014/main" id="{91E23975-9DF4-A063-B944-71E1A39197FB}"/>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sp>
        <p:nvSpPr>
          <p:cNvPr id="30" name="Arrow: Right 29">
            <a:extLst>
              <a:ext uri="{FF2B5EF4-FFF2-40B4-BE49-F238E27FC236}">
                <a16:creationId xmlns:a16="http://schemas.microsoft.com/office/drawing/2014/main" id="{D9CFECAB-3047-FACA-647D-F48CFBD8DB86}"/>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 name="Arrow: Right 2">
            <a:extLst>
              <a:ext uri="{FF2B5EF4-FFF2-40B4-BE49-F238E27FC236}">
                <a16:creationId xmlns:a16="http://schemas.microsoft.com/office/drawing/2014/main" id="{6BE55A63-A006-CD92-3249-875DB69481F3}"/>
              </a:ext>
            </a:extLst>
          </p:cNvPr>
          <p:cNvSpPr/>
          <p:nvPr/>
        </p:nvSpPr>
        <p:spPr>
          <a:xfrm>
            <a:off x="20114711"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 name="Text Placeholder 5">
            <a:extLst>
              <a:ext uri="{FF2B5EF4-FFF2-40B4-BE49-F238E27FC236}">
                <a16:creationId xmlns:a16="http://schemas.microsoft.com/office/drawing/2014/main" id="{B5872FEA-1D84-4AC5-13DB-3319BFCB75B8}"/>
              </a:ext>
            </a:extLst>
          </p:cNvPr>
          <p:cNvSpPr>
            <a:spLocks noGrp="1"/>
          </p:cNvSpPr>
          <p:nvPr>
            <p:ph type="body" sz="quarter" idx="10"/>
          </p:nvPr>
        </p:nvSpPr>
        <p:spPr/>
        <p:txBody>
          <a:bodyPr/>
          <a:lstStyle/>
          <a:p>
            <a:endParaRPr lang="en-US"/>
          </a:p>
        </p:txBody>
      </p:sp>
      <p:graphicFrame>
        <p:nvGraphicFramePr>
          <p:cNvPr id="8" name="Table 7">
            <a:extLst>
              <a:ext uri="{FF2B5EF4-FFF2-40B4-BE49-F238E27FC236}">
                <a16:creationId xmlns:a16="http://schemas.microsoft.com/office/drawing/2014/main" id="{16D1E6B3-BD2E-106C-B4CE-602A64AE7629}"/>
              </a:ext>
            </a:extLst>
          </p:cNvPr>
          <p:cNvGraphicFramePr>
            <a:graphicFrameLocks noGrp="1"/>
          </p:cNvGraphicFramePr>
          <p:nvPr>
            <p:extLst>
              <p:ext uri="{D42A27DB-BD31-4B8C-83A1-F6EECF244321}">
                <p14:modId xmlns:p14="http://schemas.microsoft.com/office/powerpoint/2010/main" val="811234452"/>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3543294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26825-EB8F-449F-736E-A01C9E31C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7B138-A097-DED3-D811-20373DE156AE}"/>
              </a:ext>
            </a:extLst>
          </p:cNvPr>
          <p:cNvSpPr>
            <a:spLocks noGrp="1"/>
          </p:cNvSpPr>
          <p:nvPr>
            <p:ph type="title"/>
          </p:nvPr>
        </p:nvSpPr>
        <p:spPr/>
        <p:txBody>
          <a:bodyPr/>
          <a:lstStyle/>
          <a:p>
            <a:r>
              <a:rPr lang="en-US" dirty="0" err="1"/>
              <a:t>LlaVA</a:t>
            </a:r>
            <a:r>
              <a:rPr lang="en-US" dirty="0"/>
              <a:t> Architecture</a:t>
            </a:r>
          </a:p>
        </p:txBody>
      </p:sp>
      <p:pic>
        <p:nvPicPr>
          <p:cNvPr id="15" name="Graphic 14" descr="Eye with solid fill">
            <a:extLst>
              <a:ext uri="{FF2B5EF4-FFF2-40B4-BE49-F238E27FC236}">
                <a16:creationId xmlns:a16="http://schemas.microsoft.com/office/drawing/2014/main" id="{3196561E-ECAC-2B65-16A2-0552D8E981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pic>
        <p:nvPicPr>
          <p:cNvPr id="12" name="Graphic 11" descr="Eye with solid fill">
            <a:extLst>
              <a:ext uri="{FF2B5EF4-FFF2-40B4-BE49-F238E27FC236}">
                <a16:creationId xmlns:a16="http://schemas.microsoft.com/office/drawing/2014/main" id="{F0928636-70A5-DE75-4D48-F59F8DA122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89538" y="5869600"/>
            <a:ext cx="1787917" cy="1787917"/>
          </a:xfrm>
          <a:prstGeom prst="rect">
            <a:avLst/>
          </a:prstGeom>
        </p:spPr>
      </p:pic>
      <p:sp>
        <p:nvSpPr>
          <p:cNvPr id="5" name="Rectangle 4">
            <a:extLst>
              <a:ext uri="{FF2B5EF4-FFF2-40B4-BE49-F238E27FC236}">
                <a16:creationId xmlns:a16="http://schemas.microsoft.com/office/drawing/2014/main" id="{AE44EF25-D7D8-B36D-8D39-9A58CAD11365}"/>
              </a:ext>
            </a:extLst>
          </p:cNvPr>
          <p:cNvSpPr/>
          <p:nvPr/>
        </p:nvSpPr>
        <p:spPr>
          <a:xfrm>
            <a:off x="23157832" y="4107810"/>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Llama</a:t>
            </a:r>
          </a:p>
        </p:txBody>
      </p:sp>
      <p:sp>
        <p:nvSpPr>
          <p:cNvPr id="7" name="Rectangle 6">
            <a:extLst>
              <a:ext uri="{FF2B5EF4-FFF2-40B4-BE49-F238E27FC236}">
                <a16:creationId xmlns:a16="http://schemas.microsoft.com/office/drawing/2014/main" id="{50EF574C-1062-F944-3B47-E1EED38FD2D1}"/>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11" name="Rectangle 10">
            <a:extLst>
              <a:ext uri="{FF2B5EF4-FFF2-40B4-BE49-F238E27FC236}">
                <a16:creationId xmlns:a16="http://schemas.microsoft.com/office/drawing/2014/main" id="{B07A04EA-75B6-BC09-3A56-76FC6FC1A009}"/>
              </a:ext>
            </a:extLst>
          </p:cNvPr>
          <p:cNvSpPr/>
          <p:nvPr/>
        </p:nvSpPr>
        <p:spPr>
          <a:xfrm>
            <a:off x="23157832" y="6242040"/>
            <a:ext cx="9138776" cy="533177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Llama Embeddings</a:t>
            </a:r>
          </a:p>
        </p:txBody>
      </p:sp>
      <p:graphicFrame>
        <p:nvGraphicFramePr>
          <p:cNvPr id="14" name="Table 13">
            <a:extLst>
              <a:ext uri="{FF2B5EF4-FFF2-40B4-BE49-F238E27FC236}">
                <a16:creationId xmlns:a16="http://schemas.microsoft.com/office/drawing/2014/main" id="{A53397F1-5BE1-B494-C915-0EF4E0079B11}"/>
              </a:ext>
            </a:extLst>
          </p:cNvPr>
          <p:cNvGraphicFramePr>
            <a:graphicFrameLocks noGrp="1"/>
          </p:cNvGraphicFramePr>
          <p:nvPr>
            <p:extLst>
              <p:ext uri="{D42A27DB-BD31-4B8C-83A1-F6EECF244321}">
                <p14:modId xmlns:p14="http://schemas.microsoft.com/office/powerpoint/2010/main" val="573467685"/>
              </p:ext>
            </p:extLst>
          </p:nvPr>
        </p:nvGraphicFramePr>
        <p:xfrm>
          <a:off x="23450440" y="7636427"/>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17" name="Rectangle 16">
            <a:extLst>
              <a:ext uri="{FF2B5EF4-FFF2-40B4-BE49-F238E27FC236}">
                <a16:creationId xmlns:a16="http://schemas.microsoft.com/office/drawing/2014/main" id="{0EDAC44B-514D-27B5-E00D-D1C2F8499416}"/>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sp>
        <p:nvSpPr>
          <p:cNvPr id="20" name="Rectangle 19">
            <a:extLst>
              <a:ext uri="{FF2B5EF4-FFF2-40B4-BE49-F238E27FC236}">
                <a16:creationId xmlns:a16="http://schemas.microsoft.com/office/drawing/2014/main" id="{E3321BEE-2780-349D-4AF6-512240814A4A}"/>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1A7317FB-1701-9ADF-1D2D-12C6A91EE4AD}"/>
              </a:ext>
            </a:extLst>
          </p:cNvPr>
          <p:cNvPicPr>
            <a:picLocks noChangeAspect="1"/>
          </p:cNvPicPr>
          <p:nvPr/>
        </p:nvPicPr>
        <p:blipFill>
          <a:blip r:embed="rId5">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9" name="Rectangle 28">
            <a:extLst>
              <a:ext uri="{FF2B5EF4-FFF2-40B4-BE49-F238E27FC236}">
                <a16:creationId xmlns:a16="http://schemas.microsoft.com/office/drawing/2014/main" id="{002095C2-3BEB-225E-2405-C81A8C60133C}"/>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sp>
        <p:nvSpPr>
          <p:cNvPr id="30" name="Arrow: Right 29">
            <a:extLst>
              <a:ext uri="{FF2B5EF4-FFF2-40B4-BE49-F238E27FC236}">
                <a16:creationId xmlns:a16="http://schemas.microsoft.com/office/drawing/2014/main" id="{B17B2C38-E39D-BDBB-241C-2FD5D5691D0F}"/>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 name="Arrow: Right 2">
            <a:extLst>
              <a:ext uri="{FF2B5EF4-FFF2-40B4-BE49-F238E27FC236}">
                <a16:creationId xmlns:a16="http://schemas.microsoft.com/office/drawing/2014/main" id="{19D4ECD8-2E39-E095-95ED-5CF8A8F9C8CC}"/>
              </a:ext>
            </a:extLst>
          </p:cNvPr>
          <p:cNvSpPr/>
          <p:nvPr/>
        </p:nvSpPr>
        <p:spPr>
          <a:xfrm>
            <a:off x="20114711"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 name="Text Placeholder 5">
            <a:extLst>
              <a:ext uri="{FF2B5EF4-FFF2-40B4-BE49-F238E27FC236}">
                <a16:creationId xmlns:a16="http://schemas.microsoft.com/office/drawing/2014/main" id="{7831B350-6D05-802F-DB8C-86D0FDB278A0}"/>
              </a:ext>
            </a:extLst>
          </p:cNvPr>
          <p:cNvSpPr>
            <a:spLocks noGrp="1"/>
          </p:cNvSpPr>
          <p:nvPr>
            <p:ph type="body" sz="quarter" idx="10"/>
          </p:nvPr>
        </p:nvSpPr>
        <p:spPr/>
        <p:txBody>
          <a:bodyPr/>
          <a:lstStyle/>
          <a:p>
            <a:endParaRPr lang="en-US"/>
          </a:p>
        </p:txBody>
      </p:sp>
      <p:graphicFrame>
        <p:nvGraphicFramePr>
          <p:cNvPr id="8" name="Table 7">
            <a:extLst>
              <a:ext uri="{FF2B5EF4-FFF2-40B4-BE49-F238E27FC236}">
                <a16:creationId xmlns:a16="http://schemas.microsoft.com/office/drawing/2014/main" id="{0EF97AA9-F56C-3A07-B69A-F0A71C1815CB}"/>
              </a:ext>
            </a:extLst>
          </p:cNvPr>
          <p:cNvGraphicFramePr>
            <a:graphicFrameLocks noGrp="1"/>
          </p:cNvGraphicFramePr>
          <p:nvPr>
            <p:extLst>
              <p:ext uri="{D42A27DB-BD31-4B8C-83A1-F6EECF244321}">
                <p14:modId xmlns:p14="http://schemas.microsoft.com/office/powerpoint/2010/main" val="811234452"/>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1448316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F2D67-4CF4-5A17-2344-8A171632762B}"/>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FCB128AF-F790-F870-C197-9FBA5127466E}"/>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sp>
        <p:nvSpPr>
          <p:cNvPr id="2" name="Title 1">
            <a:extLst>
              <a:ext uri="{FF2B5EF4-FFF2-40B4-BE49-F238E27FC236}">
                <a16:creationId xmlns:a16="http://schemas.microsoft.com/office/drawing/2014/main" id="{2EC078B3-740C-EBE3-D90F-9B71EA1CB3F6}"/>
              </a:ext>
            </a:extLst>
          </p:cNvPr>
          <p:cNvSpPr>
            <a:spLocks noGrp="1"/>
          </p:cNvSpPr>
          <p:nvPr>
            <p:ph type="title"/>
          </p:nvPr>
        </p:nvSpPr>
        <p:spPr/>
        <p:txBody>
          <a:bodyPr/>
          <a:lstStyle/>
          <a:p>
            <a:r>
              <a:rPr lang="en-US" dirty="0" err="1"/>
              <a:t>LlaVA</a:t>
            </a:r>
            <a:r>
              <a:rPr lang="en-US" dirty="0"/>
              <a:t> Architecture</a:t>
            </a:r>
          </a:p>
        </p:txBody>
      </p:sp>
      <p:sp>
        <p:nvSpPr>
          <p:cNvPr id="5" name="Rectangle 4">
            <a:extLst>
              <a:ext uri="{FF2B5EF4-FFF2-40B4-BE49-F238E27FC236}">
                <a16:creationId xmlns:a16="http://schemas.microsoft.com/office/drawing/2014/main" id="{30DF1484-BD41-C56D-5D26-2CA6908D16EA}"/>
              </a:ext>
            </a:extLst>
          </p:cNvPr>
          <p:cNvSpPr/>
          <p:nvPr/>
        </p:nvSpPr>
        <p:spPr>
          <a:xfrm>
            <a:off x="23157832" y="4107810"/>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Llama</a:t>
            </a:r>
          </a:p>
        </p:txBody>
      </p:sp>
      <p:sp>
        <p:nvSpPr>
          <p:cNvPr id="7" name="Rectangle 6">
            <a:extLst>
              <a:ext uri="{FF2B5EF4-FFF2-40B4-BE49-F238E27FC236}">
                <a16:creationId xmlns:a16="http://schemas.microsoft.com/office/drawing/2014/main" id="{3E1B7F2C-14E4-E36E-C450-6F414DA5B3D9}"/>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11" name="Rectangle 10">
            <a:extLst>
              <a:ext uri="{FF2B5EF4-FFF2-40B4-BE49-F238E27FC236}">
                <a16:creationId xmlns:a16="http://schemas.microsoft.com/office/drawing/2014/main" id="{23CB640A-267F-9FA9-6870-CD62A7CB1190}"/>
              </a:ext>
            </a:extLst>
          </p:cNvPr>
          <p:cNvSpPr/>
          <p:nvPr/>
        </p:nvSpPr>
        <p:spPr>
          <a:xfrm>
            <a:off x="23157832" y="6242040"/>
            <a:ext cx="9138776" cy="533177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Llama Embeddings</a:t>
            </a:r>
          </a:p>
        </p:txBody>
      </p:sp>
      <p:sp>
        <p:nvSpPr>
          <p:cNvPr id="17" name="Rectangle 16">
            <a:extLst>
              <a:ext uri="{FF2B5EF4-FFF2-40B4-BE49-F238E27FC236}">
                <a16:creationId xmlns:a16="http://schemas.microsoft.com/office/drawing/2014/main" id="{58D1147F-C8A5-EF44-AAF8-5E14A3E9FDD2}"/>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B1843266-D0B4-2627-C697-3758A0C27B48}"/>
              </a:ext>
            </a:extLst>
          </p:cNvPr>
          <p:cNvPicPr>
            <a:picLocks noChangeAspect="1"/>
          </p:cNvPicPr>
          <p:nvPr/>
        </p:nvPicPr>
        <p:blipFill>
          <a:blip r:embed="rId3">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6" name="Rectangle 25">
            <a:extLst>
              <a:ext uri="{FF2B5EF4-FFF2-40B4-BE49-F238E27FC236}">
                <a16:creationId xmlns:a16="http://schemas.microsoft.com/office/drawing/2014/main" id="{4AE502C5-CC0B-10DA-A874-AD814784E45E}"/>
              </a:ext>
            </a:extLst>
          </p:cNvPr>
          <p:cNvSpPr/>
          <p:nvPr/>
        </p:nvSpPr>
        <p:spPr>
          <a:xfrm>
            <a:off x="23157832" y="11920127"/>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Attention</a:t>
            </a:r>
          </a:p>
        </p:txBody>
      </p:sp>
      <p:sp>
        <p:nvSpPr>
          <p:cNvPr id="27" name="Rectangle 26">
            <a:extLst>
              <a:ext uri="{FF2B5EF4-FFF2-40B4-BE49-F238E27FC236}">
                <a16:creationId xmlns:a16="http://schemas.microsoft.com/office/drawing/2014/main" id="{0CF56948-C4CE-4505-AC4D-95E3A90A20B5}"/>
              </a:ext>
            </a:extLst>
          </p:cNvPr>
          <p:cNvSpPr/>
          <p:nvPr/>
        </p:nvSpPr>
        <p:spPr>
          <a:xfrm>
            <a:off x="23157832" y="13944044"/>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Linear</a:t>
            </a:r>
          </a:p>
        </p:txBody>
      </p:sp>
      <p:sp>
        <p:nvSpPr>
          <p:cNvPr id="28" name="Rectangle 27">
            <a:extLst>
              <a:ext uri="{FF2B5EF4-FFF2-40B4-BE49-F238E27FC236}">
                <a16:creationId xmlns:a16="http://schemas.microsoft.com/office/drawing/2014/main" id="{76D16D9A-D84D-6C43-29E6-19E48B17674C}"/>
              </a:ext>
            </a:extLst>
          </p:cNvPr>
          <p:cNvSpPr/>
          <p:nvPr/>
        </p:nvSpPr>
        <p:spPr>
          <a:xfrm>
            <a:off x="23133013" y="15918518"/>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Output</a:t>
            </a:r>
          </a:p>
        </p:txBody>
      </p:sp>
      <p:sp>
        <p:nvSpPr>
          <p:cNvPr id="29" name="Rectangle 28">
            <a:extLst>
              <a:ext uri="{FF2B5EF4-FFF2-40B4-BE49-F238E27FC236}">
                <a16:creationId xmlns:a16="http://schemas.microsoft.com/office/drawing/2014/main" id="{C35B0529-617A-6331-EAF9-6D81E8336CAC}"/>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graphicFrame>
        <p:nvGraphicFramePr>
          <p:cNvPr id="31" name="Table 30">
            <a:extLst>
              <a:ext uri="{FF2B5EF4-FFF2-40B4-BE49-F238E27FC236}">
                <a16:creationId xmlns:a16="http://schemas.microsoft.com/office/drawing/2014/main" id="{6AA29C7E-7E58-AF42-A5BF-5172A3F72E23}"/>
              </a:ext>
            </a:extLst>
          </p:cNvPr>
          <p:cNvGraphicFramePr>
            <a:graphicFrameLocks noGrp="1"/>
          </p:cNvGraphicFramePr>
          <p:nvPr>
            <p:extLst>
              <p:ext uri="{D42A27DB-BD31-4B8C-83A1-F6EECF244321}">
                <p14:modId xmlns:p14="http://schemas.microsoft.com/office/powerpoint/2010/main" val="3608646778"/>
              </p:ext>
            </p:extLst>
          </p:nvPr>
        </p:nvGraphicFramePr>
        <p:xfrm>
          <a:off x="23450440" y="7636427"/>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32" name="Arrow: Right 31">
            <a:extLst>
              <a:ext uri="{FF2B5EF4-FFF2-40B4-BE49-F238E27FC236}">
                <a16:creationId xmlns:a16="http://schemas.microsoft.com/office/drawing/2014/main" id="{7E8680DE-6298-743D-FDD3-E892FE83EDB7}"/>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3" name="Arrow: Right 32">
            <a:extLst>
              <a:ext uri="{FF2B5EF4-FFF2-40B4-BE49-F238E27FC236}">
                <a16:creationId xmlns:a16="http://schemas.microsoft.com/office/drawing/2014/main" id="{ADE1469D-BC9F-9C69-2C0E-49D598FC07FF}"/>
              </a:ext>
            </a:extLst>
          </p:cNvPr>
          <p:cNvSpPr/>
          <p:nvPr/>
        </p:nvSpPr>
        <p:spPr>
          <a:xfrm>
            <a:off x="20114711"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6" name="Arrow: Right 35">
            <a:extLst>
              <a:ext uri="{FF2B5EF4-FFF2-40B4-BE49-F238E27FC236}">
                <a16:creationId xmlns:a16="http://schemas.microsoft.com/office/drawing/2014/main" id="{FD05AE64-0879-A1E8-045D-38AB216D4C6A}"/>
              </a:ext>
            </a:extLst>
          </p:cNvPr>
          <p:cNvSpPr/>
          <p:nvPr/>
        </p:nvSpPr>
        <p:spPr>
          <a:xfrm rot="5400000">
            <a:off x="27519809" y="12926301"/>
            <a:ext cx="5671601"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8" name="Text Placeholder 37">
            <a:extLst>
              <a:ext uri="{FF2B5EF4-FFF2-40B4-BE49-F238E27FC236}">
                <a16:creationId xmlns:a16="http://schemas.microsoft.com/office/drawing/2014/main" id="{AA37AE8E-F173-AE9F-09EB-8A8DDB2B75E0}"/>
              </a:ext>
            </a:extLst>
          </p:cNvPr>
          <p:cNvSpPr>
            <a:spLocks noGrp="1"/>
          </p:cNvSpPr>
          <p:nvPr>
            <p:ph type="body" sz="quarter" idx="10"/>
          </p:nvPr>
        </p:nvSpPr>
        <p:spPr/>
        <p:txBody>
          <a:bodyPr/>
          <a:lstStyle/>
          <a:p>
            <a:endParaRPr lang="en-US"/>
          </a:p>
        </p:txBody>
      </p:sp>
      <p:graphicFrame>
        <p:nvGraphicFramePr>
          <p:cNvPr id="44" name="Table 43">
            <a:extLst>
              <a:ext uri="{FF2B5EF4-FFF2-40B4-BE49-F238E27FC236}">
                <a16:creationId xmlns:a16="http://schemas.microsoft.com/office/drawing/2014/main" id="{B0A1C774-9E1E-F220-F31A-F1EB9FDD9486}"/>
              </a:ext>
            </a:extLst>
          </p:cNvPr>
          <p:cNvGraphicFramePr>
            <a:graphicFrameLocks noGrp="1"/>
          </p:cNvGraphicFramePr>
          <p:nvPr>
            <p:extLst>
              <p:ext uri="{D42A27DB-BD31-4B8C-83A1-F6EECF244321}">
                <p14:modId xmlns:p14="http://schemas.microsoft.com/office/powerpoint/2010/main" val="811234452"/>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17829590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C5529-40D9-CD39-CAC6-35D76E91904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25BC325-D333-988A-E770-D047053FDFF2}"/>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20" name="Rectangle 19">
            <a:extLst>
              <a:ext uri="{FF2B5EF4-FFF2-40B4-BE49-F238E27FC236}">
                <a16:creationId xmlns:a16="http://schemas.microsoft.com/office/drawing/2014/main" id="{62335A43-8EAF-9AC9-83C4-04F2F1132FD9}"/>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sp>
        <p:nvSpPr>
          <p:cNvPr id="2" name="Title 1">
            <a:extLst>
              <a:ext uri="{FF2B5EF4-FFF2-40B4-BE49-F238E27FC236}">
                <a16:creationId xmlns:a16="http://schemas.microsoft.com/office/drawing/2014/main" id="{7A40B534-0FBE-9571-1497-8D8239A92132}"/>
              </a:ext>
            </a:extLst>
          </p:cNvPr>
          <p:cNvSpPr>
            <a:spLocks noGrp="1"/>
          </p:cNvSpPr>
          <p:nvPr>
            <p:ph type="title"/>
          </p:nvPr>
        </p:nvSpPr>
        <p:spPr/>
        <p:txBody>
          <a:bodyPr/>
          <a:lstStyle/>
          <a:p>
            <a:r>
              <a:rPr lang="en-US" dirty="0" err="1"/>
              <a:t>LlaVA</a:t>
            </a:r>
            <a:r>
              <a:rPr lang="en-US" dirty="0"/>
              <a:t> Architecture</a:t>
            </a:r>
          </a:p>
        </p:txBody>
      </p:sp>
      <p:sp>
        <p:nvSpPr>
          <p:cNvPr id="5" name="Rectangle 4">
            <a:extLst>
              <a:ext uri="{FF2B5EF4-FFF2-40B4-BE49-F238E27FC236}">
                <a16:creationId xmlns:a16="http://schemas.microsoft.com/office/drawing/2014/main" id="{C6B6DCEE-D26B-7284-D7AF-CAF1524FE05D}"/>
              </a:ext>
            </a:extLst>
          </p:cNvPr>
          <p:cNvSpPr/>
          <p:nvPr/>
        </p:nvSpPr>
        <p:spPr>
          <a:xfrm>
            <a:off x="23157832" y="4107810"/>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Llama</a:t>
            </a:r>
          </a:p>
        </p:txBody>
      </p:sp>
      <p:sp>
        <p:nvSpPr>
          <p:cNvPr id="11" name="Rectangle 10">
            <a:extLst>
              <a:ext uri="{FF2B5EF4-FFF2-40B4-BE49-F238E27FC236}">
                <a16:creationId xmlns:a16="http://schemas.microsoft.com/office/drawing/2014/main" id="{D0F34329-645D-4BDE-A297-4EDFDECC6810}"/>
              </a:ext>
            </a:extLst>
          </p:cNvPr>
          <p:cNvSpPr/>
          <p:nvPr/>
        </p:nvSpPr>
        <p:spPr>
          <a:xfrm>
            <a:off x="23157832" y="6242040"/>
            <a:ext cx="9138776" cy="533177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Llama Embeddings</a:t>
            </a:r>
          </a:p>
        </p:txBody>
      </p:sp>
      <p:sp>
        <p:nvSpPr>
          <p:cNvPr id="17" name="Rectangle 16">
            <a:extLst>
              <a:ext uri="{FF2B5EF4-FFF2-40B4-BE49-F238E27FC236}">
                <a16:creationId xmlns:a16="http://schemas.microsoft.com/office/drawing/2014/main" id="{08B29E4C-DAE9-6067-871D-B00C35E08663}"/>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33851F61-CD12-E4DB-B26F-E73B0A8DEB05}"/>
              </a:ext>
            </a:extLst>
          </p:cNvPr>
          <p:cNvPicPr>
            <a:picLocks noChangeAspect="1"/>
          </p:cNvPicPr>
          <p:nvPr/>
        </p:nvPicPr>
        <p:blipFill>
          <a:blip r:embed="rId3">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6" name="Rectangle 25">
            <a:extLst>
              <a:ext uri="{FF2B5EF4-FFF2-40B4-BE49-F238E27FC236}">
                <a16:creationId xmlns:a16="http://schemas.microsoft.com/office/drawing/2014/main" id="{D57561CE-6AEE-660E-DFFA-8AF696B62A29}"/>
              </a:ext>
            </a:extLst>
          </p:cNvPr>
          <p:cNvSpPr/>
          <p:nvPr/>
        </p:nvSpPr>
        <p:spPr>
          <a:xfrm>
            <a:off x="23157832" y="11920127"/>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Attention</a:t>
            </a:r>
          </a:p>
        </p:txBody>
      </p:sp>
      <p:sp>
        <p:nvSpPr>
          <p:cNvPr id="27" name="Rectangle 26">
            <a:extLst>
              <a:ext uri="{FF2B5EF4-FFF2-40B4-BE49-F238E27FC236}">
                <a16:creationId xmlns:a16="http://schemas.microsoft.com/office/drawing/2014/main" id="{3E7CF1D3-BB2A-7FA7-442E-A76923B77873}"/>
              </a:ext>
            </a:extLst>
          </p:cNvPr>
          <p:cNvSpPr/>
          <p:nvPr/>
        </p:nvSpPr>
        <p:spPr>
          <a:xfrm>
            <a:off x="23157832" y="13944044"/>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Linear</a:t>
            </a:r>
          </a:p>
        </p:txBody>
      </p:sp>
      <p:sp>
        <p:nvSpPr>
          <p:cNvPr id="28" name="Rectangle 27">
            <a:extLst>
              <a:ext uri="{FF2B5EF4-FFF2-40B4-BE49-F238E27FC236}">
                <a16:creationId xmlns:a16="http://schemas.microsoft.com/office/drawing/2014/main" id="{D4B9B6CF-9DA1-6463-183F-90DA781BF8FD}"/>
              </a:ext>
            </a:extLst>
          </p:cNvPr>
          <p:cNvSpPr/>
          <p:nvPr/>
        </p:nvSpPr>
        <p:spPr>
          <a:xfrm>
            <a:off x="23133013" y="15918518"/>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Output</a:t>
            </a:r>
          </a:p>
        </p:txBody>
      </p:sp>
      <p:sp>
        <p:nvSpPr>
          <p:cNvPr id="29" name="Rectangle 28">
            <a:extLst>
              <a:ext uri="{FF2B5EF4-FFF2-40B4-BE49-F238E27FC236}">
                <a16:creationId xmlns:a16="http://schemas.microsoft.com/office/drawing/2014/main" id="{493AB9A8-4E30-4D3F-584E-3D16B5C7B001}"/>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graphicFrame>
        <p:nvGraphicFramePr>
          <p:cNvPr id="31" name="Table 30">
            <a:extLst>
              <a:ext uri="{FF2B5EF4-FFF2-40B4-BE49-F238E27FC236}">
                <a16:creationId xmlns:a16="http://schemas.microsoft.com/office/drawing/2014/main" id="{D6CDCB8D-989C-31A2-C187-1AF44CDB59BE}"/>
              </a:ext>
            </a:extLst>
          </p:cNvPr>
          <p:cNvGraphicFramePr>
            <a:graphicFrameLocks noGrp="1"/>
          </p:cNvGraphicFramePr>
          <p:nvPr/>
        </p:nvGraphicFramePr>
        <p:xfrm>
          <a:off x="23450440" y="7636427"/>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32" name="Arrow: Right 31">
            <a:extLst>
              <a:ext uri="{FF2B5EF4-FFF2-40B4-BE49-F238E27FC236}">
                <a16:creationId xmlns:a16="http://schemas.microsoft.com/office/drawing/2014/main" id="{86351393-34D7-EEF1-6368-3DB61A781110}"/>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3" name="Arrow: Right 32">
            <a:extLst>
              <a:ext uri="{FF2B5EF4-FFF2-40B4-BE49-F238E27FC236}">
                <a16:creationId xmlns:a16="http://schemas.microsoft.com/office/drawing/2014/main" id="{2B77CA38-5F60-0BF8-B0AC-0792032ACF03}"/>
              </a:ext>
            </a:extLst>
          </p:cNvPr>
          <p:cNvSpPr/>
          <p:nvPr/>
        </p:nvSpPr>
        <p:spPr>
          <a:xfrm>
            <a:off x="20114711"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6" name="Arrow: Right 35">
            <a:extLst>
              <a:ext uri="{FF2B5EF4-FFF2-40B4-BE49-F238E27FC236}">
                <a16:creationId xmlns:a16="http://schemas.microsoft.com/office/drawing/2014/main" id="{3D5A784B-07EC-E773-7A21-0314F34CFCFF}"/>
              </a:ext>
            </a:extLst>
          </p:cNvPr>
          <p:cNvSpPr/>
          <p:nvPr/>
        </p:nvSpPr>
        <p:spPr>
          <a:xfrm rot="5400000">
            <a:off x="27519809" y="12926301"/>
            <a:ext cx="5671601"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8" name="Text Placeholder 7">
            <a:extLst>
              <a:ext uri="{FF2B5EF4-FFF2-40B4-BE49-F238E27FC236}">
                <a16:creationId xmlns:a16="http://schemas.microsoft.com/office/drawing/2014/main" id="{2BDE6020-FF9E-8D28-DB95-6C9BD44DFA94}"/>
              </a:ext>
            </a:extLst>
          </p:cNvPr>
          <p:cNvSpPr>
            <a:spLocks noGrp="1"/>
          </p:cNvSpPr>
          <p:nvPr>
            <p:ph type="body" sz="quarter" idx="10"/>
          </p:nvPr>
        </p:nvSpPr>
        <p:spPr/>
        <p:txBody>
          <a:bodyPr/>
          <a:lstStyle/>
          <a:p>
            <a:endParaRPr lang="en-US"/>
          </a:p>
        </p:txBody>
      </p:sp>
      <p:graphicFrame>
        <p:nvGraphicFramePr>
          <p:cNvPr id="9" name="Table 8">
            <a:extLst>
              <a:ext uri="{FF2B5EF4-FFF2-40B4-BE49-F238E27FC236}">
                <a16:creationId xmlns:a16="http://schemas.microsoft.com/office/drawing/2014/main" id="{19D2ACE8-5C32-6E8F-DCF9-1A961B75A366}"/>
              </a:ext>
            </a:extLst>
          </p:cNvPr>
          <p:cNvGraphicFramePr>
            <a:graphicFrameLocks noGrp="1"/>
          </p:cNvGraphicFramePr>
          <p:nvPr>
            <p:extLst>
              <p:ext uri="{D42A27DB-BD31-4B8C-83A1-F6EECF244321}">
                <p14:modId xmlns:p14="http://schemas.microsoft.com/office/powerpoint/2010/main" val="2249824764"/>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
        <p:nvSpPr>
          <p:cNvPr id="12" name="Speech Bubble: Rectangle 11">
            <a:extLst>
              <a:ext uri="{FF2B5EF4-FFF2-40B4-BE49-F238E27FC236}">
                <a16:creationId xmlns:a16="http://schemas.microsoft.com/office/drawing/2014/main" id="{0449BDE3-F769-7B67-CF4B-91769BA82C7B}"/>
              </a:ext>
            </a:extLst>
          </p:cNvPr>
          <p:cNvSpPr/>
          <p:nvPr/>
        </p:nvSpPr>
        <p:spPr>
          <a:xfrm>
            <a:off x="5922471" y="11647300"/>
            <a:ext cx="4897929" cy="5985647"/>
          </a:xfrm>
          <a:prstGeom prst="wedgeRectCallout">
            <a:avLst>
              <a:gd name="adj1" fmla="val -14560"/>
              <a:gd name="adj2" fmla="val -76679"/>
            </a:avLst>
          </a:prstGeom>
          <a:solidFill>
            <a:schemeClr val="tx1"/>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3" name="Rectangle 12">
            <a:extLst>
              <a:ext uri="{FF2B5EF4-FFF2-40B4-BE49-F238E27FC236}">
                <a16:creationId xmlns:a16="http://schemas.microsoft.com/office/drawing/2014/main" id="{B31D5E49-365F-C985-575B-B42152A8F23D}"/>
              </a:ext>
            </a:extLst>
          </p:cNvPr>
          <p:cNvSpPr/>
          <p:nvPr/>
        </p:nvSpPr>
        <p:spPr>
          <a:xfrm>
            <a:off x="7179281" y="13530234"/>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50</a:t>
            </a:r>
          </a:p>
        </p:txBody>
      </p:sp>
      <p:sp>
        <p:nvSpPr>
          <p:cNvPr id="14" name="Rectangle 13">
            <a:extLst>
              <a:ext uri="{FF2B5EF4-FFF2-40B4-BE49-F238E27FC236}">
                <a16:creationId xmlns:a16="http://schemas.microsoft.com/office/drawing/2014/main" id="{E4E681DC-2D51-70CD-2508-D20D06D5A54C}"/>
              </a:ext>
            </a:extLst>
          </p:cNvPr>
          <p:cNvSpPr/>
          <p:nvPr/>
        </p:nvSpPr>
        <p:spPr>
          <a:xfrm rot="16200000">
            <a:off x="5453769" y="15265324"/>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768</a:t>
            </a:r>
          </a:p>
        </p:txBody>
      </p:sp>
      <p:sp>
        <p:nvSpPr>
          <p:cNvPr id="15" name="Rectangle 14">
            <a:extLst>
              <a:ext uri="{FF2B5EF4-FFF2-40B4-BE49-F238E27FC236}">
                <a16:creationId xmlns:a16="http://schemas.microsoft.com/office/drawing/2014/main" id="{455A71C2-910A-48A2-FA79-D587315ED4F1}"/>
              </a:ext>
            </a:extLst>
          </p:cNvPr>
          <p:cNvSpPr/>
          <p:nvPr/>
        </p:nvSpPr>
        <p:spPr>
          <a:xfrm>
            <a:off x="5732128" y="12678635"/>
            <a:ext cx="5340096" cy="676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Embedding Sizes</a:t>
            </a:r>
          </a:p>
        </p:txBody>
      </p:sp>
      <p:graphicFrame>
        <p:nvGraphicFramePr>
          <p:cNvPr id="25" name="Table 24">
            <a:extLst>
              <a:ext uri="{FF2B5EF4-FFF2-40B4-BE49-F238E27FC236}">
                <a16:creationId xmlns:a16="http://schemas.microsoft.com/office/drawing/2014/main" id="{EECA5F38-A508-E1DE-6ECB-AF7BD134732C}"/>
              </a:ext>
            </a:extLst>
          </p:cNvPr>
          <p:cNvGraphicFramePr>
            <a:graphicFrameLocks noGrp="1"/>
          </p:cNvGraphicFramePr>
          <p:nvPr>
            <p:extLst>
              <p:ext uri="{D42A27DB-BD31-4B8C-83A1-F6EECF244321}">
                <p14:modId xmlns:p14="http://schemas.microsoft.com/office/powerpoint/2010/main" val="3434404782"/>
              </p:ext>
            </p:extLst>
          </p:nvPr>
        </p:nvGraphicFramePr>
        <p:xfrm>
          <a:off x="7111410" y="14303841"/>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1663597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6F932-1040-03E8-0EB4-E241773A7DE7}"/>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36433F66-CF2A-5FE4-7AAC-ACEA9ABA3630}"/>
              </a:ext>
            </a:extLst>
          </p:cNvPr>
          <p:cNvSpPr/>
          <p:nvPr/>
        </p:nvSpPr>
        <p:spPr>
          <a:xfrm>
            <a:off x="14540151" y="6242040"/>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sp>
        <p:nvSpPr>
          <p:cNvPr id="18" name="Speech Bubble: Rectangle 17">
            <a:extLst>
              <a:ext uri="{FF2B5EF4-FFF2-40B4-BE49-F238E27FC236}">
                <a16:creationId xmlns:a16="http://schemas.microsoft.com/office/drawing/2014/main" id="{328895A1-D4FC-268C-C7B0-7139265DE739}"/>
              </a:ext>
            </a:extLst>
          </p:cNvPr>
          <p:cNvSpPr/>
          <p:nvPr/>
        </p:nvSpPr>
        <p:spPr>
          <a:xfrm>
            <a:off x="11265408" y="11647301"/>
            <a:ext cx="10630694" cy="6059134"/>
          </a:xfrm>
          <a:prstGeom prst="wedgeRectCallout">
            <a:avLst>
              <a:gd name="adj1" fmla="val 62777"/>
              <a:gd name="adj2" fmla="val -79961"/>
            </a:avLst>
          </a:prstGeom>
          <a:solidFill>
            <a:schemeClr val="tx1"/>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 name="Title 1">
            <a:extLst>
              <a:ext uri="{FF2B5EF4-FFF2-40B4-BE49-F238E27FC236}">
                <a16:creationId xmlns:a16="http://schemas.microsoft.com/office/drawing/2014/main" id="{32824993-76D2-593F-58BB-5E5ECFAB7DE3}"/>
              </a:ext>
            </a:extLst>
          </p:cNvPr>
          <p:cNvSpPr>
            <a:spLocks noGrp="1"/>
          </p:cNvSpPr>
          <p:nvPr>
            <p:ph type="title"/>
          </p:nvPr>
        </p:nvSpPr>
        <p:spPr/>
        <p:txBody>
          <a:bodyPr/>
          <a:lstStyle/>
          <a:p>
            <a:r>
              <a:rPr lang="en-US" dirty="0" err="1"/>
              <a:t>LlaVA</a:t>
            </a:r>
            <a:r>
              <a:rPr lang="en-US" dirty="0"/>
              <a:t> Architecture</a:t>
            </a:r>
          </a:p>
        </p:txBody>
      </p:sp>
      <p:sp>
        <p:nvSpPr>
          <p:cNvPr id="5" name="Rectangle 4">
            <a:extLst>
              <a:ext uri="{FF2B5EF4-FFF2-40B4-BE49-F238E27FC236}">
                <a16:creationId xmlns:a16="http://schemas.microsoft.com/office/drawing/2014/main" id="{F7D5B7B4-2ECC-4886-288E-DC248C450A48}"/>
              </a:ext>
            </a:extLst>
          </p:cNvPr>
          <p:cNvSpPr/>
          <p:nvPr/>
        </p:nvSpPr>
        <p:spPr>
          <a:xfrm>
            <a:off x="23157832" y="4107810"/>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Llama</a:t>
            </a:r>
          </a:p>
        </p:txBody>
      </p:sp>
      <p:sp>
        <p:nvSpPr>
          <p:cNvPr id="7" name="Rectangle 6">
            <a:extLst>
              <a:ext uri="{FF2B5EF4-FFF2-40B4-BE49-F238E27FC236}">
                <a16:creationId xmlns:a16="http://schemas.microsoft.com/office/drawing/2014/main" id="{F6D40789-7BEB-A448-2750-4ABAA6DAEE25}"/>
              </a:ext>
            </a:extLst>
          </p:cNvPr>
          <p:cNvSpPr/>
          <p:nvPr/>
        </p:nvSpPr>
        <p:spPr>
          <a:xfrm>
            <a:off x="5922470" y="6243199"/>
            <a:ext cx="6729984" cy="435254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CLIP Embeddings</a:t>
            </a:r>
          </a:p>
        </p:txBody>
      </p:sp>
      <p:sp>
        <p:nvSpPr>
          <p:cNvPr id="11" name="Rectangle 10">
            <a:extLst>
              <a:ext uri="{FF2B5EF4-FFF2-40B4-BE49-F238E27FC236}">
                <a16:creationId xmlns:a16="http://schemas.microsoft.com/office/drawing/2014/main" id="{D7409B32-8A2D-399C-2DAE-B6AFD0941C38}"/>
              </a:ext>
            </a:extLst>
          </p:cNvPr>
          <p:cNvSpPr/>
          <p:nvPr/>
        </p:nvSpPr>
        <p:spPr>
          <a:xfrm>
            <a:off x="23157832" y="6242040"/>
            <a:ext cx="9138776" cy="533177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Llama Embeddings</a:t>
            </a:r>
          </a:p>
        </p:txBody>
      </p:sp>
      <p:sp>
        <p:nvSpPr>
          <p:cNvPr id="17" name="Rectangle 16">
            <a:extLst>
              <a:ext uri="{FF2B5EF4-FFF2-40B4-BE49-F238E27FC236}">
                <a16:creationId xmlns:a16="http://schemas.microsoft.com/office/drawing/2014/main" id="{9A78BAE1-4FEE-16CF-1C12-DF6D308A7517}"/>
              </a:ext>
            </a:extLst>
          </p:cNvPr>
          <p:cNvSpPr/>
          <p:nvPr/>
        </p:nvSpPr>
        <p:spPr>
          <a:xfrm>
            <a:off x="14540151" y="4214198"/>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3FF85DF9-8005-C0E4-9201-3DB3003FFDA8}"/>
              </a:ext>
            </a:extLst>
          </p:cNvPr>
          <p:cNvPicPr>
            <a:picLocks noChangeAspect="1"/>
          </p:cNvPicPr>
          <p:nvPr/>
        </p:nvPicPr>
        <p:blipFill>
          <a:blip r:embed="rId3">
            <a:extLst>
              <a:ext uri="{28A0092B-C50C-407E-A947-70E740481C1C}">
                <a14:useLocalDpi xmlns:a14="http://schemas.microsoft.com/office/drawing/2010/main" val="0"/>
              </a:ext>
            </a:extLst>
          </a:blip>
          <a:srcRect l="1" r="-1536"/>
          <a:stretch/>
        </p:blipFill>
        <p:spPr>
          <a:xfrm>
            <a:off x="16516759" y="7183187"/>
            <a:ext cx="3333473" cy="3283043"/>
          </a:xfrm>
          <a:prstGeom prst="rect">
            <a:avLst/>
          </a:prstGeom>
        </p:spPr>
      </p:pic>
      <p:sp>
        <p:nvSpPr>
          <p:cNvPr id="26" name="Rectangle 25">
            <a:extLst>
              <a:ext uri="{FF2B5EF4-FFF2-40B4-BE49-F238E27FC236}">
                <a16:creationId xmlns:a16="http://schemas.microsoft.com/office/drawing/2014/main" id="{C5C97C82-FA8A-896B-9576-9112BDB27E06}"/>
              </a:ext>
            </a:extLst>
          </p:cNvPr>
          <p:cNvSpPr/>
          <p:nvPr/>
        </p:nvSpPr>
        <p:spPr>
          <a:xfrm>
            <a:off x="23157832" y="11920127"/>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Attention</a:t>
            </a:r>
          </a:p>
        </p:txBody>
      </p:sp>
      <p:sp>
        <p:nvSpPr>
          <p:cNvPr id="27" name="Rectangle 26">
            <a:extLst>
              <a:ext uri="{FF2B5EF4-FFF2-40B4-BE49-F238E27FC236}">
                <a16:creationId xmlns:a16="http://schemas.microsoft.com/office/drawing/2014/main" id="{F4E18052-082D-D566-0A40-FD911194C3B0}"/>
              </a:ext>
            </a:extLst>
          </p:cNvPr>
          <p:cNvSpPr/>
          <p:nvPr/>
        </p:nvSpPr>
        <p:spPr>
          <a:xfrm>
            <a:off x="23157832" y="13944044"/>
            <a:ext cx="9138776" cy="1708084"/>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Linear</a:t>
            </a:r>
          </a:p>
        </p:txBody>
      </p:sp>
      <p:sp>
        <p:nvSpPr>
          <p:cNvPr id="28" name="Rectangle 27">
            <a:extLst>
              <a:ext uri="{FF2B5EF4-FFF2-40B4-BE49-F238E27FC236}">
                <a16:creationId xmlns:a16="http://schemas.microsoft.com/office/drawing/2014/main" id="{55FE8B4C-E4A2-E082-43D5-3AEE93363EA3}"/>
              </a:ext>
            </a:extLst>
          </p:cNvPr>
          <p:cNvSpPr/>
          <p:nvPr/>
        </p:nvSpPr>
        <p:spPr>
          <a:xfrm>
            <a:off x="23133013" y="15918518"/>
            <a:ext cx="9138776"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Output</a:t>
            </a:r>
          </a:p>
        </p:txBody>
      </p:sp>
      <p:sp>
        <p:nvSpPr>
          <p:cNvPr id="29" name="Rectangle 28">
            <a:extLst>
              <a:ext uri="{FF2B5EF4-FFF2-40B4-BE49-F238E27FC236}">
                <a16:creationId xmlns:a16="http://schemas.microsoft.com/office/drawing/2014/main" id="{20C5CEE0-5F2A-A294-A795-F80866E79F3E}"/>
              </a:ext>
            </a:extLst>
          </p:cNvPr>
          <p:cNvSpPr/>
          <p:nvPr/>
        </p:nvSpPr>
        <p:spPr>
          <a:xfrm>
            <a:off x="5922470" y="4214198"/>
            <a:ext cx="6729984" cy="17879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CLIP Vision Tower</a:t>
            </a:r>
          </a:p>
        </p:txBody>
      </p:sp>
      <p:graphicFrame>
        <p:nvGraphicFramePr>
          <p:cNvPr id="31" name="Table 30">
            <a:extLst>
              <a:ext uri="{FF2B5EF4-FFF2-40B4-BE49-F238E27FC236}">
                <a16:creationId xmlns:a16="http://schemas.microsoft.com/office/drawing/2014/main" id="{57CBF0A6-1D2D-D720-CCF2-C24DDEB2A3EF}"/>
              </a:ext>
            </a:extLst>
          </p:cNvPr>
          <p:cNvGraphicFramePr>
            <a:graphicFrameLocks noGrp="1"/>
          </p:cNvGraphicFramePr>
          <p:nvPr/>
        </p:nvGraphicFramePr>
        <p:xfrm>
          <a:off x="23450440" y="7636427"/>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32" name="Arrow: Right 31">
            <a:extLst>
              <a:ext uri="{FF2B5EF4-FFF2-40B4-BE49-F238E27FC236}">
                <a16:creationId xmlns:a16="http://schemas.microsoft.com/office/drawing/2014/main" id="{15F01A82-3985-ACEB-3F88-8A2DCB75F1BB}"/>
              </a:ext>
            </a:extLst>
          </p:cNvPr>
          <p:cNvSpPr/>
          <p:nvPr/>
        </p:nvSpPr>
        <p:spPr>
          <a:xfrm>
            <a:off x="11814048"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3" name="Arrow: Right 32">
            <a:extLst>
              <a:ext uri="{FF2B5EF4-FFF2-40B4-BE49-F238E27FC236}">
                <a16:creationId xmlns:a16="http://schemas.microsoft.com/office/drawing/2014/main" id="{6CB6F141-AF14-E17F-06F0-8FA8A79C9EFF}"/>
              </a:ext>
            </a:extLst>
          </p:cNvPr>
          <p:cNvSpPr/>
          <p:nvPr/>
        </p:nvSpPr>
        <p:spPr>
          <a:xfrm>
            <a:off x="20114711" y="8120620"/>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6" name="Arrow: Right 35">
            <a:extLst>
              <a:ext uri="{FF2B5EF4-FFF2-40B4-BE49-F238E27FC236}">
                <a16:creationId xmlns:a16="http://schemas.microsoft.com/office/drawing/2014/main" id="{438F01F2-3C36-9A5C-756A-6DAF0FF9E192}"/>
              </a:ext>
            </a:extLst>
          </p:cNvPr>
          <p:cNvSpPr/>
          <p:nvPr/>
        </p:nvSpPr>
        <p:spPr>
          <a:xfrm rot="5400000">
            <a:off x="27519809" y="12926301"/>
            <a:ext cx="5671601"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aphicFrame>
        <p:nvGraphicFramePr>
          <p:cNvPr id="4" name="Table 3">
            <a:extLst>
              <a:ext uri="{FF2B5EF4-FFF2-40B4-BE49-F238E27FC236}">
                <a16:creationId xmlns:a16="http://schemas.microsoft.com/office/drawing/2014/main" id="{CC20DBE1-BCE0-5931-3B83-2E6C2335EC0B}"/>
              </a:ext>
            </a:extLst>
          </p:cNvPr>
          <p:cNvGraphicFramePr>
            <a:graphicFrameLocks noGrp="1"/>
          </p:cNvGraphicFramePr>
          <p:nvPr>
            <p:extLst>
              <p:ext uri="{D42A27DB-BD31-4B8C-83A1-F6EECF244321}">
                <p14:modId xmlns:p14="http://schemas.microsoft.com/office/powerpoint/2010/main" val="3189990258"/>
              </p:ext>
            </p:extLst>
          </p:nvPr>
        </p:nvGraphicFramePr>
        <p:xfrm>
          <a:off x="12652454" y="13754072"/>
          <a:ext cx="8503922" cy="3657600"/>
        </p:xfrm>
        <a:graphic>
          <a:graphicData uri="http://schemas.openxmlformats.org/drawingml/2006/table">
            <a:tbl>
              <a:tblPr firstRow="1" bandRow="1">
                <a:tableStyleId>{5C22544A-7EE6-4342-B048-85BDC9FD1C3A}</a:tableStyleId>
              </a:tblPr>
              <a:tblGrid>
                <a:gridCol w="1214846">
                  <a:extLst>
                    <a:ext uri="{9D8B030D-6E8A-4147-A177-3AD203B41FA5}">
                      <a16:colId xmlns:a16="http://schemas.microsoft.com/office/drawing/2014/main" val="596884369"/>
                    </a:ext>
                  </a:extLst>
                </a:gridCol>
                <a:gridCol w="1214846">
                  <a:extLst>
                    <a:ext uri="{9D8B030D-6E8A-4147-A177-3AD203B41FA5}">
                      <a16:colId xmlns:a16="http://schemas.microsoft.com/office/drawing/2014/main" val="2417874782"/>
                    </a:ext>
                  </a:extLst>
                </a:gridCol>
                <a:gridCol w="1214846">
                  <a:extLst>
                    <a:ext uri="{9D8B030D-6E8A-4147-A177-3AD203B41FA5}">
                      <a16:colId xmlns:a16="http://schemas.microsoft.com/office/drawing/2014/main" val="3658060944"/>
                    </a:ext>
                  </a:extLst>
                </a:gridCol>
                <a:gridCol w="1214846">
                  <a:extLst>
                    <a:ext uri="{9D8B030D-6E8A-4147-A177-3AD203B41FA5}">
                      <a16:colId xmlns:a16="http://schemas.microsoft.com/office/drawing/2014/main" val="901863191"/>
                    </a:ext>
                  </a:extLst>
                </a:gridCol>
                <a:gridCol w="1214846">
                  <a:extLst>
                    <a:ext uri="{9D8B030D-6E8A-4147-A177-3AD203B41FA5}">
                      <a16:colId xmlns:a16="http://schemas.microsoft.com/office/drawing/2014/main" val="982189583"/>
                    </a:ext>
                  </a:extLst>
                </a:gridCol>
                <a:gridCol w="1214846">
                  <a:extLst>
                    <a:ext uri="{9D8B030D-6E8A-4147-A177-3AD203B41FA5}">
                      <a16:colId xmlns:a16="http://schemas.microsoft.com/office/drawing/2014/main" val="1127274659"/>
                    </a:ext>
                  </a:extLst>
                </a:gridCol>
                <a:gridCol w="1214846">
                  <a:extLst>
                    <a:ext uri="{9D8B030D-6E8A-4147-A177-3AD203B41FA5}">
                      <a16:colId xmlns:a16="http://schemas.microsoft.com/office/drawing/2014/main" val="2357275552"/>
                    </a:ext>
                  </a:extLst>
                </a:gridCol>
              </a:tblGrid>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891918188"/>
                  </a:ext>
                </a:extLst>
              </a:tr>
            </a:tbl>
          </a:graphicData>
        </a:graphic>
      </p:graphicFrame>
      <p:sp>
        <p:nvSpPr>
          <p:cNvPr id="19" name="Rectangle 18">
            <a:extLst>
              <a:ext uri="{FF2B5EF4-FFF2-40B4-BE49-F238E27FC236}">
                <a16:creationId xmlns:a16="http://schemas.microsoft.com/office/drawing/2014/main" id="{4B2780C3-945F-1AF4-6A19-F169F77832FD}"/>
              </a:ext>
            </a:extLst>
          </p:cNvPr>
          <p:cNvSpPr/>
          <p:nvPr/>
        </p:nvSpPr>
        <p:spPr>
          <a:xfrm>
            <a:off x="15058126" y="12971855"/>
            <a:ext cx="6123640" cy="746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32000</a:t>
            </a:r>
          </a:p>
        </p:txBody>
      </p:sp>
      <p:sp>
        <p:nvSpPr>
          <p:cNvPr id="22" name="Rectangle 21">
            <a:extLst>
              <a:ext uri="{FF2B5EF4-FFF2-40B4-BE49-F238E27FC236}">
                <a16:creationId xmlns:a16="http://schemas.microsoft.com/office/drawing/2014/main" id="{D439F4DB-9E44-125C-CD56-2964ECC4A025}"/>
              </a:ext>
            </a:extLst>
          </p:cNvPr>
          <p:cNvSpPr/>
          <p:nvPr/>
        </p:nvSpPr>
        <p:spPr>
          <a:xfrm>
            <a:off x="12652454" y="12971855"/>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50</a:t>
            </a:r>
          </a:p>
        </p:txBody>
      </p:sp>
      <p:sp>
        <p:nvSpPr>
          <p:cNvPr id="23" name="Rectangle 22">
            <a:extLst>
              <a:ext uri="{FF2B5EF4-FFF2-40B4-BE49-F238E27FC236}">
                <a16:creationId xmlns:a16="http://schemas.microsoft.com/office/drawing/2014/main" id="{AA90DAD5-DE18-DAAD-090B-7E45A3AC77BA}"/>
              </a:ext>
            </a:extLst>
          </p:cNvPr>
          <p:cNvSpPr/>
          <p:nvPr/>
        </p:nvSpPr>
        <p:spPr>
          <a:xfrm rot="16200000">
            <a:off x="10843858" y="14910462"/>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4096</a:t>
            </a:r>
          </a:p>
        </p:txBody>
      </p:sp>
      <p:sp>
        <p:nvSpPr>
          <p:cNvPr id="24" name="Rectangle 23">
            <a:extLst>
              <a:ext uri="{FF2B5EF4-FFF2-40B4-BE49-F238E27FC236}">
                <a16:creationId xmlns:a16="http://schemas.microsoft.com/office/drawing/2014/main" id="{FBC63C1A-0DF0-009D-E9F2-B85A1BF61E7E}"/>
              </a:ext>
            </a:extLst>
          </p:cNvPr>
          <p:cNvSpPr/>
          <p:nvPr/>
        </p:nvSpPr>
        <p:spPr>
          <a:xfrm>
            <a:off x="13842595" y="12024825"/>
            <a:ext cx="5340096" cy="676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Embedding Sizes</a:t>
            </a:r>
          </a:p>
        </p:txBody>
      </p:sp>
      <p:sp>
        <p:nvSpPr>
          <p:cNvPr id="30" name="Text Placeholder 29">
            <a:extLst>
              <a:ext uri="{FF2B5EF4-FFF2-40B4-BE49-F238E27FC236}">
                <a16:creationId xmlns:a16="http://schemas.microsoft.com/office/drawing/2014/main" id="{F9A17622-E2AD-768B-04D9-887D5FA94275}"/>
              </a:ext>
            </a:extLst>
          </p:cNvPr>
          <p:cNvSpPr>
            <a:spLocks noGrp="1"/>
          </p:cNvSpPr>
          <p:nvPr>
            <p:ph type="body" sz="quarter" idx="10"/>
          </p:nvPr>
        </p:nvSpPr>
        <p:spPr/>
        <p:txBody>
          <a:bodyPr/>
          <a:lstStyle/>
          <a:p>
            <a:endParaRPr lang="en-US"/>
          </a:p>
        </p:txBody>
      </p:sp>
      <p:graphicFrame>
        <p:nvGraphicFramePr>
          <p:cNvPr id="34" name="Table 33">
            <a:extLst>
              <a:ext uri="{FF2B5EF4-FFF2-40B4-BE49-F238E27FC236}">
                <a16:creationId xmlns:a16="http://schemas.microsoft.com/office/drawing/2014/main" id="{D923E929-6496-147C-A5C2-CF2FEB3F8BC9}"/>
              </a:ext>
            </a:extLst>
          </p:cNvPr>
          <p:cNvGraphicFramePr>
            <a:graphicFrameLocks noGrp="1"/>
          </p:cNvGraphicFramePr>
          <p:nvPr>
            <p:extLst>
              <p:ext uri="{D42A27DB-BD31-4B8C-83A1-F6EECF244321}">
                <p14:modId xmlns:p14="http://schemas.microsoft.com/office/powerpoint/2010/main" val="3342965694"/>
              </p:ext>
            </p:extLst>
          </p:nvPr>
        </p:nvGraphicFramePr>
        <p:xfrm>
          <a:off x="8063385" y="7614050"/>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
        <p:nvSpPr>
          <p:cNvPr id="35" name="Speech Bubble: Rectangle 34">
            <a:extLst>
              <a:ext uri="{FF2B5EF4-FFF2-40B4-BE49-F238E27FC236}">
                <a16:creationId xmlns:a16="http://schemas.microsoft.com/office/drawing/2014/main" id="{9A8FAB21-E04C-F6A7-2379-A63422B7AB19}"/>
              </a:ext>
            </a:extLst>
          </p:cNvPr>
          <p:cNvSpPr/>
          <p:nvPr/>
        </p:nvSpPr>
        <p:spPr>
          <a:xfrm>
            <a:off x="5922471" y="11647300"/>
            <a:ext cx="4897929" cy="5985647"/>
          </a:xfrm>
          <a:prstGeom prst="wedgeRectCallout">
            <a:avLst>
              <a:gd name="adj1" fmla="val -14560"/>
              <a:gd name="adj2" fmla="val -76679"/>
            </a:avLst>
          </a:prstGeom>
          <a:solidFill>
            <a:schemeClr val="tx1"/>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7" name="Rectangle 36">
            <a:extLst>
              <a:ext uri="{FF2B5EF4-FFF2-40B4-BE49-F238E27FC236}">
                <a16:creationId xmlns:a16="http://schemas.microsoft.com/office/drawing/2014/main" id="{07F8AF44-707B-2321-1CB4-9EC79F20ECCB}"/>
              </a:ext>
            </a:extLst>
          </p:cNvPr>
          <p:cNvSpPr/>
          <p:nvPr/>
        </p:nvSpPr>
        <p:spPr>
          <a:xfrm>
            <a:off x="7179281" y="13530234"/>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50</a:t>
            </a:r>
          </a:p>
        </p:txBody>
      </p:sp>
      <p:sp>
        <p:nvSpPr>
          <p:cNvPr id="38" name="Rectangle 37">
            <a:extLst>
              <a:ext uri="{FF2B5EF4-FFF2-40B4-BE49-F238E27FC236}">
                <a16:creationId xmlns:a16="http://schemas.microsoft.com/office/drawing/2014/main" id="{C5387A16-725A-6A2C-70FE-BAA5D94952E2}"/>
              </a:ext>
            </a:extLst>
          </p:cNvPr>
          <p:cNvSpPr/>
          <p:nvPr/>
        </p:nvSpPr>
        <p:spPr>
          <a:xfrm rot="16200000">
            <a:off x="5453769" y="15265324"/>
            <a:ext cx="2380283" cy="7736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768</a:t>
            </a:r>
          </a:p>
        </p:txBody>
      </p:sp>
      <p:sp>
        <p:nvSpPr>
          <p:cNvPr id="39" name="Rectangle 38">
            <a:extLst>
              <a:ext uri="{FF2B5EF4-FFF2-40B4-BE49-F238E27FC236}">
                <a16:creationId xmlns:a16="http://schemas.microsoft.com/office/drawing/2014/main" id="{2842E907-D57E-F555-E293-C34B84034116}"/>
              </a:ext>
            </a:extLst>
          </p:cNvPr>
          <p:cNvSpPr/>
          <p:nvPr/>
        </p:nvSpPr>
        <p:spPr>
          <a:xfrm>
            <a:off x="5732128" y="12678635"/>
            <a:ext cx="5340096" cy="6765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Embedding Sizes</a:t>
            </a:r>
          </a:p>
        </p:txBody>
      </p:sp>
      <p:graphicFrame>
        <p:nvGraphicFramePr>
          <p:cNvPr id="40" name="Table 39">
            <a:extLst>
              <a:ext uri="{FF2B5EF4-FFF2-40B4-BE49-F238E27FC236}">
                <a16:creationId xmlns:a16="http://schemas.microsoft.com/office/drawing/2014/main" id="{BF600043-4D62-C376-6327-14A1DF77BFBA}"/>
              </a:ext>
            </a:extLst>
          </p:cNvPr>
          <p:cNvGraphicFramePr>
            <a:graphicFrameLocks noGrp="1"/>
          </p:cNvGraphicFramePr>
          <p:nvPr>
            <p:extLst>
              <p:ext uri="{D42A27DB-BD31-4B8C-83A1-F6EECF244321}">
                <p14:modId xmlns:p14="http://schemas.microsoft.com/office/powerpoint/2010/main" val="2037357730"/>
              </p:ext>
            </p:extLst>
          </p:nvPr>
        </p:nvGraphicFramePr>
        <p:xfrm>
          <a:off x="7111410" y="14303841"/>
          <a:ext cx="2448154" cy="2743200"/>
        </p:xfrm>
        <a:graphic>
          <a:graphicData uri="http://schemas.openxmlformats.org/drawingml/2006/table">
            <a:tbl>
              <a:tblPr firstRow="1" bandRow="1">
                <a:tableStyleId>{5C22544A-7EE6-4342-B048-85BDC9FD1C3A}</a:tableStyleId>
              </a:tblPr>
              <a:tblGrid>
                <a:gridCol w="1224077">
                  <a:extLst>
                    <a:ext uri="{9D8B030D-6E8A-4147-A177-3AD203B41FA5}">
                      <a16:colId xmlns:a16="http://schemas.microsoft.com/office/drawing/2014/main" val="596884369"/>
                    </a:ext>
                  </a:extLst>
                </a:gridCol>
                <a:gridCol w="1224077">
                  <a:extLst>
                    <a:ext uri="{9D8B030D-6E8A-4147-A177-3AD203B41FA5}">
                      <a16:colId xmlns:a16="http://schemas.microsoft.com/office/drawing/2014/main" val="2417874782"/>
                    </a:ext>
                  </a:extLst>
                </a:gridCol>
              </a:tblGrid>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306914947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602413833"/>
                  </a:ext>
                </a:extLst>
              </a:tr>
              <a:tr h="621453">
                <a:tc>
                  <a:txBody>
                    <a:bodyPr/>
                    <a:lstStyle/>
                    <a:p>
                      <a:endParaRPr lang="en-US"/>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572839240"/>
                  </a:ext>
                </a:extLst>
              </a:tr>
            </a:tbl>
          </a:graphicData>
        </a:graphic>
      </p:graphicFrame>
    </p:spTree>
    <p:extLst>
      <p:ext uri="{BB962C8B-B14F-4D97-AF65-F5344CB8AC3E}">
        <p14:creationId xmlns:p14="http://schemas.microsoft.com/office/powerpoint/2010/main" val="23683627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DF907-B378-45E0-85AF-D8102783562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95C90688-8DEA-3E6E-8612-BF1223E493F3}"/>
              </a:ext>
            </a:extLst>
          </p:cNvPr>
          <p:cNvSpPr/>
          <p:nvPr/>
        </p:nvSpPr>
        <p:spPr>
          <a:xfrm>
            <a:off x="14410944" y="6622437"/>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sp>
        <p:nvSpPr>
          <p:cNvPr id="2" name="Title 1">
            <a:extLst>
              <a:ext uri="{FF2B5EF4-FFF2-40B4-BE49-F238E27FC236}">
                <a16:creationId xmlns:a16="http://schemas.microsoft.com/office/drawing/2014/main" id="{08BD3A65-7C89-F4E5-1149-F43F244DD0F5}"/>
              </a:ext>
            </a:extLst>
          </p:cNvPr>
          <p:cNvSpPr>
            <a:spLocks noGrp="1"/>
          </p:cNvSpPr>
          <p:nvPr>
            <p:ph type="title"/>
          </p:nvPr>
        </p:nvSpPr>
        <p:spPr/>
        <p:txBody>
          <a:bodyPr/>
          <a:lstStyle/>
          <a:p>
            <a:r>
              <a:rPr lang="en-US" dirty="0" err="1"/>
              <a:t>LlaVA</a:t>
            </a:r>
            <a:r>
              <a:rPr lang="en-US" dirty="0"/>
              <a:t> Architecture</a:t>
            </a:r>
          </a:p>
        </p:txBody>
      </p:sp>
      <p:sp>
        <p:nvSpPr>
          <p:cNvPr id="17" name="Rectangle 16">
            <a:extLst>
              <a:ext uri="{FF2B5EF4-FFF2-40B4-BE49-F238E27FC236}">
                <a16:creationId xmlns:a16="http://schemas.microsoft.com/office/drawing/2014/main" id="{0AC44FB6-2E94-CE2E-E203-5603D11B3893}"/>
              </a:ext>
            </a:extLst>
          </p:cNvPr>
          <p:cNvSpPr/>
          <p:nvPr/>
        </p:nvSpPr>
        <p:spPr>
          <a:xfrm>
            <a:off x="14410944" y="4594595"/>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pic>
        <p:nvPicPr>
          <p:cNvPr id="21" name="Picture 20" descr="A black background with a black square&#10;&#10;Description automatically generated with medium confidence">
            <a:extLst>
              <a:ext uri="{FF2B5EF4-FFF2-40B4-BE49-F238E27FC236}">
                <a16:creationId xmlns:a16="http://schemas.microsoft.com/office/drawing/2014/main" id="{5F231471-948C-4033-860B-DA37A829E33F}"/>
              </a:ext>
            </a:extLst>
          </p:cNvPr>
          <p:cNvPicPr>
            <a:picLocks noChangeAspect="1"/>
          </p:cNvPicPr>
          <p:nvPr/>
        </p:nvPicPr>
        <p:blipFill>
          <a:blip r:embed="rId3">
            <a:extLst>
              <a:ext uri="{28A0092B-C50C-407E-A947-70E740481C1C}">
                <a14:useLocalDpi xmlns:a14="http://schemas.microsoft.com/office/drawing/2010/main" val="0"/>
              </a:ext>
            </a:extLst>
          </a:blip>
          <a:srcRect l="1" r="-1536"/>
          <a:stretch/>
        </p:blipFill>
        <p:spPr>
          <a:xfrm>
            <a:off x="16387552" y="7563584"/>
            <a:ext cx="3333473" cy="3283043"/>
          </a:xfrm>
          <a:prstGeom prst="rect">
            <a:avLst/>
          </a:prstGeom>
        </p:spPr>
      </p:pic>
      <p:sp>
        <p:nvSpPr>
          <p:cNvPr id="32" name="Arrow: Right 31">
            <a:extLst>
              <a:ext uri="{FF2B5EF4-FFF2-40B4-BE49-F238E27FC236}">
                <a16:creationId xmlns:a16="http://schemas.microsoft.com/office/drawing/2014/main" id="{9BA0D128-B717-FBCD-A405-C6CF30788BCD}"/>
              </a:ext>
            </a:extLst>
          </p:cNvPr>
          <p:cNvSpPr/>
          <p:nvPr/>
        </p:nvSpPr>
        <p:spPr>
          <a:xfrm>
            <a:off x="11684841" y="8501017"/>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3" name="Arrow: Right 32">
            <a:extLst>
              <a:ext uri="{FF2B5EF4-FFF2-40B4-BE49-F238E27FC236}">
                <a16:creationId xmlns:a16="http://schemas.microsoft.com/office/drawing/2014/main" id="{ADD94C81-87B5-BC61-068A-EF0BA895D97E}"/>
              </a:ext>
            </a:extLst>
          </p:cNvPr>
          <p:cNvSpPr/>
          <p:nvPr/>
        </p:nvSpPr>
        <p:spPr>
          <a:xfrm>
            <a:off x="19985504" y="8501017"/>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30" name="Text Placeholder 29">
            <a:extLst>
              <a:ext uri="{FF2B5EF4-FFF2-40B4-BE49-F238E27FC236}">
                <a16:creationId xmlns:a16="http://schemas.microsoft.com/office/drawing/2014/main" id="{799C2B54-468C-E427-EA12-5AB356B2568F}"/>
              </a:ext>
            </a:extLst>
          </p:cNvPr>
          <p:cNvSpPr>
            <a:spLocks noGrp="1"/>
          </p:cNvSpPr>
          <p:nvPr>
            <p:ph type="body" sz="quarter" idx="10"/>
          </p:nvPr>
        </p:nvSpPr>
        <p:spPr/>
        <p:txBody>
          <a:bodyPr/>
          <a:lstStyle/>
          <a:p>
            <a:r>
              <a:rPr lang="en-US" dirty="0"/>
              <a:t>Patches</a:t>
            </a:r>
          </a:p>
        </p:txBody>
      </p:sp>
      <p:graphicFrame>
        <p:nvGraphicFramePr>
          <p:cNvPr id="3" name="Table 2">
            <a:extLst>
              <a:ext uri="{FF2B5EF4-FFF2-40B4-BE49-F238E27FC236}">
                <a16:creationId xmlns:a16="http://schemas.microsoft.com/office/drawing/2014/main" id="{AAD22257-5A8B-C614-6F88-CA194EB984CD}"/>
              </a:ext>
            </a:extLst>
          </p:cNvPr>
          <p:cNvGraphicFramePr>
            <a:graphicFrameLocks noGrp="1"/>
          </p:cNvGraphicFramePr>
          <p:nvPr>
            <p:extLst>
              <p:ext uri="{D42A27DB-BD31-4B8C-83A1-F6EECF244321}">
                <p14:modId xmlns:p14="http://schemas.microsoft.com/office/powerpoint/2010/main" val="4161824669"/>
              </p:ext>
            </p:extLst>
          </p:nvPr>
        </p:nvGraphicFramePr>
        <p:xfrm>
          <a:off x="25331430" y="6382512"/>
          <a:ext cx="2758938" cy="4464116"/>
        </p:xfrm>
        <a:graphic>
          <a:graphicData uri="http://schemas.openxmlformats.org/drawingml/2006/table">
            <a:tbl>
              <a:tblPr firstRow="1" bandRow="1">
                <a:tableStyleId>{5C22544A-7EE6-4342-B048-85BDC9FD1C3A}</a:tableStyleId>
              </a:tblPr>
              <a:tblGrid>
                <a:gridCol w="1379469">
                  <a:extLst>
                    <a:ext uri="{9D8B030D-6E8A-4147-A177-3AD203B41FA5}">
                      <a16:colId xmlns:a16="http://schemas.microsoft.com/office/drawing/2014/main" val="596884369"/>
                    </a:ext>
                  </a:extLst>
                </a:gridCol>
                <a:gridCol w="1379469">
                  <a:extLst>
                    <a:ext uri="{9D8B030D-6E8A-4147-A177-3AD203B41FA5}">
                      <a16:colId xmlns:a16="http://schemas.microsoft.com/office/drawing/2014/main" val="2417874782"/>
                    </a:ext>
                  </a:extLst>
                </a:gridCol>
              </a:tblGrid>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69149473"/>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602413833"/>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572839240"/>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891918188"/>
                  </a:ext>
                </a:extLst>
              </a:tr>
            </a:tbl>
          </a:graphicData>
        </a:graphic>
      </p:graphicFrame>
      <p:sp>
        <p:nvSpPr>
          <p:cNvPr id="6" name="Rectangle 5">
            <a:extLst>
              <a:ext uri="{FF2B5EF4-FFF2-40B4-BE49-F238E27FC236}">
                <a16:creationId xmlns:a16="http://schemas.microsoft.com/office/drawing/2014/main" id="{7DFB6D15-90A5-ED6F-11D8-13FBDF857D2E}"/>
              </a:ext>
            </a:extLst>
          </p:cNvPr>
          <p:cNvSpPr/>
          <p:nvPr/>
        </p:nvSpPr>
        <p:spPr>
          <a:xfrm>
            <a:off x="25331430" y="5438322"/>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50</a:t>
            </a:r>
          </a:p>
        </p:txBody>
      </p:sp>
      <p:sp>
        <p:nvSpPr>
          <p:cNvPr id="8" name="Rectangle 7">
            <a:extLst>
              <a:ext uri="{FF2B5EF4-FFF2-40B4-BE49-F238E27FC236}">
                <a16:creationId xmlns:a16="http://schemas.microsoft.com/office/drawing/2014/main" id="{3856F5F7-3B9D-6A75-2D06-28EBB3CD72B8}"/>
              </a:ext>
            </a:extLst>
          </p:cNvPr>
          <p:cNvSpPr/>
          <p:nvPr/>
        </p:nvSpPr>
        <p:spPr>
          <a:xfrm rot="16200000">
            <a:off x="23211830" y="8316175"/>
            <a:ext cx="2905145" cy="878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4096</a:t>
            </a:r>
          </a:p>
        </p:txBody>
      </p:sp>
      <p:pic>
        <p:nvPicPr>
          <p:cNvPr id="12" name="Picture 11" descr="Dog nose in bouquet of tulips">
            <a:extLst>
              <a:ext uri="{FF2B5EF4-FFF2-40B4-BE49-F238E27FC236}">
                <a16:creationId xmlns:a16="http://schemas.microsoft.com/office/drawing/2014/main" id="{F76F12DC-D31A-36DF-8E85-D14CC3C1D6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7643" y="4594595"/>
            <a:ext cx="4253591" cy="6380386"/>
          </a:xfrm>
          <a:prstGeom prst="rect">
            <a:avLst/>
          </a:prstGeom>
        </p:spPr>
      </p:pic>
      <p:sp>
        <p:nvSpPr>
          <p:cNvPr id="13" name="Rectangle 12">
            <a:extLst>
              <a:ext uri="{FF2B5EF4-FFF2-40B4-BE49-F238E27FC236}">
                <a16:creationId xmlns:a16="http://schemas.microsoft.com/office/drawing/2014/main" id="{6C79D7A9-571B-0BAC-7A21-F1ADF16A08EA}"/>
              </a:ext>
            </a:extLst>
          </p:cNvPr>
          <p:cNvSpPr/>
          <p:nvPr/>
        </p:nvSpPr>
        <p:spPr>
          <a:xfrm>
            <a:off x="14410944" y="14224439"/>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sp>
        <p:nvSpPr>
          <p:cNvPr id="14" name="Rectangle 13">
            <a:extLst>
              <a:ext uri="{FF2B5EF4-FFF2-40B4-BE49-F238E27FC236}">
                <a16:creationId xmlns:a16="http://schemas.microsoft.com/office/drawing/2014/main" id="{81A48779-0F1B-0BD8-BBFB-A423D065E851}"/>
              </a:ext>
            </a:extLst>
          </p:cNvPr>
          <p:cNvSpPr/>
          <p:nvPr/>
        </p:nvSpPr>
        <p:spPr>
          <a:xfrm>
            <a:off x="14410944" y="12196597"/>
            <a:ext cx="6729984" cy="17879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b="1" dirty="0">
                <a:solidFill>
                  <a:schemeClr val="tx1"/>
                </a:solidFill>
                <a:latin typeface="Trebuchet MS" panose="020B0603020202020204" pitchFamily="34" charset="0"/>
              </a:rPr>
              <a:t>Projector</a:t>
            </a:r>
          </a:p>
        </p:txBody>
      </p:sp>
      <p:pic>
        <p:nvPicPr>
          <p:cNvPr id="15" name="Picture 14" descr="A black background with a black square&#10;&#10;Description automatically generated with medium confidence">
            <a:extLst>
              <a:ext uri="{FF2B5EF4-FFF2-40B4-BE49-F238E27FC236}">
                <a16:creationId xmlns:a16="http://schemas.microsoft.com/office/drawing/2014/main" id="{5DD093D6-D4B1-E78B-69BC-5F48A68CAFCE}"/>
              </a:ext>
            </a:extLst>
          </p:cNvPr>
          <p:cNvPicPr>
            <a:picLocks noChangeAspect="1"/>
          </p:cNvPicPr>
          <p:nvPr/>
        </p:nvPicPr>
        <p:blipFill>
          <a:blip r:embed="rId3">
            <a:extLst>
              <a:ext uri="{28A0092B-C50C-407E-A947-70E740481C1C}">
                <a14:useLocalDpi xmlns:a14="http://schemas.microsoft.com/office/drawing/2010/main" val="0"/>
              </a:ext>
            </a:extLst>
          </a:blip>
          <a:srcRect l="1" r="-1536"/>
          <a:stretch/>
        </p:blipFill>
        <p:spPr>
          <a:xfrm>
            <a:off x="16387552" y="15165586"/>
            <a:ext cx="3333473" cy="3283043"/>
          </a:xfrm>
          <a:prstGeom prst="rect">
            <a:avLst/>
          </a:prstGeom>
        </p:spPr>
      </p:pic>
      <p:sp>
        <p:nvSpPr>
          <p:cNvPr id="16" name="Arrow: Right 15">
            <a:extLst>
              <a:ext uri="{FF2B5EF4-FFF2-40B4-BE49-F238E27FC236}">
                <a16:creationId xmlns:a16="http://schemas.microsoft.com/office/drawing/2014/main" id="{F93B03A9-D7CF-F9DB-F331-F38F1CEEF59F}"/>
              </a:ext>
            </a:extLst>
          </p:cNvPr>
          <p:cNvSpPr/>
          <p:nvPr/>
        </p:nvSpPr>
        <p:spPr>
          <a:xfrm>
            <a:off x="11684841" y="16103019"/>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25" name="Arrow: Right 24">
            <a:extLst>
              <a:ext uri="{FF2B5EF4-FFF2-40B4-BE49-F238E27FC236}">
                <a16:creationId xmlns:a16="http://schemas.microsoft.com/office/drawing/2014/main" id="{8831B333-A482-557E-CA87-98F01215A079}"/>
              </a:ext>
            </a:extLst>
          </p:cNvPr>
          <p:cNvSpPr/>
          <p:nvPr/>
        </p:nvSpPr>
        <p:spPr>
          <a:xfrm>
            <a:off x="19985504" y="16103019"/>
            <a:ext cx="3730752" cy="1408176"/>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graphicFrame>
        <p:nvGraphicFramePr>
          <p:cNvPr id="34" name="Table 33">
            <a:extLst>
              <a:ext uri="{FF2B5EF4-FFF2-40B4-BE49-F238E27FC236}">
                <a16:creationId xmlns:a16="http://schemas.microsoft.com/office/drawing/2014/main" id="{EBB61F35-2828-A0AF-EE64-58AD989DDB26}"/>
              </a:ext>
            </a:extLst>
          </p:cNvPr>
          <p:cNvGraphicFramePr>
            <a:graphicFrameLocks noGrp="1"/>
          </p:cNvGraphicFramePr>
          <p:nvPr>
            <p:extLst>
              <p:ext uri="{D42A27DB-BD31-4B8C-83A1-F6EECF244321}">
                <p14:modId xmlns:p14="http://schemas.microsoft.com/office/powerpoint/2010/main" val="2223101960"/>
              </p:ext>
            </p:extLst>
          </p:nvPr>
        </p:nvGraphicFramePr>
        <p:xfrm>
          <a:off x="25331430" y="13984514"/>
          <a:ext cx="7922250" cy="4464116"/>
        </p:xfrm>
        <a:graphic>
          <a:graphicData uri="http://schemas.openxmlformats.org/drawingml/2006/table">
            <a:tbl>
              <a:tblPr firstRow="1" bandRow="1">
                <a:tableStyleId>{5C22544A-7EE6-4342-B048-85BDC9FD1C3A}</a:tableStyleId>
              </a:tblPr>
              <a:tblGrid>
                <a:gridCol w="1320375">
                  <a:extLst>
                    <a:ext uri="{9D8B030D-6E8A-4147-A177-3AD203B41FA5}">
                      <a16:colId xmlns:a16="http://schemas.microsoft.com/office/drawing/2014/main" val="596884369"/>
                    </a:ext>
                  </a:extLst>
                </a:gridCol>
                <a:gridCol w="1320375">
                  <a:extLst>
                    <a:ext uri="{9D8B030D-6E8A-4147-A177-3AD203B41FA5}">
                      <a16:colId xmlns:a16="http://schemas.microsoft.com/office/drawing/2014/main" val="2417874782"/>
                    </a:ext>
                  </a:extLst>
                </a:gridCol>
                <a:gridCol w="1320375">
                  <a:extLst>
                    <a:ext uri="{9D8B030D-6E8A-4147-A177-3AD203B41FA5}">
                      <a16:colId xmlns:a16="http://schemas.microsoft.com/office/drawing/2014/main" val="857879805"/>
                    </a:ext>
                  </a:extLst>
                </a:gridCol>
                <a:gridCol w="1320375">
                  <a:extLst>
                    <a:ext uri="{9D8B030D-6E8A-4147-A177-3AD203B41FA5}">
                      <a16:colId xmlns:a16="http://schemas.microsoft.com/office/drawing/2014/main" val="1421560266"/>
                    </a:ext>
                  </a:extLst>
                </a:gridCol>
                <a:gridCol w="1320375">
                  <a:extLst>
                    <a:ext uri="{9D8B030D-6E8A-4147-A177-3AD203B41FA5}">
                      <a16:colId xmlns:a16="http://schemas.microsoft.com/office/drawing/2014/main" val="4150584422"/>
                    </a:ext>
                  </a:extLst>
                </a:gridCol>
                <a:gridCol w="1320375">
                  <a:extLst>
                    <a:ext uri="{9D8B030D-6E8A-4147-A177-3AD203B41FA5}">
                      <a16:colId xmlns:a16="http://schemas.microsoft.com/office/drawing/2014/main" val="1951753953"/>
                    </a:ext>
                  </a:extLst>
                </a:gridCol>
              </a:tblGrid>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69149473"/>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602413833"/>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572839240"/>
                  </a:ext>
                </a:extLst>
              </a:tr>
              <a:tr h="1116029">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891918188"/>
                  </a:ext>
                </a:extLst>
              </a:tr>
            </a:tbl>
          </a:graphicData>
        </a:graphic>
      </p:graphicFrame>
      <p:sp>
        <p:nvSpPr>
          <p:cNvPr id="35" name="Rectangle 34">
            <a:extLst>
              <a:ext uri="{FF2B5EF4-FFF2-40B4-BE49-F238E27FC236}">
                <a16:creationId xmlns:a16="http://schemas.microsoft.com/office/drawing/2014/main" id="{F3228997-1475-408A-21E1-34F52F110154}"/>
              </a:ext>
            </a:extLst>
          </p:cNvPr>
          <p:cNvSpPr/>
          <p:nvPr/>
        </p:nvSpPr>
        <p:spPr>
          <a:xfrm>
            <a:off x="27941138" y="13040323"/>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3 x 50</a:t>
            </a:r>
          </a:p>
        </p:txBody>
      </p:sp>
      <p:sp>
        <p:nvSpPr>
          <p:cNvPr id="37" name="Rectangle 36">
            <a:extLst>
              <a:ext uri="{FF2B5EF4-FFF2-40B4-BE49-F238E27FC236}">
                <a16:creationId xmlns:a16="http://schemas.microsoft.com/office/drawing/2014/main" id="{7ABBB4B9-CA90-C386-E0F2-F2856E3E05C4}"/>
              </a:ext>
            </a:extLst>
          </p:cNvPr>
          <p:cNvSpPr/>
          <p:nvPr/>
        </p:nvSpPr>
        <p:spPr>
          <a:xfrm rot="16200000">
            <a:off x="23211830" y="15918177"/>
            <a:ext cx="2905145" cy="878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4096</a:t>
            </a:r>
          </a:p>
        </p:txBody>
      </p:sp>
      <p:pic>
        <p:nvPicPr>
          <p:cNvPr id="38" name="Picture 37" descr="Dog nose in bouquet of tulips">
            <a:extLst>
              <a:ext uri="{FF2B5EF4-FFF2-40B4-BE49-F238E27FC236}">
                <a16:creationId xmlns:a16="http://schemas.microsoft.com/office/drawing/2014/main" id="{FF39E133-5FB2-DB15-B3D9-868025849172}"/>
              </a:ext>
            </a:extLst>
          </p:cNvPr>
          <p:cNvPicPr>
            <a:picLocks noChangeAspect="1"/>
          </p:cNvPicPr>
          <p:nvPr/>
        </p:nvPicPr>
        <p:blipFill>
          <a:blip r:embed="rId4">
            <a:extLst>
              <a:ext uri="{28A0092B-C50C-407E-A947-70E740481C1C}">
                <a14:useLocalDpi xmlns:a14="http://schemas.microsoft.com/office/drawing/2010/main" val="0"/>
              </a:ext>
            </a:extLst>
          </a:blip>
          <a:srcRect t="30034" b="31759"/>
          <a:stretch/>
        </p:blipFill>
        <p:spPr>
          <a:xfrm>
            <a:off x="6626093" y="14653941"/>
            <a:ext cx="4253591" cy="2437774"/>
          </a:xfrm>
          <a:prstGeom prst="rect">
            <a:avLst/>
          </a:prstGeom>
        </p:spPr>
      </p:pic>
      <p:pic>
        <p:nvPicPr>
          <p:cNvPr id="42" name="Picture 41" descr="Dog nose in bouquet of tulips">
            <a:extLst>
              <a:ext uri="{FF2B5EF4-FFF2-40B4-BE49-F238E27FC236}">
                <a16:creationId xmlns:a16="http://schemas.microsoft.com/office/drawing/2014/main" id="{1A6235FB-61A8-8D5B-E7B2-EC21E80A146A}"/>
              </a:ext>
            </a:extLst>
          </p:cNvPr>
          <p:cNvPicPr>
            <a:picLocks noChangeAspect="1"/>
          </p:cNvPicPr>
          <p:nvPr/>
        </p:nvPicPr>
        <p:blipFill>
          <a:blip r:embed="rId4">
            <a:extLst>
              <a:ext uri="{28A0092B-C50C-407E-A947-70E740481C1C}">
                <a14:useLocalDpi xmlns:a14="http://schemas.microsoft.com/office/drawing/2010/main" val="0"/>
              </a:ext>
            </a:extLst>
          </a:blip>
          <a:srcRect b="68241"/>
          <a:stretch/>
        </p:blipFill>
        <p:spPr>
          <a:xfrm>
            <a:off x="6626093" y="12499246"/>
            <a:ext cx="4253591" cy="2026343"/>
          </a:xfrm>
          <a:prstGeom prst="rect">
            <a:avLst/>
          </a:prstGeom>
        </p:spPr>
      </p:pic>
      <p:pic>
        <p:nvPicPr>
          <p:cNvPr id="43" name="Picture 42" descr="Dog nose in bouquet of tulips">
            <a:extLst>
              <a:ext uri="{FF2B5EF4-FFF2-40B4-BE49-F238E27FC236}">
                <a16:creationId xmlns:a16="http://schemas.microsoft.com/office/drawing/2014/main" id="{521B7AA6-0242-7153-1624-AE4426CA4689}"/>
              </a:ext>
            </a:extLst>
          </p:cNvPr>
          <p:cNvPicPr>
            <a:picLocks noChangeAspect="1"/>
          </p:cNvPicPr>
          <p:nvPr/>
        </p:nvPicPr>
        <p:blipFill>
          <a:blip r:embed="rId4">
            <a:extLst>
              <a:ext uri="{28A0092B-C50C-407E-A947-70E740481C1C}">
                <a14:useLocalDpi xmlns:a14="http://schemas.microsoft.com/office/drawing/2010/main" val="0"/>
              </a:ext>
            </a:extLst>
          </a:blip>
          <a:srcRect t="68241"/>
          <a:stretch/>
        </p:blipFill>
        <p:spPr>
          <a:xfrm>
            <a:off x="6626093" y="17220067"/>
            <a:ext cx="4253591" cy="2026343"/>
          </a:xfrm>
          <a:prstGeom prst="rect">
            <a:avLst/>
          </a:prstGeom>
        </p:spPr>
      </p:pic>
    </p:spTree>
    <p:extLst>
      <p:ext uri="{BB962C8B-B14F-4D97-AF65-F5344CB8AC3E}">
        <p14:creationId xmlns:p14="http://schemas.microsoft.com/office/powerpoint/2010/main" val="1011296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CAE76B-19B2-46FF-A08B-3014226D9367}"/>
              </a:ext>
            </a:extLst>
          </p:cNvPr>
          <p:cNvSpPr>
            <a:spLocks noGrp="1"/>
          </p:cNvSpPr>
          <p:nvPr>
            <p:ph type="body" sz="quarter" idx="13"/>
          </p:nvPr>
        </p:nvSpPr>
        <p:spPr>
          <a:xfrm>
            <a:off x="1473200" y="1865313"/>
            <a:ext cx="18476913" cy="5943600"/>
          </a:xfrm>
        </p:spPr>
        <p:txBody>
          <a:bodyPr/>
          <a:lstStyle/>
          <a:p>
            <a:r>
              <a:rPr lang="en-US" dirty="0"/>
              <a:t>Lab 3a – Model Projection</a:t>
            </a:r>
          </a:p>
        </p:txBody>
      </p:sp>
    </p:spTree>
    <p:extLst>
      <p:ext uri="{BB962C8B-B14F-4D97-AF65-F5344CB8AC3E}">
        <p14:creationId xmlns:p14="http://schemas.microsoft.com/office/powerpoint/2010/main" val="2223535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425CF0-4231-D2E2-53CB-DE1717CC57F4}"/>
              </a:ext>
            </a:extLst>
          </p:cNvPr>
          <p:cNvSpPr>
            <a:spLocks noGrp="1"/>
          </p:cNvSpPr>
          <p:nvPr>
            <p:ph type="body" sz="quarter" idx="14"/>
          </p:nvPr>
        </p:nvSpPr>
        <p:spPr>
          <a:xfrm>
            <a:off x="6158754" y="7053551"/>
            <a:ext cx="24258494" cy="6303220"/>
          </a:xfrm>
        </p:spPr>
        <p:txBody>
          <a:bodyPr/>
          <a:lstStyle/>
          <a:p>
            <a:r>
              <a:rPr lang="en-US" sz="11500" b="1" dirty="0"/>
              <a:t>Hypothesis:</a:t>
            </a:r>
          </a:p>
          <a:p>
            <a:r>
              <a:rPr lang="en-US" sz="9600" dirty="0"/>
              <a:t>If we can project image embeddings into text embeddings, we can project text embedding into image embeddings</a:t>
            </a:r>
          </a:p>
        </p:txBody>
      </p:sp>
    </p:spTree>
    <p:extLst>
      <p:ext uri="{BB962C8B-B14F-4D97-AF65-F5344CB8AC3E}">
        <p14:creationId xmlns:p14="http://schemas.microsoft.com/office/powerpoint/2010/main" val="2261469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1A84-2968-09C2-64F9-E3A6048A8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A83FD-4518-B45D-44A4-ECC3E478A992}"/>
              </a:ext>
            </a:extLst>
          </p:cNvPr>
          <p:cNvSpPr>
            <a:spLocks noGrp="1"/>
          </p:cNvSpPr>
          <p:nvPr>
            <p:ph type="title"/>
          </p:nvPr>
        </p:nvSpPr>
        <p:spPr/>
        <p:txBody>
          <a:bodyPr/>
          <a:lstStyle/>
          <a:p>
            <a:r>
              <a:rPr lang="en-US" dirty="0"/>
              <a:t>Model Projection</a:t>
            </a:r>
          </a:p>
        </p:txBody>
      </p:sp>
      <p:sp>
        <p:nvSpPr>
          <p:cNvPr id="30" name="Text Placeholder 29">
            <a:extLst>
              <a:ext uri="{FF2B5EF4-FFF2-40B4-BE49-F238E27FC236}">
                <a16:creationId xmlns:a16="http://schemas.microsoft.com/office/drawing/2014/main" id="{90B62C2B-2C91-1C3E-4232-0332FE2E50A7}"/>
              </a:ext>
            </a:extLst>
          </p:cNvPr>
          <p:cNvSpPr>
            <a:spLocks noGrp="1"/>
          </p:cNvSpPr>
          <p:nvPr>
            <p:ph type="body" sz="quarter" idx="10"/>
          </p:nvPr>
        </p:nvSpPr>
        <p:spPr/>
        <p:txBody>
          <a:bodyPr/>
          <a:lstStyle/>
          <a:p>
            <a:r>
              <a:rPr lang="en-US" dirty="0"/>
              <a:t>Lab 3a</a:t>
            </a:r>
          </a:p>
        </p:txBody>
      </p:sp>
      <p:pic>
        <p:nvPicPr>
          <p:cNvPr id="5" name="Picture 4" descr="A close up of a flower&#10;&#10;AI-generated content may be incorrect.">
            <a:extLst>
              <a:ext uri="{FF2B5EF4-FFF2-40B4-BE49-F238E27FC236}">
                <a16:creationId xmlns:a16="http://schemas.microsoft.com/office/drawing/2014/main" id="{2CE8619F-9B65-B9A7-AD4B-C86B38B65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4345" y="4750307"/>
            <a:ext cx="4819650" cy="6426200"/>
          </a:xfrm>
          <a:prstGeom prst="rect">
            <a:avLst/>
          </a:prstGeom>
        </p:spPr>
      </p:pic>
      <p:sp>
        <p:nvSpPr>
          <p:cNvPr id="58" name="Rectangle 57">
            <a:extLst>
              <a:ext uri="{FF2B5EF4-FFF2-40B4-BE49-F238E27FC236}">
                <a16:creationId xmlns:a16="http://schemas.microsoft.com/office/drawing/2014/main" id="{A5982E76-30B4-6C87-463A-C721B0C6D160}"/>
              </a:ext>
            </a:extLst>
          </p:cNvPr>
          <p:cNvSpPr/>
          <p:nvPr/>
        </p:nvSpPr>
        <p:spPr>
          <a:xfrm>
            <a:off x="5144782" y="11676287"/>
            <a:ext cx="9138776" cy="1186273"/>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Trebuchet MS" panose="020B0603020202020204" pitchFamily="34" charset="0"/>
              </a:rPr>
              <a:t>Convolutional Neural Network</a:t>
            </a:r>
          </a:p>
        </p:txBody>
      </p:sp>
      <p:sp>
        <p:nvSpPr>
          <p:cNvPr id="59" name="Rectangle 58">
            <a:extLst>
              <a:ext uri="{FF2B5EF4-FFF2-40B4-BE49-F238E27FC236}">
                <a16:creationId xmlns:a16="http://schemas.microsoft.com/office/drawing/2014/main" id="{F439071D-4DD9-80AD-6CFD-FA9A1C2E58B0}"/>
              </a:ext>
            </a:extLst>
          </p:cNvPr>
          <p:cNvSpPr/>
          <p:nvPr/>
        </p:nvSpPr>
        <p:spPr>
          <a:xfrm>
            <a:off x="5144782" y="13142265"/>
            <a:ext cx="9138776" cy="1186273"/>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Trebuchet MS" panose="020B0603020202020204" pitchFamily="34" charset="0"/>
              </a:rPr>
              <a:t>Flatten</a:t>
            </a:r>
          </a:p>
        </p:txBody>
      </p:sp>
      <p:sp>
        <p:nvSpPr>
          <p:cNvPr id="60" name="Rectangle 59">
            <a:extLst>
              <a:ext uri="{FF2B5EF4-FFF2-40B4-BE49-F238E27FC236}">
                <a16:creationId xmlns:a16="http://schemas.microsoft.com/office/drawing/2014/main" id="{6689A817-87EE-1751-8F26-08DAB8D95D73}"/>
              </a:ext>
            </a:extLst>
          </p:cNvPr>
          <p:cNvSpPr/>
          <p:nvPr/>
        </p:nvSpPr>
        <p:spPr>
          <a:xfrm>
            <a:off x="5144782" y="14608243"/>
            <a:ext cx="9138776" cy="1186273"/>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Trebuchet MS" panose="020B0603020202020204" pitchFamily="34" charset="0"/>
              </a:rPr>
              <a:t>Linear</a:t>
            </a:r>
          </a:p>
        </p:txBody>
      </p:sp>
      <p:sp>
        <p:nvSpPr>
          <p:cNvPr id="61" name="Oval 60">
            <a:extLst>
              <a:ext uri="{FF2B5EF4-FFF2-40B4-BE49-F238E27FC236}">
                <a16:creationId xmlns:a16="http://schemas.microsoft.com/office/drawing/2014/main" id="{32D0F2B3-47BD-74D9-D239-F11E6346C7FA}"/>
              </a:ext>
            </a:extLst>
          </p:cNvPr>
          <p:cNvSpPr/>
          <p:nvPr/>
        </p:nvSpPr>
        <p:spPr>
          <a:xfrm>
            <a:off x="6027996" y="16074221"/>
            <a:ext cx="1186273" cy="1186273"/>
          </a:xfrm>
          <a:prstGeom prst="ellipse">
            <a:avLst/>
          </a:prstGeom>
          <a:solidFill>
            <a:schemeClr val="tx2"/>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2" name="Oval 61">
            <a:extLst>
              <a:ext uri="{FF2B5EF4-FFF2-40B4-BE49-F238E27FC236}">
                <a16:creationId xmlns:a16="http://schemas.microsoft.com/office/drawing/2014/main" id="{7B2728E5-D2AD-69A4-2405-F0F60797BF28}"/>
              </a:ext>
            </a:extLst>
          </p:cNvPr>
          <p:cNvSpPr/>
          <p:nvPr/>
        </p:nvSpPr>
        <p:spPr>
          <a:xfrm>
            <a:off x="9075995" y="16074221"/>
            <a:ext cx="1186273" cy="1186273"/>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3" name="Oval 62">
            <a:extLst>
              <a:ext uri="{FF2B5EF4-FFF2-40B4-BE49-F238E27FC236}">
                <a16:creationId xmlns:a16="http://schemas.microsoft.com/office/drawing/2014/main" id="{50ADEF0E-D868-6099-8BBE-10BFEAABA415}"/>
              </a:ext>
            </a:extLst>
          </p:cNvPr>
          <p:cNvSpPr/>
          <p:nvPr/>
        </p:nvSpPr>
        <p:spPr>
          <a:xfrm>
            <a:off x="12123995" y="16074221"/>
            <a:ext cx="1186273" cy="1186273"/>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6" name="Rectangle 65">
            <a:extLst>
              <a:ext uri="{FF2B5EF4-FFF2-40B4-BE49-F238E27FC236}">
                <a16:creationId xmlns:a16="http://schemas.microsoft.com/office/drawing/2014/main" id="{34F930AE-16C8-8298-F694-E45D299EFDD3}"/>
              </a:ext>
            </a:extLst>
          </p:cNvPr>
          <p:cNvSpPr/>
          <p:nvPr/>
        </p:nvSpPr>
        <p:spPr>
          <a:xfrm>
            <a:off x="5269715" y="17540199"/>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Kniphofia </a:t>
            </a:r>
            <a:r>
              <a:rPr lang="en-US" sz="4000" dirty="0" err="1">
                <a:solidFill>
                  <a:sysClr val="windowText" lastClr="000000"/>
                </a:solidFill>
                <a:latin typeface="Trebuchet MS" panose="020B0603020202020204" pitchFamily="34" charset="0"/>
              </a:rPr>
              <a:t>Uvaria</a:t>
            </a:r>
            <a:endParaRPr lang="en-US" sz="4000" dirty="0">
              <a:solidFill>
                <a:sysClr val="windowText" lastClr="000000"/>
              </a:solidFill>
              <a:latin typeface="Trebuchet MS" panose="020B0603020202020204" pitchFamily="34" charset="0"/>
            </a:endParaRPr>
          </a:p>
        </p:txBody>
      </p:sp>
      <p:sp>
        <p:nvSpPr>
          <p:cNvPr id="67" name="Rectangle 66">
            <a:extLst>
              <a:ext uri="{FF2B5EF4-FFF2-40B4-BE49-F238E27FC236}">
                <a16:creationId xmlns:a16="http://schemas.microsoft.com/office/drawing/2014/main" id="{28A3D4A6-3FF8-E3D2-7F94-B54B65D514FE}"/>
              </a:ext>
            </a:extLst>
          </p:cNvPr>
          <p:cNvSpPr/>
          <p:nvPr/>
        </p:nvSpPr>
        <p:spPr>
          <a:xfrm>
            <a:off x="8317714" y="17540199"/>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Salvia Splendens</a:t>
            </a:r>
          </a:p>
        </p:txBody>
      </p:sp>
      <p:sp>
        <p:nvSpPr>
          <p:cNvPr id="68" name="Rectangle 67">
            <a:extLst>
              <a:ext uri="{FF2B5EF4-FFF2-40B4-BE49-F238E27FC236}">
                <a16:creationId xmlns:a16="http://schemas.microsoft.com/office/drawing/2014/main" id="{12EF1F42-59D4-DC55-1DD3-77F2006F125D}"/>
              </a:ext>
            </a:extLst>
          </p:cNvPr>
          <p:cNvSpPr/>
          <p:nvPr/>
        </p:nvSpPr>
        <p:spPr>
          <a:xfrm>
            <a:off x="11365713" y="17554398"/>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Tagetes </a:t>
            </a:r>
            <a:r>
              <a:rPr lang="en-US" sz="4000" dirty="0" err="1">
                <a:solidFill>
                  <a:sysClr val="windowText" lastClr="000000"/>
                </a:solidFill>
                <a:latin typeface="Trebuchet MS" panose="020B0603020202020204" pitchFamily="34" charset="0"/>
              </a:rPr>
              <a:t>Patula</a:t>
            </a:r>
            <a:endParaRPr lang="en-US" sz="4000" dirty="0">
              <a:solidFill>
                <a:sysClr val="windowText" lastClr="000000"/>
              </a:solidFill>
              <a:latin typeface="Trebuchet MS" panose="020B0603020202020204" pitchFamily="34" charset="0"/>
            </a:endParaRPr>
          </a:p>
        </p:txBody>
      </p:sp>
    </p:spTree>
    <p:extLst>
      <p:ext uri="{BB962C8B-B14F-4D97-AF65-F5344CB8AC3E}">
        <p14:creationId xmlns:p14="http://schemas.microsoft.com/office/powerpoint/2010/main" val="32210483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1C2F9-03A7-5886-EFEC-BD11AC5FB8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8AEE2-E4BD-EF0D-A119-BE02CA079AD1}"/>
              </a:ext>
            </a:extLst>
          </p:cNvPr>
          <p:cNvSpPr>
            <a:spLocks noGrp="1"/>
          </p:cNvSpPr>
          <p:nvPr>
            <p:ph type="title"/>
          </p:nvPr>
        </p:nvSpPr>
        <p:spPr/>
        <p:txBody>
          <a:bodyPr/>
          <a:lstStyle/>
          <a:p>
            <a:r>
              <a:rPr lang="en-US" dirty="0"/>
              <a:t>Model Projection</a:t>
            </a:r>
          </a:p>
        </p:txBody>
      </p:sp>
      <p:sp>
        <p:nvSpPr>
          <p:cNvPr id="30" name="Text Placeholder 29">
            <a:extLst>
              <a:ext uri="{FF2B5EF4-FFF2-40B4-BE49-F238E27FC236}">
                <a16:creationId xmlns:a16="http://schemas.microsoft.com/office/drawing/2014/main" id="{E7B56C05-9C84-5687-C048-718891E39381}"/>
              </a:ext>
            </a:extLst>
          </p:cNvPr>
          <p:cNvSpPr>
            <a:spLocks noGrp="1"/>
          </p:cNvSpPr>
          <p:nvPr>
            <p:ph type="body" sz="quarter" idx="10"/>
          </p:nvPr>
        </p:nvSpPr>
        <p:spPr/>
        <p:txBody>
          <a:bodyPr/>
          <a:lstStyle/>
          <a:p>
            <a:r>
              <a:rPr lang="en-US" dirty="0"/>
              <a:t>Lab 3a</a:t>
            </a:r>
          </a:p>
        </p:txBody>
      </p:sp>
      <p:pic>
        <p:nvPicPr>
          <p:cNvPr id="5" name="Picture 4" descr="A close up of a flower&#10;&#10;AI-generated content may be incorrect.">
            <a:extLst>
              <a:ext uri="{FF2B5EF4-FFF2-40B4-BE49-F238E27FC236}">
                <a16:creationId xmlns:a16="http://schemas.microsoft.com/office/drawing/2014/main" id="{C71C10B1-9300-E0EA-E132-1F8EC7819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4345" y="4750307"/>
            <a:ext cx="4819650" cy="6426200"/>
          </a:xfrm>
          <a:prstGeom prst="rect">
            <a:avLst/>
          </a:prstGeom>
        </p:spPr>
      </p:pic>
      <p:sp>
        <p:nvSpPr>
          <p:cNvPr id="58" name="Rectangle 57">
            <a:extLst>
              <a:ext uri="{FF2B5EF4-FFF2-40B4-BE49-F238E27FC236}">
                <a16:creationId xmlns:a16="http://schemas.microsoft.com/office/drawing/2014/main" id="{EAFDD3E6-CC0E-932A-A004-A6B8FDF9BF0A}"/>
              </a:ext>
            </a:extLst>
          </p:cNvPr>
          <p:cNvSpPr/>
          <p:nvPr/>
        </p:nvSpPr>
        <p:spPr>
          <a:xfrm>
            <a:off x="5144782" y="11676287"/>
            <a:ext cx="9138776" cy="1186273"/>
          </a:xfrm>
          <a:prstGeom prst="rect">
            <a:avLst/>
          </a:prstGeom>
          <a:solidFill>
            <a:schemeClr val="bg2"/>
          </a:solid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strike="sngStrike" dirty="0">
                <a:solidFill>
                  <a:schemeClr val="bg1"/>
                </a:solidFill>
                <a:latin typeface="Trebuchet MS" panose="020B0603020202020204" pitchFamily="34" charset="0"/>
              </a:rPr>
              <a:t>Convolutional Neural Network</a:t>
            </a:r>
          </a:p>
        </p:txBody>
      </p:sp>
      <p:sp>
        <p:nvSpPr>
          <p:cNvPr id="59" name="Rectangle 58">
            <a:extLst>
              <a:ext uri="{FF2B5EF4-FFF2-40B4-BE49-F238E27FC236}">
                <a16:creationId xmlns:a16="http://schemas.microsoft.com/office/drawing/2014/main" id="{58F6797F-A267-B32C-BDB1-B7888A22CEDB}"/>
              </a:ext>
            </a:extLst>
          </p:cNvPr>
          <p:cNvSpPr/>
          <p:nvPr/>
        </p:nvSpPr>
        <p:spPr>
          <a:xfrm>
            <a:off x="5144782" y="13142265"/>
            <a:ext cx="9138776" cy="1186273"/>
          </a:xfrm>
          <a:prstGeom prst="rect">
            <a:avLst/>
          </a:prstGeom>
          <a:solidFill>
            <a:schemeClr val="bg2"/>
          </a:solid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strike="sngStrike" dirty="0">
                <a:solidFill>
                  <a:schemeClr val="bg1"/>
                </a:solidFill>
                <a:latin typeface="Trebuchet MS" panose="020B0603020202020204" pitchFamily="34" charset="0"/>
              </a:rPr>
              <a:t>Flatten</a:t>
            </a:r>
          </a:p>
        </p:txBody>
      </p:sp>
      <p:sp>
        <p:nvSpPr>
          <p:cNvPr id="60" name="Rectangle 59">
            <a:extLst>
              <a:ext uri="{FF2B5EF4-FFF2-40B4-BE49-F238E27FC236}">
                <a16:creationId xmlns:a16="http://schemas.microsoft.com/office/drawing/2014/main" id="{0DB7BD5D-EF65-95DB-E950-9DCBC07EE869}"/>
              </a:ext>
            </a:extLst>
          </p:cNvPr>
          <p:cNvSpPr/>
          <p:nvPr/>
        </p:nvSpPr>
        <p:spPr>
          <a:xfrm>
            <a:off x="5144782" y="14608243"/>
            <a:ext cx="9138776" cy="1186273"/>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Trebuchet MS" panose="020B0603020202020204" pitchFamily="34" charset="0"/>
              </a:rPr>
              <a:t>Linear</a:t>
            </a:r>
          </a:p>
        </p:txBody>
      </p:sp>
      <p:sp>
        <p:nvSpPr>
          <p:cNvPr id="61" name="Oval 60">
            <a:extLst>
              <a:ext uri="{FF2B5EF4-FFF2-40B4-BE49-F238E27FC236}">
                <a16:creationId xmlns:a16="http://schemas.microsoft.com/office/drawing/2014/main" id="{871DA74A-0E09-1A7F-FAF0-AE15609B7B69}"/>
              </a:ext>
            </a:extLst>
          </p:cNvPr>
          <p:cNvSpPr/>
          <p:nvPr/>
        </p:nvSpPr>
        <p:spPr>
          <a:xfrm>
            <a:off x="6027996" y="16074221"/>
            <a:ext cx="1186273" cy="1186273"/>
          </a:xfrm>
          <a:prstGeom prst="ellipse">
            <a:avLst/>
          </a:prstGeom>
          <a:solidFill>
            <a:schemeClr val="tx2"/>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2" name="Oval 61">
            <a:extLst>
              <a:ext uri="{FF2B5EF4-FFF2-40B4-BE49-F238E27FC236}">
                <a16:creationId xmlns:a16="http://schemas.microsoft.com/office/drawing/2014/main" id="{D560DE81-C5BD-3DB3-F83F-7A88929165BC}"/>
              </a:ext>
            </a:extLst>
          </p:cNvPr>
          <p:cNvSpPr/>
          <p:nvPr/>
        </p:nvSpPr>
        <p:spPr>
          <a:xfrm>
            <a:off x="9075995" y="16074221"/>
            <a:ext cx="1186273" cy="1186273"/>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3" name="Oval 62">
            <a:extLst>
              <a:ext uri="{FF2B5EF4-FFF2-40B4-BE49-F238E27FC236}">
                <a16:creationId xmlns:a16="http://schemas.microsoft.com/office/drawing/2014/main" id="{2F066F96-8E12-0301-E5D1-755069AD5394}"/>
              </a:ext>
            </a:extLst>
          </p:cNvPr>
          <p:cNvSpPr/>
          <p:nvPr/>
        </p:nvSpPr>
        <p:spPr>
          <a:xfrm>
            <a:off x="12123995" y="16074221"/>
            <a:ext cx="1186273" cy="1186273"/>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66" name="Rectangle 65">
            <a:extLst>
              <a:ext uri="{FF2B5EF4-FFF2-40B4-BE49-F238E27FC236}">
                <a16:creationId xmlns:a16="http://schemas.microsoft.com/office/drawing/2014/main" id="{FD88B13F-1EAA-A024-3DDE-639B064AC691}"/>
              </a:ext>
            </a:extLst>
          </p:cNvPr>
          <p:cNvSpPr/>
          <p:nvPr/>
        </p:nvSpPr>
        <p:spPr>
          <a:xfrm>
            <a:off x="5269715" y="17540199"/>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Kniphofia </a:t>
            </a:r>
            <a:r>
              <a:rPr lang="en-US" sz="4000" dirty="0" err="1">
                <a:solidFill>
                  <a:sysClr val="windowText" lastClr="000000"/>
                </a:solidFill>
                <a:latin typeface="Trebuchet MS" panose="020B0603020202020204" pitchFamily="34" charset="0"/>
              </a:rPr>
              <a:t>Uvaria</a:t>
            </a:r>
            <a:endParaRPr lang="en-US" sz="4000" dirty="0">
              <a:solidFill>
                <a:sysClr val="windowText" lastClr="000000"/>
              </a:solidFill>
              <a:latin typeface="Trebuchet MS" panose="020B0603020202020204" pitchFamily="34" charset="0"/>
            </a:endParaRPr>
          </a:p>
        </p:txBody>
      </p:sp>
      <p:sp>
        <p:nvSpPr>
          <p:cNvPr id="67" name="Rectangle 66">
            <a:extLst>
              <a:ext uri="{FF2B5EF4-FFF2-40B4-BE49-F238E27FC236}">
                <a16:creationId xmlns:a16="http://schemas.microsoft.com/office/drawing/2014/main" id="{6422F664-CEE5-34F0-4877-C398AF5A036A}"/>
              </a:ext>
            </a:extLst>
          </p:cNvPr>
          <p:cNvSpPr/>
          <p:nvPr/>
        </p:nvSpPr>
        <p:spPr>
          <a:xfrm>
            <a:off x="8317714" y="17540199"/>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Salvia Splendens</a:t>
            </a:r>
          </a:p>
        </p:txBody>
      </p:sp>
      <p:sp>
        <p:nvSpPr>
          <p:cNvPr id="68" name="Rectangle 67">
            <a:extLst>
              <a:ext uri="{FF2B5EF4-FFF2-40B4-BE49-F238E27FC236}">
                <a16:creationId xmlns:a16="http://schemas.microsoft.com/office/drawing/2014/main" id="{F967A16B-3E61-C851-B0E6-64AD4F7B0F00}"/>
              </a:ext>
            </a:extLst>
          </p:cNvPr>
          <p:cNvSpPr/>
          <p:nvPr/>
        </p:nvSpPr>
        <p:spPr>
          <a:xfrm>
            <a:off x="11365713" y="17554398"/>
            <a:ext cx="2702833" cy="9441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ysClr val="windowText" lastClr="000000"/>
                </a:solidFill>
                <a:latin typeface="Trebuchet MS" panose="020B0603020202020204" pitchFamily="34" charset="0"/>
              </a:rPr>
              <a:t>Tagetes </a:t>
            </a:r>
            <a:r>
              <a:rPr lang="en-US" sz="4000" dirty="0" err="1">
                <a:solidFill>
                  <a:sysClr val="windowText" lastClr="000000"/>
                </a:solidFill>
                <a:latin typeface="Trebuchet MS" panose="020B0603020202020204" pitchFamily="34" charset="0"/>
              </a:rPr>
              <a:t>Patula</a:t>
            </a:r>
            <a:endParaRPr lang="en-US" sz="4000" dirty="0">
              <a:solidFill>
                <a:sysClr val="windowText" lastClr="000000"/>
              </a:solidFill>
              <a:latin typeface="Trebuchet MS" panose="020B0603020202020204" pitchFamily="34" charset="0"/>
            </a:endParaRPr>
          </a:p>
        </p:txBody>
      </p:sp>
      <p:sp>
        <p:nvSpPr>
          <p:cNvPr id="6" name="Speech Bubble: Oval 5">
            <a:extLst>
              <a:ext uri="{FF2B5EF4-FFF2-40B4-BE49-F238E27FC236}">
                <a16:creationId xmlns:a16="http://schemas.microsoft.com/office/drawing/2014/main" id="{39C9AFBF-CB4C-E398-7598-CA0498BCF552}"/>
              </a:ext>
            </a:extLst>
          </p:cNvPr>
          <p:cNvSpPr/>
          <p:nvPr/>
        </p:nvSpPr>
        <p:spPr>
          <a:xfrm>
            <a:off x="22998153" y="4311448"/>
            <a:ext cx="7867954" cy="4480560"/>
          </a:xfrm>
          <a:prstGeom prst="wedgeEllipseCallout">
            <a:avLst>
              <a:gd name="adj1" fmla="val -47466"/>
              <a:gd name="adj2" fmla="val 64949"/>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800" dirty="0">
                <a:solidFill>
                  <a:schemeClr val="bg1"/>
                </a:solidFill>
              </a:rPr>
              <a:t>A red and yellow flower in the shape of a pinecone with spikey petals.</a:t>
            </a:r>
          </a:p>
        </p:txBody>
      </p:sp>
      <p:sp>
        <p:nvSpPr>
          <p:cNvPr id="7" name="Rectangle 6">
            <a:extLst>
              <a:ext uri="{FF2B5EF4-FFF2-40B4-BE49-F238E27FC236}">
                <a16:creationId xmlns:a16="http://schemas.microsoft.com/office/drawing/2014/main" id="{BE791B3F-C2E7-DAEA-992F-6CE734775DEB}"/>
              </a:ext>
            </a:extLst>
          </p:cNvPr>
          <p:cNvSpPr/>
          <p:nvPr/>
        </p:nvSpPr>
        <p:spPr>
          <a:xfrm>
            <a:off x="22362742" y="9990234"/>
            <a:ext cx="9138776" cy="1186273"/>
          </a:xfrm>
          <a:prstGeom prst="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4000" dirty="0">
                <a:solidFill>
                  <a:schemeClr val="bg1"/>
                </a:solidFill>
                <a:latin typeface="Trebuchet MS" panose="020B0603020202020204" pitchFamily="34" charset="0"/>
              </a:rPr>
              <a:t>CLIP Text Encoding</a:t>
            </a:r>
          </a:p>
        </p:txBody>
      </p:sp>
      <p:sp>
        <p:nvSpPr>
          <p:cNvPr id="9" name="Rectangle 8">
            <a:extLst>
              <a:ext uri="{FF2B5EF4-FFF2-40B4-BE49-F238E27FC236}">
                <a16:creationId xmlns:a16="http://schemas.microsoft.com/office/drawing/2014/main" id="{4F009A6B-24B6-2846-D890-7DE703AC707A}"/>
              </a:ext>
            </a:extLst>
          </p:cNvPr>
          <p:cNvSpPr/>
          <p:nvPr/>
        </p:nvSpPr>
        <p:spPr>
          <a:xfrm>
            <a:off x="16117824" y="11676287"/>
            <a:ext cx="6729984" cy="4352544"/>
          </a:xfrm>
          <a:prstGeom prst="rect">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90000"/>
              </a:lnSpc>
            </a:pPr>
            <a:endParaRPr lang="en-US" sz="4000" dirty="0">
              <a:solidFill>
                <a:schemeClr val="bg1"/>
              </a:solidFill>
              <a:latin typeface="Trebuchet MS" panose="020B0603020202020204" pitchFamily="34" charset="0"/>
            </a:endParaRPr>
          </a:p>
          <a:p>
            <a:pPr algn="ctr">
              <a:lnSpc>
                <a:spcPct val="90000"/>
              </a:lnSpc>
            </a:pPr>
            <a:r>
              <a:rPr lang="en-US" sz="4000" dirty="0">
                <a:solidFill>
                  <a:schemeClr val="bg1"/>
                </a:solidFill>
                <a:latin typeface="Trebuchet MS" panose="020B0603020202020204" pitchFamily="34" charset="0"/>
              </a:rPr>
              <a:t>Projection Model</a:t>
            </a:r>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FAB80174-FD09-4F73-230E-F7675C34B02B}"/>
              </a:ext>
            </a:extLst>
          </p:cNvPr>
          <p:cNvPicPr>
            <a:picLocks noChangeAspect="1"/>
          </p:cNvPicPr>
          <p:nvPr/>
        </p:nvPicPr>
        <p:blipFill>
          <a:blip r:embed="rId4">
            <a:extLst>
              <a:ext uri="{28A0092B-C50C-407E-A947-70E740481C1C}">
                <a14:useLocalDpi xmlns:a14="http://schemas.microsoft.com/office/drawing/2010/main" val="0"/>
              </a:ext>
            </a:extLst>
          </a:blip>
          <a:srcRect l="1" r="-1536"/>
          <a:stretch/>
        </p:blipFill>
        <p:spPr>
          <a:xfrm flipH="1">
            <a:off x="18094432" y="12617434"/>
            <a:ext cx="3333473" cy="3283043"/>
          </a:xfrm>
          <a:prstGeom prst="rect">
            <a:avLst/>
          </a:prstGeom>
        </p:spPr>
      </p:pic>
      <p:sp>
        <p:nvSpPr>
          <p:cNvPr id="11" name="Arrow: Bent 10">
            <a:extLst>
              <a:ext uri="{FF2B5EF4-FFF2-40B4-BE49-F238E27FC236}">
                <a16:creationId xmlns:a16="http://schemas.microsoft.com/office/drawing/2014/main" id="{1177662B-6BC9-D914-8C7B-D8EBA30F7C78}"/>
              </a:ext>
            </a:extLst>
          </p:cNvPr>
          <p:cNvSpPr/>
          <p:nvPr/>
        </p:nvSpPr>
        <p:spPr>
          <a:xfrm rot="10800000">
            <a:off x="21740953" y="11781588"/>
            <a:ext cx="5191177" cy="2721353"/>
          </a:xfrm>
          <a:prstGeom prst="ben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
        <p:nvSpPr>
          <p:cNvPr id="12" name="Arrow: Left 11">
            <a:extLst>
              <a:ext uri="{FF2B5EF4-FFF2-40B4-BE49-F238E27FC236}">
                <a16:creationId xmlns:a16="http://schemas.microsoft.com/office/drawing/2014/main" id="{A3D1C5DA-D807-ECE5-0E25-348BB15B2DE7}"/>
              </a:ext>
            </a:extLst>
          </p:cNvPr>
          <p:cNvSpPr/>
          <p:nvPr/>
        </p:nvSpPr>
        <p:spPr>
          <a:xfrm>
            <a:off x="14813280" y="13142265"/>
            <a:ext cx="1861249" cy="1408176"/>
          </a:xfrm>
          <a:prstGeom prst="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Trebuchet MS" panose="020B0603020202020204" pitchFamily="34" charset="0"/>
            </a:endParaRPr>
          </a:p>
        </p:txBody>
      </p:sp>
    </p:spTree>
    <p:extLst>
      <p:ext uri="{BB962C8B-B14F-4D97-AF65-F5344CB8AC3E}">
        <p14:creationId xmlns:p14="http://schemas.microsoft.com/office/powerpoint/2010/main" val="30021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C79BB-1913-6E3F-D95D-2DE0B15C12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9B1A95E-5F85-278E-6F91-91B584920466}"/>
              </a:ext>
            </a:extLst>
          </p:cNvPr>
          <p:cNvSpPr>
            <a:spLocks noGrp="1"/>
          </p:cNvSpPr>
          <p:nvPr>
            <p:ph type="body" sz="quarter" idx="13"/>
          </p:nvPr>
        </p:nvSpPr>
        <p:spPr>
          <a:xfrm>
            <a:off x="1473200" y="1865313"/>
            <a:ext cx="18476913" cy="5943600"/>
          </a:xfrm>
        </p:spPr>
        <p:txBody>
          <a:bodyPr/>
          <a:lstStyle/>
          <a:p>
            <a:r>
              <a:rPr lang="en-US" dirty="0"/>
              <a:t>Lab 3b – OCR Pipelines</a:t>
            </a:r>
          </a:p>
        </p:txBody>
      </p:sp>
    </p:spTree>
    <p:extLst>
      <p:ext uri="{BB962C8B-B14F-4D97-AF65-F5344CB8AC3E}">
        <p14:creationId xmlns:p14="http://schemas.microsoft.com/office/powerpoint/2010/main" val="2412166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43FB0-0206-8AB3-0BDE-EC359BC3F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05637-992B-A913-B45F-00334F1EF44B}"/>
              </a:ext>
            </a:extLst>
          </p:cNvPr>
          <p:cNvSpPr>
            <a:spLocks noGrp="1"/>
          </p:cNvSpPr>
          <p:nvPr>
            <p:ph type="title"/>
          </p:nvPr>
        </p:nvSpPr>
        <p:spPr/>
        <p:txBody>
          <a:bodyPr/>
          <a:lstStyle/>
          <a:p>
            <a:r>
              <a:rPr lang="en-US" dirty="0"/>
              <a:t>OCR Pipelines</a:t>
            </a:r>
          </a:p>
        </p:txBody>
      </p:sp>
      <p:sp>
        <p:nvSpPr>
          <p:cNvPr id="30" name="Text Placeholder 29">
            <a:extLst>
              <a:ext uri="{FF2B5EF4-FFF2-40B4-BE49-F238E27FC236}">
                <a16:creationId xmlns:a16="http://schemas.microsoft.com/office/drawing/2014/main" id="{5B007AB6-195D-516F-B4F0-BEF0F4392706}"/>
              </a:ext>
            </a:extLst>
          </p:cNvPr>
          <p:cNvSpPr>
            <a:spLocks noGrp="1"/>
          </p:cNvSpPr>
          <p:nvPr>
            <p:ph type="body" sz="quarter" idx="10"/>
          </p:nvPr>
        </p:nvSpPr>
        <p:spPr/>
        <p:txBody>
          <a:bodyPr/>
          <a:lstStyle/>
          <a:p>
            <a:r>
              <a:rPr lang="en-US" dirty="0"/>
              <a:t>Lab 3b</a:t>
            </a:r>
          </a:p>
        </p:txBody>
      </p:sp>
      <p:pic>
        <p:nvPicPr>
          <p:cNvPr id="7" name="Picture 6" descr="A screenshot of a phone&#10;&#10;AI-generated content may be incorrect.">
            <a:extLst>
              <a:ext uri="{FF2B5EF4-FFF2-40B4-BE49-F238E27FC236}">
                <a16:creationId xmlns:a16="http://schemas.microsoft.com/office/drawing/2014/main" id="{0F5833B0-0F70-DC7B-C719-DEC241629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9297" y="3560063"/>
            <a:ext cx="28837406" cy="15307057"/>
          </a:xfrm>
          <a:prstGeom prst="rect">
            <a:avLst/>
          </a:prstGeom>
        </p:spPr>
      </p:pic>
    </p:spTree>
    <p:extLst>
      <p:ext uri="{BB962C8B-B14F-4D97-AF65-F5344CB8AC3E}">
        <p14:creationId xmlns:p14="http://schemas.microsoft.com/office/powerpoint/2010/main" val="3854872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7F43C-69A0-3205-8DA1-52F4585B844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CC62EF2-8666-938D-984E-AB2F750AC72C}"/>
              </a:ext>
            </a:extLst>
          </p:cNvPr>
          <p:cNvSpPr>
            <a:spLocks noGrp="1"/>
          </p:cNvSpPr>
          <p:nvPr>
            <p:ph type="body" sz="quarter" idx="13"/>
          </p:nvPr>
        </p:nvSpPr>
        <p:spPr>
          <a:xfrm>
            <a:off x="1473200" y="1865313"/>
            <a:ext cx="18476913" cy="5943600"/>
          </a:xfrm>
        </p:spPr>
        <p:txBody>
          <a:bodyPr/>
          <a:lstStyle/>
          <a:p>
            <a:r>
              <a:rPr lang="en-US" dirty="0"/>
              <a:t>Let’s Get Started!</a:t>
            </a:r>
          </a:p>
        </p:txBody>
      </p:sp>
    </p:spTree>
    <p:extLst>
      <p:ext uri="{BB962C8B-B14F-4D97-AF65-F5344CB8AC3E}">
        <p14:creationId xmlns:p14="http://schemas.microsoft.com/office/powerpoint/2010/main" val="4214436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788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2.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GenAI_slides1</Template>
  <TotalTime>18957</TotalTime>
  <Words>2635</Words>
  <Application>Microsoft Office PowerPoint</Application>
  <PresentationFormat>Custom</PresentationFormat>
  <Paragraphs>485</Paragraphs>
  <Slides>48</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Cambria Math</vt:lpstr>
      <vt:lpstr>NVIDIA Sans</vt:lpstr>
      <vt:lpstr>NVIDIA Sans Light</vt:lpstr>
      <vt:lpstr>NVIDIA Sans Medium</vt:lpstr>
      <vt:lpstr>Roboto Mono</vt:lpstr>
      <vt:lpstr>Trebuchet MS</vt:lpstr>
      <vt:lpstr>Title Only</vt:lpstr>
      <vt:lpstr>Building AI Agents with Multimodal Models</vt:lpstr>
      <vt:lpstr>PowerPoint Presentation</vt:lpstr>
      <vt:lpstr>PowerPoint Presentation</vt:lpstr>
      <vt:lpstr>Experiment Results</vt:lpstr>
      <vt:lpstr>PowerPoint Presentation</vt:lpstr>
      <vt:lpstr>Vision Language Models</vt:lpstr>
      <vt:lpstr>LLM Architecture</vt:lpstr>
      <vt:lpstr>LLM Architecture</vt:lpstr>
      <vt:lpstr>PowerPoint Presentation</vt:lpstr>
      <vt:lpstr>The Projection Matrix</vt:lpstr>
      <vt:lpstr>The Projection Matrix</vt:lpstr>
      <vt:lpstr>PowerPoint Presentation</vt:lpstr>
      <vt:lpstr>The Projection Matrix</vt:lpstr>
      <vt:lpstr>The Projection Matrix</vt:lpstr>
      <vt:lpstr>The Projection Matrix</vt:lpstr>
      <vt:lpstr>The Projection Matrix</vt:lpstr>
      <vt:lpstr>The Projection Matrix</vt:lpstr>
      <vt:lpstr>The Projection Matrix</vt:lpstr>
      <vt:lpstr>The Projection Matrix</vt:lpstr>
      <vt:lpstr>The Projection Matrix</vt:lpstr>
      <vt:lpstr>The Projection Matrix</vt:lpstr>
      <vt:lpstr>The Projection Matrix</vt:lpstr>
      <vt:lpstr>The Projection Matrix</vt:lpstr>
      <vt:lpstr>PowerPoint Presentation</vt:lpstr>
      <vt:lpstr>The Projection Matrix</vt:lpstr>
      <vt:lpstr>The Projection Matrix</vt:lpstr>
      <vt:lpstr>The Projection Matrix</vt:lpstr>
      <vt:lpstr>The Projection Matrix</vt:lpstr>
      <vt:lpstr>The Projection Matrix</vt:lpstr>
      <vt:lpstr>The Projection Matrix</vt:lpstr>
      <vt:lpstr>The Projection Matrix</vt:lpstr>
      <vt:lpstr>PowerPoint Presentation</vt:lpstr>
      <vt:lpstr>LlaVA Architecture</vt:lpstr>
      <vt:lpstr>LlaVA Architecture</vt:lpstr>
      <vt:lpstr>LlaVA Architecture</vt:lpstr>
      <vt:lpstr>LlaVA Architecture</vt:lpstr>
      <vt:lpstr>LlaVA Architecture</vt:lpstr>
      <vt:lpstr>LlaVA Architecture</vt:lpstr>
      <vt:lpstr>LlaVA Architecture</vt:lpstr>
      <vt:lpstr>LlaVA Architecture</vt:lpstr>
      <vt:lpstr>PowerPoint Presentation</vt:lpstr>
      <vt:lpstr>PowerPoint Presentation</vt:lpstr>
      <vt:lpstr>Model Projection</vt:lpstr>
      <vt:lpstr>Model Projection</vt:lpstr>
      <vt:lpstr>PowerPoint Presentation</vt:lpstr>
      <vt:lpstr>OCR Pipelines</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Danielle Detering</cp:lastModifiedBy>
  <cp:revision>47</cp:revision>
  <dcterms:created xsi:type="dcterms:W3CDTF">2023-09-14T23:38:20Z</dcterms:created>
  <dcterms:modified xsi:type="dcterms:W3CDTF">2025-12-11T07:38:48Z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